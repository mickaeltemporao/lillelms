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96"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18288000" cy="10287000"/>
  <p:notesSz cx="6858000" cy="9144000"/>
  <p:embeddedFontLst>
    <p:embeddedFont>
      <p:font typeface="Open Sans" panose="020B0606030504020204" pitchFamily="34" charset="0"/>
      <p:regular r:id="rId42"/>
      <p:bold r:id="rId43"/>
    </p:embeddedFont>
    <p:embeddedFont>
      <p:font typeface="Open Sans Bold" panose="020B0806030504020204" charset="0"/>
      <p:regular r:id="rId44"/>
    </p:embeddedFont>
    <p:embeddedFont>
      <p:font typeface="Open Sans Italics" panose="020B0604020202020204" charset="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65882" autoAdjust="0"/>
  </p:normalViewPr>
  <p:slideViewPr>
    <p:cSldViewPr>
      <p:cViewPr varScale="1">
        <p:scale>
          <a:sx n="36" d="100"/>
          <a:sy n="36" d="100"/>
        </p:scale>
        <p:origin x="87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90763" y="512763"/>
            <a:ext cx="4562475" cy="2566987"/>
          </a:xfrm>
        </p:spPr>
      </p:sp>
      <p:sp>
        <p:nvSpPr>
          <p:cNvPr id="3" name="Espace réservé des notes 2"/>
          <p:cNvSpPr>
            <a:spLocks noGrp="1"/>
          </p:cNvSpPr>
          <p:nvPr>
            <p:ph type="body" idx="1"/>
          </p:nvPr>
        </p:nvSpPr>
        <p:spPr/>
        <p:txBody>
          <a:bodyPr/>
          <a:lstStyle/>
          <a:p>
            <a:r>
              <a:rPr lang="fr-FR" dirty="0"/>
              <a:t>A adapter en fonction du </a:t>
            </a:r>
            <a:r>
              <a:rPr lang="fr-FR" dirty="0" err="1"/>
              <a:t>template</a:t>
            </a:r>
            <a:endParaRPr lang="fr-BE" dirty="0"/>
          </a:p>
        </p:txBody>
      </p:sp>
      <p:sp>
        <p:nvSpPr>
          <p:cNvPr id="4" name="Espace réservé du numéro de diapositive 3"/>
          <p:cNvSpPr>
            <a:spLocks noGrp="1"/>
          </p:cNvSpPr>
          <p:nvPr>
            <p:ph type="sldNum" sz="quarter" idx="5"/>
          </p:nvPr>
        </p:nvSpPr>
        <p:spPr/>
        <p:txBody>
          <a:bodyPr/>
          <a:lstStyle/>
          <a:p>
            <a:fld id="{871B2431-D351-4C6E-A3CF-9DFAC0E3E050}" type="slidenum">
              <a:rPr lang="cs-CZ" smtClean="0"/>
              <a:t>1</a:t>
            </a:fld>
            <a:endParaRPr lang="cs-CZ"/>
          </a:p>
        </p:txBody>
      </p:sp>
    </p:spTree>
    <p:extLst>
      <p:ext uri="{BB962C8B-B14F-4D97-AF65-F5344CB8AC3E}">
        <p14:creationId xmlns:p14="http://schemas.microsoft.com/office/powerpoint/2010/main" val="1704206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90763" y="512763"/>
            <a:ext cx="4562475" cy="2566987"/>
          </a:xfrm>
        </p:spPr>
      </p:sp>
      <p:sp>
        <p:nvSpPr>
          <p:cNvPr id="3" name="Espace réservé des notes 2"/>
          <p:cNvSpPr>
            <a:spLocks noGrp="1"/>
          </p:cNvSpPr>
          <p:nvPr>
            <p:ph type="body" idx="1"/>
          </p:nvPr>
        </p:nvSpPr>
        <p:spPr/>
        <p:txBody>
          <a:bodyPr/>
          <a:lstStyle/>
          <a:p>
            <a:r>
              <a:rPr lang="fr-FR" dirty="0"/>
              <a:t>Article Nature (début mai 2026)</a:t>
            </a:r>
          </a:p>
          <a:p>
            <a:r>
              <a:rPr lang="fr-FR" dirty="0"/>
              <a:t>Simulation d’utilisateurs </a:t>
            </a:r>
            <a:r>
              <a:rPr lang="fr-FR" dirty="0" err="1"/>
              <a:t>Tiktok</a:t>
            </a:r>
            <a:r>
              <a:rPr lang="fr-FR" dirty="0"/>
              <a:t> lors des élections américaines de 2024: républicains (droite, Donald Trump) et démocrates (gauche, Kamala Harris). </a:t>
            </a:r>
          </a:p>
          <a:p>
            <a:r>
              <a:rPr lang="fr-FR" dirty="0"/>
              <a:t>Profils républicains recevaient davantage de contenu aligné, tandis que les comptes démocrates étaient davantage exposés à du contenu opposé, souvent </a:t>
            </a:r>
            <a:r>
              <a:rPr lang="fr-FR" dirty="0" err="1"/>
              <a:t>anti-démocrate</a:t>
            </a:r>
            <a:r>
              <a:rPr lang="fr-FR" dirty="0"/>
              <a:t>.</a:t>
            </a:r>
            <a:endParaRPr lang="fr-BE" dirty="0"/>
          </a:p>
        </p:txBody>
      </p:sp>
      <p:sp>
        <p:nvSpPr>
          <p:cNvPr id="4" name="Espace réservé du numéro de diapositive 3"/>
          <p:cNvSpPr>
            <a:spLocks noGrp="1"/>
          </p:cNvSpPr>
          <p:nvPr>
            <p:ph type="sldNum" sz="quarter" idx="5"/>
          </p:nvPr>
        </p:nvSpPr>
        <p:spPr/>
        <p:txBody>
          <a:bodyPr/>
          <a:lstStyle/>
          <a:p>
            <a:fld id="{871B2431-D351-4C6E-A3CF-9DFAC0E3E050}" type="slidenum">
              <a:rPr lang="cs-CZ" smtClean="0"/>
              <a:t>10</a:t>
            </a:fld>
            <a:endParaRPr lang="cs-CZ"/>
          </a:p>
        </p:txBody>
      </p:sp>
    </p:spTree>
    <p:extLst>
      <p:ext uri="{BB962C8B-B14F-4D97-AF65-F5344CB8AC3E}">
        <p14:creationId xmlns:p14="http://schemas.microsoft.com/office/powerpoint/2010/main" val="580028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fr-FR" dirty="0"/>
              <a:t>Le système n’a pas identifié correctement le camion, notamment parce que la remorque blanche se détachait mal sur le ciel lumineux. </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Clearview AI est une entreprise de reconnaissance faciale qui a constitué une immense base de données en collectant des images de visages disponibles en ligne. Le problème est que ces images ont été transformées en données biométriques, donc en données très sensibles, sans base légale valable, sans information suffisante des personnes concernées, et sans respect effectif de leurs droits d’accès. En septembre 2024, l’autorité néerlandaise a annoncé une amende de 30,5 millions d’euros et une injonction de mise en conformité. Le cas illustre très bien le pilier Privacy and data governance, car il montre que les systèmes d’IA ne posent pas seulement des questions de performance, mais aussi de collecte, de légalité, de transparence et de gouvernance des données utilisées.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J'ai voulu faire un montage IA d'un ordinateur qui boit de l'eau pour illustrer la consommation d'eau mais du coup à l'encontre du pilier donc désolé pour ce montage approximatif mais plus écolo ;) </a:t>
            </a:r>
          </a:p>
          <a:p>
            <a:r>
              <a:rPr lang="en-US"/>
              <a:t>- Les data centers utilisent de l’eau pour refroidir les serveurs, notamment lorsque les systèmes de refroidissement par évaporation sont utilisés.</a:t>
            </a:r>
          </a:p>
          <a:p>
            <a:r>
              <a:rPr lang="en-US"/>
              <a:t>- Avec l’essor de l’IA générative, les besoins en calcul augmentent, donc la pression sur l’eau peut aussi augmenter.</a:t>
            </a:r>
          </a:p>
          <a:p>
            <a:r>
              <a:rPr lang="en-US"/>
              <a:t>- Un chiffre frappant : selon l’EESI, un grand data center peut consommer jusqu’à 5 millions de gallons d’eau par jour, soit environ 19 millions de litres par jour.</a:t>
            </a:r>
          </a:p>
          <a:p>
            <a:r>
              <a:rPr lang="en-US"/>
              <a:t>- Cela équivaut à la consommation d’eau d’une ville de 10 000 à 50 000 habitants.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L’exemple est intéressant car il ne s’agit pas seulement de “robots tueurs” totalement autonomes, mais d’un cas plus réaliste : des systèmes d’IA qui aident à identifier des cibles militaires. Cela pose une question centrale d’accountability : si une IA recommande une cible et que des civils sont tués, qui est responsable ? Le concepteur du système, l’armée, le commandant, l’opérateur humain qui valide, ou l’État ? Human Rights Watch souligne en 2025 que l’usage de l’IA dans les décisions de ciblage militaire peut mettre en danger les principes du droit international humanitaire, notamment la distinction entre combattants et civils, et l’obligation de prendre toutes les précautions possibles pour limiter les dommages civils.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90763" y="512763"/>
            <a:ext cx="4562475" cy="2566987"/>
          </a:xfrm>
        </p:spPr>
      </p:sp>
      <p:sp>
        <p:nvSpPr>
          <p:cNvPr id="3" name="Espace réservé des notes 2"/>
          <p:cNvSpPr>
            <a:spLocks noGrp="1"/>
          </p:cNvSpPr>
          <p:nvPr>
            <p:ph type="body" idx="1"/>
          </p:nvPr>
        </p:nvSpPr>
        <p:spPr/>
        <p:txBody>
          <a:bodyPr/>
          <a:lstStyle/>
          <a:p>
            <a:r>
              <a:rPr lang="fr-FR" dirty="0"/>
              <a:t>Des principes éthiques aux obligations juridiques : l’AI </a:t>
            </a:r>
            <a:r>
              <a:rPr lang="fr-FR" dirty="0" err="1"/>
              <a:t>Act</a:t>
            </a:r>
            <a:r>
              <a:rPr lang="fr-FR" dirty="0"/>
              <a:t> traduit certains risques en règles concrètes. </a:t>
            </a:r>
            <a:endParaRPr lang="fr-BE" dirty="0"/>
          </a:p>
        </p:txBody>
      </p:sp>
      <p:sp>
        <p:nvSpPr>
          <p:cNvPr id="4" name="Espace réservé du numéro de diapositive 3"/>
          <p:cNvSpPr>
            <a:spLocks noGrp="1"/>
          </p:cNvSpPr>
          <p:nvPr>
            <p:ph type="sldNum" sz="quarter" idx="5"/>
          </p:nvPr>
        </p:nvSpPr>
        <p:spPr/>
        <p:txBody>
          <a:bodyPr/>
          <a:lstStyle/>
          <a:p>
            <a:fld id="{871B2431-D351-4C6E-A3CF-9DFAC0E3E050}" type="slidenum">
              <a:rPr lang="cs-CZ" smtClean="0"/>
              <a:t>24</a:t>
            </a:fld>
            <a:endParaRPr lang="cs-CZ"/>
          </a:p>
        </p:txBody>
      </p:sp>
    </p:spTree>
    <p:extLst>
      <p:ext uri="{BB962C8B-B14F-4D97-AF65-F5344CB8AC3E}">
        <p14:creationId xmlns:p14="http://schemas.microsoft.com/office/powerpoint/2010/main" val="1306132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Exemple: Sélectionner des candidatures sur base de CV</a:t>
            </a:r>
          </a:p>
          <a:p>
            <a:r>
              <a:rPr lang="en-US"/>
              <a:t>Provider : l’entreprise qui développe l’outil et le vend : elle doit s’assurer que le système est correctement testé, documenté et conforme à l’AI Act.</a:t>
            </a:r>
          </a:p>
          <a:p>
            <a:r>
              <a:rPr lang="en-US"/>
              <a:t>Deployer : l’organisation qui utilise cet outil pour ses recrutements : elle doit l’utiliser correctement, former les personnes qui s’en servent, vérifier les résultats, garder une supervision humaine et informer les candidat·es qu'un outil est utilisé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svg"/></Relationships>
</file>

<file path=ppt/slides/_rels/slide25.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31961" y="4724373"/>
            <a:ext cx="7624078" cy="762054"/>
          </a:xfrm>
          <a:prstGeom prst="rect">
            <a:avLst/>
          </a:prstGeom>
        </p:spPr>
        <p:txBody>
          <a:bodyPr lIns="0" tIns="0" rIns="0" bIns="0" rtlCol="0" anchor="t">
            <a:spAutoFit/>
          </a:bodyPr>
          <a:lstStyle/>
          <a:p>
            <a:pPr algn="ctr">
              <a:lnSpc>
                <a:spcPts val="6299"/>
              </a:lnSpc>
              <a:spcBef>
                <a:spcPct val="0"/>
              </a:spcBef>
            </a:pPr>
            <a:r>
              <a:rPr lang="en-US" sz="4500">
                <a:solidFill>
                  <a:srgbClr val="000000"/>
                </a:solidFill>
                <a:latin typeface="Open Sans"/>
                <a:ea typeface="Open Sans"/>
                <a:cs typeface="Open Sans"/>
                <a:sym typeface="Open Sans"/>
              </a:rPr>
              <a:t>Encadrement de l’IA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3432" y="3172961"/>
            <a:ext cx="3762161" cy="4511309"/>
            <a:chOff x="0" y="0"/>
            <a:chExt cx="990857" cy="1188164"/>
          </a:xfrm>
        </p:grpSpPr>
        <p:sp>
          <p:nvSpPr>
            <p:cNvPr id="3" name="Freeform 3"/>
            <p:cNvSpPr/>
            <p:nvPr/>
          </p:nvSpPr>
          <p:spPr>
            <a:xfrm>
              <a:off x="0" y="0"/>
              <a:ext cx="990857" cy="1188164"/>
            </a:xfrm>
            <a:custGeom>
              <a:avLst/>
              <a:gdLst/>
              <a:ahLst/>
              <a:cxnLst/>
              <a:rect l="l" t="t" r="r" b="b"/>
              <a:pathLst>
                <a:path w="990857" h="1188164">
                  <a:moveTo>
                    <a:pt x="104950" y="0"/>
                  </a:moveTo>
                  <a:lnTo>
                    <a:pt x="885907" y="0"/>
                  </a:lnTo>
                  <a:cubicBezTo>
                    <a:pt x="943870" y="0"/>
                    <a:pt x="990857" y="46988"/>
                    <a:pt x="990857" y="104950"/>
                  </a:cubicBezTo>
                  <a:lnTo>
                    <a:pt x="990857" y="1083214"/>
                  </a:lnTo>
                  <a:cubicBezTo>
                    <a:pt x="990857" y="1111048"/>
                    <a:pt x="979800" y="1137743"/>
                    <a:pt x="960118" y="1157425"/>
                  </a:cubicBezTo>
                  <a:cubicBezTo>
                    <a:pt x="940436" y="1177106"/>
                    <a:pt x="913742" y="1188164"/>
                    <a:pt x="885907" y="1188164"/>
                  </a:cubicBezTo>
                  <a:lnTo>
                    <a:pt x="104950" y="1188164"/>
                  </a:lnTo>
                  <a:cubicBezTo>
                    <a:pt x="77115" y="1188164"/>
                    <a:pt x="50421" y="1177106"/>
                    <a:pt x="30739" y="1157425"/>
                  </a:cubicBezTo>
                  <a:cubicBezTo>
                    <a:pt x="11057" y="1137743"/>
                    <a:pt x="0" y="1111048"/>
                    <a:pt x="0" y="1083214"/>
                  </a:cubicBezTo>
                  <a:lnTo>
                    <a:pt x="0" y="104950"/>
                  </a:lnTo>
                  <a:cubicBezTo>
                    <a:pt x="0" y="77115"/>
                    <a:pt x="11057" y="50421"/>
                    <a:pt x="30739" y="30739"/>
                  </a:cubicBezTo>
                  <a:cubicBezTo>
                    <a:pt x="50421" y="11057"/>
                    <a:pt x="77115" y="0"/>
                    <a:pt x="104950" y="0"/>
                  </a:cubicBezTo>
                  <a:close/>
                </a:path>
              </a:pathLst>
            </a:custGeom>
            <a:solidFill>
              <a:srgbClr val="EAF3FF"/>
            </a:solidFill>
            <a:ln w="38100" cap="rnd">
              <a:solidFill>
                <a:srgbClr val="000000"/>
              </a:solidFill>
              <a:prstDash val="solid"/>
              <a:round/>
            </a:ln>
          </p:spPr>
          <p:txBody>
            <a:bodyPr/>
            <a:lstStyle/>
            <a:p>
              <a:endParaRPr lang="fr-BE"/>
            </a:p>
          </p:txBody>
        </p:sp>
        <p:sp>
          <p:nvSpPr>
            <p:cNvPr id="4" name="TextBox 4"/>
            <p:cNvSpPr txBox="1"/>
            <p:nvPr/>
          </p:nvSpPr>
          <p:spPr>
            <a:xfrm>
              <a:off x="0" y="-38100"/>
              <a:ext cx="990857" cy="1226264"/>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978266" y="3172961"/>
            <a:ext cx="3762161" cy="4511309"/>
            <a:chOff x="0" y="0"/>
            <a:chExt cx="990857" cy="1188164"/>
          </a:xfrm>
        </p:grpSpPr>
        <p:sp>
          <p:nvSpPr>
            <p:cNvPr id="6" name="Freeform 6"/>
            <p:cNvSpPr/>
            <p:nvPr/>
          </p:nvSpPr>
          <p:spPr>
            <a:xfrm>
              <a:off x="0" y="0"/>
              <a:ext cx="990857" cy="1188164"/>
            </a:xfrm>
            <a:custGeom>
              <a:avLst/>
              <a:gdLst/>
              <a:ahLst/>
              <a:cxnLst/>
              <a:rect l="l" t="t" r="r" b="b"/>
              <a:pathLst>
                <a:path w="990857" h="1188164">
                  <a:moveTo>
                    <a:pt x="104950" y="0"/>
                  </a:moveTo>
                  <a:lnTo>
                    <a:pt x="885907" y="0"/>
                  </a:lnTo>
                  <a:cubicBezTo>
                    <a:pt x="943870" y="0"/>
                    <a:pt x="990857" y="46988"/>
                    <a:pt x="990857" y="104950"/>
                  </a:cubicBezTo>
                  <a:lnTo>
                    <a:pt x="990857" y="1083214"/>
                  </a:lnTo>
                  <a:cubicBezTo>
                    <a:pt x="990857" y="1111048"/>
                    <a:pt x="979800" y="1137743"/>
                    <a:pt x="960118" y="1157425"/>
                  </a:cubicBezTo>
                  <a:cubicBezTo>
                    <a:pt x="940436" y="1177106"/>
                    <a:pt x="913742" y="1188164"/>
                    <a:pt x="885907" y="1188164"/>
                  </a:cubicBezTo>
                  <a:lnTo>
                    <a:pt x="104950" y="1188164"/>
                  </a:lnTo>
                  <a:cubicBezTo>
                    <a:pt x="77115" y="1188164"/>
                    <a:pt x="50421" y="1177106"/>
                    <a:pt x="30739" y="1157425"/>
                  </a:cubicBezTo>
                  <a:cubicBezTo>
                    <a:pt x="11057" y="1137743"/>
                    <a:pt x="0" y="1111048"/>
                    <a:pt x="0" y="1083214"/>
                  </a:cubicBezTo>
                  <a:lnTo>
                    <a:pt x="0" y="104950"/>
                  </a:lnTo>
                  <a:cubicBezTo>
                    <a:pt x="0" y="77115"/>
                    <a:pt x="11057" y="50421"/>
                    <a:pt x="30739" y="30739"/>
                  </a:cubicBezTo>
                  <a:cubicBezTo>
                    <a:pt x="50421" y="11057"/>
                    <a:pt x="77115" y="0"/>
                    <a:pt x="104950" y="0"/>
                  </a:cubicBezTo>
                  <a:close/>
                </a:path>
              </a:pathLst>
            </a:custGeom>
            <a:solidFill>
              <a:srgbClr val="EAF3FF"/>
            </a:solidFill>
            <a:ln w="38100" cap="rnd">
              <a:solidFill>
                <a:srgbClr val="000000"/>
              </a:solidFill>
              <a:prstDash val="solid"/>
              <a:round/>
            </a:ln>
          </p:spPr>
          <p:txBody>
            <a:bodyPr/>
            <a:lstStyle/>
            <a:p>
              <a:endParaRPr lang="fr-BE"/>
            </a:p>
          </p:txBody>
        </p:sp>
        <p:sp>
          <p:nvSpPr>
            <p:cNvPr id="7" name="TextBox 7"/>
            <p:cNvSpPr txBox="1"/>
            <p:nvPr/>
          </p:nvSpPr>
          <p:spPr>
            <a:xfrm>
              <a:off x="0" y="-38100"/>
              <a:ext cx="990857" cy="1226264"/>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9043100" y="3202269"/>
            <a:ext cx="3762161" cy="4511309"/>
            <a:chOff x="0" y="0"/>
            <a:chExt cx="990857" cy="1188164"/>
          </a:xfrm>
        </p:grpSpPr>
        <p:sp>
          <p:nvSpPr>
            <p:cNvPr id="9" name="Freeform 9"/>
            <p:cNvSpPr/>
            <p:nvPr/>
          </p:nvSpPr>
          <p:spPr>
            <a:xfrm>
              <a:off x="0" y="0"/>
              <a:ext cx="990857" cy="1188164"/>
            </a:xfrm>
            <a:custGeom>
              <a:avLst/>
              <a:gdLst/>
              <a:ahLst/>
              <a:cxnLst/>
              <a:rect l="l" t="t" r="r" b="b"/>
              <a:pathLst>
                <a:path w="990857" h="1188164">
                  <a:moveTo>
                    <a:pt x="104950" y="0"/>
                  </a:moveTo>
                  <a:lnTo>
                    <a:pt x="885907" y="0"/>
                  </a:lnTo>
                  <a:cubicBezTo>
                    <a:pt x="943870" y="0"/>
                    <a:pt x="990857" y="46988"/>
                    <a:pt x="990857" y="104950"/>
                  </a:cubicBezTo>
                  <a:lnTo>
                    <a:pt x="990857" y="1083214"/>
                  </a:lnTo>
                  <a:cubicBezTo>
                    <a:pt x="990857" y="1111048"/>
                    <a:pt x="979800" y="1137743"/>
                    <a:pt x="960118" y="1157425"/>
                  </a:cubicBezTo>
                  <a:cubicBezTo>
                    <a:pt x="940436" y="1177106"/>
                    <a:pt x="913742" y="1188164"/>
                    <a:pt x="885907" y="1188164"/>
                  </a:cubicBezTo>
                  <a:lnTo>
                    <a:pt x="104950" y="1188164"/>
                  </a:lnTo>
                  <a:cubicBezTo>
                    <a:pt x="77115" y="1188164"/>
                    <a:pt x="50421" y="1177106"/>
                    <a:pt x="30739" y="1157425"/>
                  </a:cubicBezTo>
                  <a:cubicBezTo>
                    <a:pt x="11057" y="1137743"/>
                    <a:pt x="0" y="1111048"/>
                    <a:pt x="0" y="1083214"/>
                  </a:cubicBezTo>
                  <a:lnTo>
                    <a:pt x="0" y="104950"/>
                  </a:lnTo>
                  <a:cubicBezTo>
                    <a:pt x="0" y="77115"/>
                    <a:pt x="11057" y="50421"/>
                    <a:pt x="30739" y="30739"/>
                  </a:cubicBezTo>
                  <a:cubicBezTo>
                    <a:pt x="50421" y="11057"/>
                    <a:pt x="77115" y="0"/>
                    <a:pt x="104950" y="0"/>
                  </a:cubicBezTo>
                  <a:close/>
                </a:path>
              </a:pathLst>
            </a:custGeom>
            <a:solidFill>
              <a:srgbClr val="EAF3FF"/>
            </a:solidFill>
            <a:ln w="38100" cap="rnd">
              <a:solidFill>
                <a:srgbClr val="000000"/>
              </a:solidFill>
              <a:prstDash val="solid"/>
              <a:round/>
            </a:ln>
          </p:spPr>
          <p:txBody>
            <a:bodyPr/>
            <a:lstStyle/>
            <a:p>
              <a:endParaRPr lang="fr-BE"/>
            </a:p>
          </p:txBody>
        </p:sp>
        <p:sp>
          <p:nvSpPr>
            <p:cNvPr id="10" name="TextBox 10"/>
            <p:cNvSpPr txBox="1"/>
            <p:nvPr/>
          </p:nvSpPr>
          <p:spPr>
            <a:xfrm>
              <a:off x="0" y="-38100"/>
              <a:ext cx="990857" cy="1226264"/>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13302537" y="3202269"/>
            <a:ext cx="3762161" cy="4511309"/>
            <a:chOff x="0" y="0"/>
            <a:chExt cx="990857" cy="1188164"/>
          </a:xfrm>
        </p:grpSpPr>
        <p:sp>
          <p:nvSpPr>
            <p:cNvPr id="12" name="Freeform 12"/>
            <p:cNvSpPr/>
            <p:nvPr/>
          </p:nvSpPr>
          <p:spPr>
            <a:xfrm>
              <a:off x="0" y="0"/>
              <a:ext cx="990857" cy="1188164"/>
            </a:xfrm>
            <a:custGeom>
              <a:avLst/>
              <a:gdLst/>
              <a:ahLst/>
              <a:cxnLst/>
              <a:rect l="l" t="t" r="r" b="b"/>
              <a:pathLst>
                <a:path w="990857" h="1188164">
                  <a:moveTo>
                    <a:pt x="104950" y="0"/>
                  </a:moveTo>
                  <a:lnTo>
                    <a:pt x="885907" y="0"/>
                  </a:lnTo>
                  <a:cubicBezTo>
                    <a:pt x="943870" y="0"/>
                    <a:pt x="990857" y="46988"/>
                    <a:pt x="990857" y="104950"/>
                  </a:cubicBezTo>
                  <a:lnTo>
                    <a:pt x="990857" y="1083214"/>
                  </a:lnTo>
                  <a:cubicBezTo>
                    <a:pt x="990857" y="1111048"/>
                    <a:pt x="979800" y="1137743"/>
                    <a:pt x="960118" y="1157425"/>
                  </a:cubicBezTo>
                  <a:cubicBezTo>
                    <a:pt x="940436" y="1177106"/>
                    <a:pt x="913742" y="1188164"/>
                    <a:pt x="885907" y="1188164"/>
                  </a:cubicBezTo>
                  <a:lnTo>
                    <a:pt x="104950" y="1188164"/>
                  </a:lnTo>
                  <a:cubicBezTo>
                    <a:pt x="77115" y="1188164"/>
                    <a:pt x="50421" y="1177106"/>
                    <a:pt x="30739" y="1157425"/>
                  </a:cubicBezTo>
                  <a:cubicBezTo>
                    <a:pt x="11057" y="1137743"/>
                    <a:pt x="0" y="1111048"/>
                    <a:pt x="0" y="1083214"/>
                  </a:cubicBezTo>
                  <a:lnTo>
                    <a:pt x="0" y="104950"/>
                  </a:lnTo>
                  <a:cubicBezTo>
                    <a:pt x="0" y="77115"/>
                    <a:pt x="11057" y="50421"/>
                    <a:pt x="30739" y="30739"/>
                  </a:cubicBezTo>
                  <a:cubicBezTo>
                    <a:pt x="50421" y="11057"/>
                    <a:pt x="77115" y="0"/>
                    <a:pt x="104950" y="0"/>
                  </a:cubicBezTo>
                  <a:close/>
                </a:path>
              </a:pathLst>
            </a:custGeom>
            <a:solidFill>
              <a:srgbClr val="EAF3FF"/>
            </a:solidFill>
            <a:ln w="38100" cap="rnd">
              <a:solidFill>
                <a:srgbClr val="000000"/>
              </a:solidFill>
              <a:prstDash val="solid"/>
              <a:round/>
            </a:ln>
          </p:spPr>
          <p:txBody>
            <a:bodyPr/>
            <a:lstStyle/>
            <a:p>
              <a:endParaRPr lang="fr-BE"/>
            </a:p>
          </p:txBody>
        </p:sp>
        <p:sp>
          <p:nvSpPr>
            <p:cNvPr id="13" name="TextBox 13"/>
            <p:cNvSpPr txBox="1"/>
            <p:nvPr/>
          </p:nvSpPr>
          <p:spPr>
            <a:xfrm>
              <a:off x="0" y="-38100"/>
              <a:ext cx="990857" cy="1226264"/>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591159" y="3490742"/>
            <a:ext cx="406707" cy="962714"/>
          </a:xfrm>
          <a:prstGeom prst="rect">
            <a:avLst/>
          </a:prstGeom>
        </p:spPr>
        <p:txBody>
          <a:bodyPr lIns="0" tIns="0" rIns="0" bIns="0" rtlCol="0" anchor="t">
            <a:spAutoFit/>
          </a:bodyPr>
          <a:lstStyle/>
          <a:p>
            <a:pPr algn="ctr">
              <a:lnSpc>
                <a:spcPts val="7840"/>
              </a:lnSpc>
              <a:spcBef>
                <a:spcPct val="0"/>
              </a:spcBef>
            </a:pPr>
            <a:r>
              <a:rPr lang="en-US" sz="5600" b="1">
                <a:solidFill>
                  <a:srgbClr val="1E325C"/>
                </a:solidFill>
                <a:latin typeface="Open Sans Bold"/>
                <a:ea typeface="Open Sans Bold"/>
                <a:cs typeface="Open Sans Bold"/>
                <a:sym typeface="Open Sans Bold"/>
              </a:rPr>
              <a:t>1</a:t>
            </a:r>
          </a:p>
        </p:txBody>
      </p:sp>
      <p:sp>
        <p:nvSpPr>
          <p:cNvPr id="15" name="TextBox 15"/>
          <p:cNvSpPr txBox="1"/>
          <p:nvPr/>
        </p:nvSpPr>
        <p:spPr>
          <a:xfrm>
            <a:off x="2148530" y="4959028"/>
            <a:ext cx="1291963" cy="646430"/>
          </a:xfrm>
          <a:prstGeom prst="rect">
            <a:avLst/>
          </a:prstGeom>
        </p:spPr>
        <p:txBody>
          <a:bodyPr lIns="0" tIns="0" rIns="0" bIns="0" rtlCol="0" anchor="t">
            <a:spAutoFit/>
          </a:bodyPr>
          <a:lstStyle/>
          <a:p>
            <a:pPr algn="ctr">
              <a:lnSpc>
                <a:spcPts val="5320"/>
              </a:lnSpc>
              <a:spcBef>
                <a:spcPct val="0"/>
              </a:spcBef>
            </a:pPr>
            <a:r>
              <a:rPr lang="en-US" sz="3800">
                <a:solidFill>
                  <a:srgbClr val="000000"/>
                </a:solidFill>
                <a:latin typeface="Open Sans"/>
                <a:ea typeface="Open Sans"/>
                <a:cs typeface="Open Sans"/>
                <a:sym typeface="Open Sans"/>
              </a:rPr>
              <a:t>RGPD</a:t>
            </a:r>
          </a:p>
        </p:txBody>
      </p:sp>
      <p:sp>
        <p:nvSpPr>
          <p:cNvPr id="16" name="TextBox 16"/>
          <p:cNvSpPr txBox="1"/>
          <p:nvPr/>
        </p:nvSpPr>
        <p:spPr>
          <a:xfrm>
            <a:off x="1253498" y="6245287"/>
            <a:ext cx="3082027" cy="905456"/>
          </a:xfrm>
          <a:prstGeom prst="rect">
            <a:avLst/>
          </a:prstGeom>
        </p:spPr>
        <p:txBody>
          <a:bodyPr lIns="0" tIns="0" rIns="0" bIns="0" rtlCol="0" anchor="t">
            <a:spAutoFit/>
          </a:bodyPr>
          <a:lstStyle/>
          <a:p>
            <a:pPr algn="ctr">
              <a:lnSpc>
                <a:spcPts val="3640"/>
              </a:lnSpc>
            </a:pPr>
            <a:r>
              <a:rPr lang="en-US" sz="2600">
                <a:solidFill>
                  <a:srgbClr val="000000"/>
                </a:solidFill>
                <a:latin typeface="Open Sans"/>
                <a:ea typeface="Open Sans"/>
                <a:cs typeface="Open Sans"/>
                <a:sym typeface="Open Sans"/>
              </a:rPr>
              <a:t>2018</a:t>
            </a:r>
          </a:p>
          <a:p>
            <a:pPr algn="ctr">
              <a:lnSpc>
                <a:spcPts val="3640"/>
              </a:lnSpc>
              <a:spcBef>
                <a:spcPct val="0"/>
              </a:spcBef>
            </a:pPr>
            <a:r>
              <a:rPr lang="en-US" sz="2600">
                <a:solidFill>
                  <a:srgbClr val="000000"/>
                </a:solidFill>
                <a:latin typeface="Open Sans"/>
                <a:ea typeface="Open Sans"/>
                <a:cs typeface="Open Sans"/>
                <a:sym typeface="Open Sans"/>
              </a:rPr>
              <a:t>Premier cadre légal</a:t>
            </a:r>
          </a:p>
        </p:txBody>
      </p:sp>
      <p:sp>
        <p:nvSpPr>
          <p:cNvPr id="17" name="TextBox 17"/>
          <p:cNvSpPr txBox="1"/>
          <p:nvPr/>
        </p:nvSpPr>
        <p:spPr>
          <a:xfrm>
            <a:off x="6655993" y="3490742"/>
            <a:ext cx="406707" cy="962714"/>
          </a:xfrm>
          <a:prstGeom prst="rect">
            <a:avLst/>
          </a:prstGeom>
        </p:spPr>
        <p:txBody>
          <a:bodyPr lIns="0" tIns="0" rIns="0" bIns="0" rtlCol="0" anchor="t">
            <a:spAutoFit/>
          </a:bodyPr>
          <a:lstStyle/>
          <a:p>
            <a:pPr algn="ctr">
              <a:lnSpc>
                <a:spcPts val="7840"/>
              </a:lnSpc>
              <a:spcBef>
                <a:spcPct val="0"/>
              </a:spcBef>
            </a:pPr>
            <a:r>
              <a:rPr lang="en-US" sz="5600" b="1">
                <a:solidFill>
                  <a:srgbClr val="1E325C"/>
                </a:solidFill>
                <a:latin typeface="Open Sans Bold"/>
                <a:ea typeface="Open Sans Bold"/>
                <a:cs typeface="Open Sans Bold"/>
                <a:sym typeface="Open Sans Bold"/>
              </a:rPr>
              <a:t>2</a:t>
            </a:r>
          </a:p>
        </p:txBody>
      </p:sp>
      <p:sp>
        <p:nvSpPr>
          <p:cNvPr id="18" name="TextBox 18"/>
          <p:cNvSpPr txBox="1"/>
          <p:nvPr/>
        </p:nvSpPr>
        <p:spPr>
          <a:xfrm>
            <a:off x="5209519" y="4929720"/>
            <a:ext cx="3299655" cy="646430"/>
          </a:xfrm>
          <a:prstGeom prst="rect">
            <a:avLst/>
          </a:prstGeom>
        </p:spPr>
        <p:txBody>
          <a:bodyPr lIns="0" tIns="0" rIns="0" bIns="0" rtlCol="0" anchor="t">
            <a:spAutoFit/>
          </a:bodyPr>
          <a:lstStyle/>
          <a:p>
            <a:pPr algn="ctr">
              <a:lnSpc>
                <a:spcPts val="5320"/>
              </a:lnSpc>
              <a:spcBef>
                <a:spcPct val="0"/>
              </a:spcBef>
            </a:pPr>
            <a:r>
              <a:rPr lang="en-US" sz="3800">
                <a:solidFill>
                  <a:srgbClr val="000000"/>
                </a:solidFill>
                <a:latin typeface="Open Sans"/>
                <a:ea typeface="Open Sans"/>
                <a:cs typeface="Open Sans"/>
                <a:sym typeface="Open Sans"/>
              </a:rPr>
              <a:t>Trustworthy AI</a:t>
            </a:r>
          </a:p>
        </p:txBody>
      </p:sp>
      <p:sp>
        <p:nvSpPr>
          <p:cNvPr id="19" name="TextBox 19"/>
          <p:cNvSpPr txBox="1"/>
          <p:nvPr/>
        </p:nvSpPr>
        <p:spPr>
          <a:xfrm>
            <a:off x="5318333" y="6215979"/>
            <a:ext cx="3082027" cy="905456"/>
          </a:xfrm>
          <a:prstGeom prst="rect">
            <a:avLst/>
          </a:prstGeom>
        </p:spPr>
        <p:txBody>
          <a:bodyPr lIns="0" tIns="0" rIns="0" bIns="0" rtlCol="0" anchor="t">
            <a:spAutoFit/>
          </a:bodyPr>
          <a:lstStyle/>
          <a:p>
            <a:pPr algn="ctr">
              <a:lnSpc>
                <a:spcPts val="3640"/>
              </a:lnSpc>
            </a:pPr>
            <a:r>
              <a:rPr lang="en-US" sz="2600">
                <a:solidFill>
                  <a:srgbClr val="000000"/>
                </a:solidFill>
                <a:latin typeface="Open Sans"/>
                <a:ea typeface="Open Sans"/>
                <a:cs typeface="Open Sans"/>
                <a:sym typeface="Open Sans"/>
              </a:rPr>
              <a:t>2019</a:t>
            </a:r>
          </a:p>
          <a:p>
            <a:pPr algn="ctr">
              <a:lnSpc>
                <a:spcPts val="3640"/>
              </a:lnSpc>
              <a:spcBef>
                <a:spcPct val="0"/>
              </a:spcBef>
            </a:pPr>
            <a:r>
              <a:rPr lang="en-US" sz="2600">
                <a:solidFill>
                  <a:srgbClr val="000000"/>
                </a:solidFill>
                <a:latin typeface="Open Sans"/>
                <a:ea typeface="Open Sans"/>
                <a:cs typeface="Open Sans"/>
                <a:sym typeface="Open Sans"/>
              </a:rPr>
              <a:t>7 piliers éthiques</a:t>
            </a:r>
          </a:p>
        </p:txBody>
      </p:sp>
      <p:sp>
        <p:nvSpPr>
          <p:cNvPr id="20" name="TextBox 20"/>
          <p:cNvSpPr txBox="1"/>
          <p:nvPr/>
        </p:nvSpPr>
        <p:spPr>
          <a:xfrm>
            <a:off x="10720827" y="3520050"/>
            <a:ext cx="406707" cy="962714"/>
          </a:xfrm>
          <a:prstGeom prst="rect">
            <a:avLst/>
          </a:prstGeom>
        </p:spPr>
        <p:txBody>
          <a:bodyPr lIns="0" tIns="0" rIns="0" bIns="0" rtlCol="0" anchor="t">
            <a:spAutoFit/>
          </a:bodyPr>
          <a:lstStyle/>
          <a:p>
            <a:pPr algn="ctr">
              <a:lnSpc>
                <a:spcPts val="7840"/>
              </a:lnSpc>
              <a:spcBef>
                <a:spcPct val="0"/>
              </a:spcBef>
            </a:pPr>
            <a:r>
              <a:rPr lang="en-US" sz="5600" b="1">
                <a:solidFill>
                  <a:srgbClr val="1E325C"/>
                </a:solidFill>
                <a:latin typeface="Open Sans Bold"/>
                <a:ea typeface="Open Sans Bold"/>
                <a:cs typeface="Open Sans Bold"/>
                <a:sym typeface="Open Sans Bold"/>
              </a:rPr>
              <a:t>3</a:t>
            </a:r>
          </a:p>
        </p:txBody>
      </p:sp>
      <p:sp>
        <p:nvSpPr>
          <p:cNvPr id="21" name="TextBox 21"/>
          <p:cNvSpPr txBox="1"/>
          <p:nvPr/>
        </p:nvSpPr>
        <p:spPr>
          <a:xfrm>
            <a:off x="10288752" y="4929720"/>
            <a:ext cx="1270857" cy="646430"/>
          </a:xfrm>
          <a:prstGeom prst="rect">
            <a:avLst/>
          </a:prstGeom>
        </p:spPr>
        <p:txBody>
          <a:bodyPr lIns="0" tIns="0" rIns="0" bIns="0" rtlCol="0" anchor="t">
            <a:spAutoFit/>
          </a:bodyPr>
          <a:lstStyle/>
          <a:p>
            <a:pPr algn="ctr">
              <a:lnSpc>
                <a:spcPts val="5320"/>
              </a:lnSpc>
              <a:spcBef>
                <a:spcPct val="0"/>
              </a:spcBef>
            </a:pPr>
            <a:r>
              <a:rPr lang="en-US" sz="3800">
                <a:solidFill>
                  <a:srgbClr val="000000"/>
                </a:solidFill>
                <a:latin typeface="Open Sans"/>
                <a:ea typeface="Open Sans"/>
                <a:cs typeface="Open Sans"/>
                <a:sym typeface="Open Sans"/>
              </a:rPr>
              <a:t>AI Act</a:t>
            </a:r>
          </a:p>
        </p:txBody>
      </p:sp>
      <p:sp>
        <p:nvSpPr>
          <p:cNvPr id="22" name="TextBox 22"/>
          <p:cNvSpPr txBox="1"/>
          <p:nvPr/>
        </p:nvSpPr>
        <p:spPr>
          <a:xfrm>
            <a:off x="9383167" y="6215979"/>
            <a:ext cx="3082027" cy="905456"/>
          </a:xfrm>
          <a:prstGeom prst="rect">
            <a:avLst/>
          </a:prstGeom>
        </p:spPr>
        <p:txBody>
          <a:bodyPr lIns="0" tIns="0" rIns="0" bIns="0" rtlCol="0" anchor="t">
            <a:spAutoFit/>
          </a:bodyPr>
          <a:lstStyle/>
          <a:p>
            <a:pPr algn="ctr">
              <a:lnSpc>
                <a:spcPts val="3640"/>
              </a:lnSpc>
            </a:pPr>
            <a:r>
              <a:rPr lang="en-US" sz="2600">
                <a:solidFill>
                  <a:srgbClr val="000000"/>
                </a:solidFill>
                <a:latin typeface="Open Sans"/>
                <a:ea typeface="Open Sans"/>
                <a:cs typeface="Open Sans"/>
                <a:sym typeface="Open Sans"/>
              </a:rPr>
              <a:t>2024</a:t>
            </a:r>
          </a:p>
          <a:p>
            <a:pPr algn="ctr">
              <a:lnSpc>
                <a:spcPts val="3640"/>
              </a:lnSpc>
              <a:spcBef>
                <a:spcPct val="0"/>
              </a:spcBef>
            </a:pPr>
            <a:r>
              <a:rPr lang="en-US" sz="2600">
                <a:solidFill>
                  <a:srgbClr val="000000"/>
                </a:solidFill>
                <a:latin typeface="Open Sans"/>
                <a:ea typeface="Open Sans"/>
                <a:cs typeface="Open Sans"/>
                <a:sym typeface="Open Sans"/>
              </a:rPr>
              <a:t>La loi européenne</a:t>
            </a:r>
          </a:p>
        </p:txBody>
      </p:sp>
      <p:sp>
        <p:nvSpPr>
          <p:cNvPr id="23" name="TextBox 23"/>
          <p:cNvSpPr txBox="1"/>
          <p:nvPr/>
        </p:nvSpPr>
        <p:spPr>
          <a:xfrm>
            <a:off x="14980264" y="3520050"/>
            <a:ext cx="406707" cy="962714"/>
          </a:xfrm>
          <a:prstGeom prst="rect">
            <a:avLst/>
          </a:prstGeom>
        </p:spPr>
        <p:txBody>
          <a:bodyPr lIns="0" tIns="0" rIns="0" bIns="0" rtlCol="0" anchor="t">
            <a:spAutoFit/>
          </a:bodyPr>
          <a:lstStyle/>
          <a:p>
            <a:pPr algn="ctr">
              <a:lnSpc>
                <a:spcPts val="7840"/>
              </a:lnSpc>
              <a:spcBef>
                <a:spcPct val="0"/>
              </a:spcBef>
            </a:pPr>
            <a:r>
              <a:rPr lang="en-US" sz="5600" b="1">
                <a:solidFill>
                  <a:srgbClr val="1E325C"/>
                </a:solidFill>
                <a:latin typeface="Open Sans Bold"/>
                <a:ea typeface="Open Sans Bold"/>
                <a:cs typeface="Open Sans Bold"/>
                <a:sym typeface="Open Sans Bold"/>
              </a:rPr>
              <a:t>4</a:t>
            </a:r>
          </a:p>
        </p:txBody>
      </p:sp>
      <p:sp>
        <p:nvSpPr>
          <p:cNvPr id="24" name="TextBox 24"/>
          <p:cNvSpPr txBox="1"/>
          <p:nvPr/>
        </p:nvSpPr>
        <p:spPr>
          <a:xfrm>
            <a:off x="13107935" y="4929720"/>
            <a:ext cx="4151365" cy="646430"/>
          </a:xfrm>
          <a:prstGeom prst="rect">
            <a:avLst/>
          </a:prstGeom>
        </p:spPr>
        <p:txBody>
          <a:bodyPr lIns="0" tIns="0" rIns="0" bIns="0" rtlCol="0" anchor="t">
            <a:spAutoFit/>
          </a:bodyPr>
          <a:lstStyle/>
          <a:p>
            <a:pPr algn="ctr">
              <a:lnSpc>
                <a:spcPts val="5320"/>
              </a:lnSpc>
              <a:spcBef>
                <a:spcPct val="0"/>
              </a:spcBef>
            </a:pPr>
            <a:r>
              <a:rPr lang="en-US" sz="3800">
                <a:solidFill>
                  <a:srgbClr val="000000"/>
                </a:solidFill>
                <a:latin typeface="Open Sans"/>
                <a:ea typeface="Open Sans"/>
                <a:cs typeface="Open Sans"/>
                <a:sym typeface="Open Sans"/>
              </a:rPr>
              <a:t>Gouvernance </a:t>
            </a:r>
          </a:p>
        </p:txBody>
      </p:sp>
      <p:sp>
        <p:nvSpPr>
          <p:cNvPr id="25" name="TextBox 25"/>
          <p:cNvSpPr txBox="1"/>
          <p:nvPr/>
        </p:nvSpPr>
        <p:spPr>
          <a:xfrm>
            <a:off x="13642604" y="6215979"/>
            <a:ext cx="3082027" cy="905456"/>
          </a:xfrm>
          <a:prstGeom prst="rect">
            <a:avLst/>
          </a:prstGeom>
        </p:spPr>
        <p:txBody>
          <a:bodyPr lIns="0" tIns="0" rIns="0" bIns="0" rtlCol="0" anchor="t">
            <a:spAutoFit/>
          </a:bodyPr>
          <a:lstStyle/>
          <a:p>
            <a:pPr algn="ctr">
              <a:lnSpc>
                <a:spcPts val="3640"/>
              </a:lnSpc>
              <a:spcBef>
                <a:spcPct val="0"/>
              </a:spcBef>
            </a:pPr>
            <a:r>
              <a:rPr lang="en-US" sz="2600">
                <a:solidFill>
                  <a:srgbClr val="000000"/>
                </a:solidFill>
                <a:latin typeface="Open Sans"/>
                <a:ea typeface="Open Sans"/>
                <a:cs typeface="Open Sans"/>
                <a:sym typeface="Open Sans"/>
              </a:rPr>
              <a:t>Provider, deployer, cycle de vie</a:t>
            </a:r>
          </a:p>
        </p:txBody>
      </p:sp>
      <p:sp>
        <p:nvSpPr>
          <p:cNvPr id="26" name="TextBox 26"/>
          <p:cNvSpPr txBox="1"/>
          <p:nvPr/>
        </p:nvSpPr>
        <p:spPr>
          <a:xfrm>
            <a:off x="735956" y="659116"/>
            <a:ext cx="9233407"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Au programme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325C"/>
        </a:solidFill>
        <a:effectLst/>
      </p:bgPr>
    </p:bg>
    <p:spTree>
      <p:nvGrpSpPr>
        <p:cNvPr id="1" name=""/>
        <p:cNvGrpSpPr/>
        <p:nvPr/>
      </p:nvGrpSpPr>
      <p:grpSpPr>
        <a:xfrm>
          <a:off x="0" y="0"/>
          <a:ext cx="0" cy="0"/>
          <a:chOff x="0" y="0"/>
          <a:chExt cx="0" cy="0"/>
        </a:xfrm>
      </p:grpSpPr>
      <p:sp>
        <p:nvSpPr>
          <p:cNvPr id="2" name="TextBox 2"/>
          <p:cNvSpPr txBox="1"/>
          <p:nvPr/>
        </p:nvSpPr>
        <p:spPr>
          <a:xfrm>
            <a:off x="5331961" y="4486937"/>
            <a:ext cx="7624078" cy="1170251"/>
          </a:xfrm>
          <a:prstGeom prst="rect">
            <a:avLst/>
          </a:prstGeom>
        </p:spPr>
        <p:txBody>
          <a:bodyPr lIns="0" tIns="0" rIns="0" bIns="0" rtlCol="0" anchor="t">
            <a:spAutoFit/>
          </a:bodyPr>
          <a:lstStyle/>
          <a:p>
            <a:pPr algn="ctr">
              <a:lnSpc>
                <a:spcPts val="9520"/>
              </a:lnSpc>
              <a:spcBef>
                <a:spcPct val="0"/>
              </a:spcBef>
            </a:pPr>
            <a:r>
              <a:rPr lang="en-US" sz="6800" b="1">
                <a:solidFill>
                  <a:srgbClr val="FFFFFF"/>
                </a:solidFill>
                <a:latin typeface="Open Sans Bold"/>
                <a:ea typeface="Open Sans Bold"/>
                <a:cs typeface="Open Sans Bold"/>
                <a:sym typeface="Open Sans Bold"/>
              </a:rPr>
              <a:t>RGPD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9233407"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RGPD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9233407"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RGPD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325C"/>
        </a:solidFill>
        <a:effectLst/>
      </p:bgPr>
    </p:bg>
    <p:spTree>
      <p:nvGrpSpPr>
        <p:cNvPr id="1" name=""/>
        <p:cNvGrpSpPr/>
        <p:nvPr/>
      </p:nvGrpSpPr>
      <p:grpSpPr>
        <a:xfrm>
          <a:off x="0" y="0"/>
          <a:ext cx="0" cy="0"/>
          <a:chOff x="0" y="0"/>
          <a:chExt cx="0" cy="0"/>
        </a:xfrm>
      </p:grpSpPr>
      <p:sp>
        <p:nvSpPr>
          <p:cNvPr id="2" name="TextBox 2"/>
          <p:cNvSpPr txBox="1"/>
          <p:nvPr/>
        </p:nvSpPr>
        <p:spPr>
          <a:xfrm>
            <a:off x="5331961" y="4486937"/>
            <a:ext cx="7624078" cy="1170251"/>
          </a:xfrm>
          <a:prstGeom prst="rect">
            <a:avLst/>
          </a:prstGeom>
        </p:spPr>
        <p:txBody>
          <a:bodyPr lIns="0" tIns="0" rIns="0" bIns="0" rtlCol="0" anchor="t">
            <a:spAutoFit/>
          </a:bodyPr>
          <a:lstStyle/>
          <a:p>
            <a:pPr algn="ctr">
              <a:lnSpc>
                <a:spcPts val="9520"/>
              </a:lnSpc>
              <a:spcBef>
                <a:spcPct val="0"/>
              </a:spcBef>
            </a:pPr>
            <a:r>
              <a:rPr lang="en-US" sz="6800" b="1">
                <a:solidFill>
                  <a:srgbClr val="FFFFFF"/>
                </a:solidFill>
                <a:latin typeface="Open Sans Bold"/>
                <a:ea typeface="Open Sans Bold"/>
                <a:cs typeface="Open Sans Bold"/>
                <a:sym typeface="Open Sans Bold"/>
              </a:rPr>
              <a:t>Trustworthy AI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155921" y="5648055"/>
            <a:ext cx="3762161" cy="2949810"/>
            <a:chOff x="0" y="0"/>
            <a:chExt cx="990857" cy="776905"/>
          </a:xfrm>
        </p:grpSpPr>
        <p:sp>
          <p:nvSpPr>
            <p:cNvPr id="3" name="Freeform 3"/>
            <p:cNvSpPr/>
            <p:nvPr/>
          </p:nvSpPr>
          <p:spPr>
            <a:xfrm>
              <a:off x="0" y="0"/>
              <a:ext cx="990857" cy="776905"/>
            </a:xfrm>
            <a:custGeom>
              <a:avLst/>
              <a:gdLst/>
              <a:ahLst/>
              <a:cxnLst/>
              <a:rect l="l" t="t" r="r" b="b"/>
              <a:pathLst>
                <a:path w="990857" h="776905">
                  <a:moveTo>
                    <a:pt x="104950" y="0"/>
                  </a:moveTo>
                  <a:lnTo>
                    <a:pt x="885907" y="0"/>
                  </a:lnTo>
                  <a:cubicBezTo>
                    <a:pt x="943870" y="0"/>
                    <a:pt x="990857" y="46988"/>
                    <a:pt x="990857" y="104950"/>
                  </a:cubicBezTo>
                  <a:lnTo>
                    <a:pt x="990857" y="671955"/>
                  </a:lnTo>
                  <a:cubicBezTo>
                    <a:pt x="990857" y="699789"/>
                    <a:pt x="979800" y="726484"/>
                    <a:pt x="960118" y="746166"/>
                  </a:cubicBezTo>
                  <a:cubicBezTo>
                    <a:pt x="940436" y="765848"/>
                    <a:pt x="913742" y="776905"/>
                    <a:pt x="885907" y="776905"/>
                  </a:cubicBezTo>
                  <a:lnTo>
                    <a:pt x="104950" y="776905"/>
                  </a:lnTo>
                  <a:cubicBezTo>
                    <a:pt x="77115" y="776905"/>
                    <a:pt x="50421" y="765848"/>
                    <a:pt x="30739" y="746166"/>
                  </a:cubicBezTo>
                  <a:cubicBezTo>
                    <a:pt x="11057" y="726484"/>
                    <a:pt x="0" y="699789"/>
                    <a:pt x="0" y="671955"/>
                  </a:cubicBezTo>
                  <a:lnTo>
                    <a:pt x="0" y="104950"/>
                  </a:lnTo>
                  <a:cubicBezTo>
                    <a:pt x="0" y="77115"/>
                    <a:pt x="11057" y="50421"/>
                    <a:pt x="30739" y="30739"/>
                  </a:cubicBezTo>
                  <a:cubicBezTo>
                    <a:pt x="50421" y="11057"/>
                    <a:pt x="77115" y="0"/>
                    <a:pt x="104950" y="0"/>
                  </a:cubicBezTo>
                  <a:close/>
                </a:path>
              </a:pathLst>
            </a:custGeom>
            <a:ln w="38100" cap="rnd">
              <a:solidFill>
                <a:srgbClr val="000000"/>
              </a:solidFill>
              <a:prstDash val="solid"/>
              <a:round/>
            </a:ln>
          </p:spPr>
          <p:txBody>
            <a:bodyPr/>
            <a:lstStyle/>
            <a:p>
              <a:endParaRPr lang="fr-BE"/>
            </a:p>
          </p:txBody>
        </p:sp>
        <p:sp>
          <p:nvSpPr>
            <p:cNvPr id="4" name="TextBox 4"/>
            <p:cNvSpPr txBox="1"/>
            <p:nvPr/>
          </p:nvSpPr>
          <p:spPr>
            <a:xfrm>
              <a:off x="0" y="-38100"/>
              <a:ext cx="990857" cy="815005"/>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735956" y="659116"/>
            <a:ext cx="9233407"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Trustworthy AI</a:t>
            </a:r>
          </a:p>
        </p:txBody>
      </p:sp>
      <p:sp>
        <p:nvSpPr>
          <p:cNvPr id="6" name="TextBox 6"/>
          <p:cNvSpPr txBox="1"/>
          <p:nvPr/>
        </p:nvSpPr>
        <p:spPr>
          <a:xfrm>
            <a:off x="1706043" y="2140099"/>
            <a:ext cx="15553257" cy="1313180"/>
          </a:xfrm>
          <a:prstGeom prst="rect">
            <a:avLst/>
          </a:prstGeom>
        </p:spPr>
        <p:txBody>
          <a:bodyPr lIns="0" tIns="0" rIns="0" bIns="0" rtlCol="0" anchor="t">
            <a:spAutoFit/>
          </a:bodyPr>
          <a:lstStyle/>
          <a:p>
            <a:pPr algn="l">
              <a:lnSpc>
                <a:spcPts val="5320"/>
              </a:lnSpc>
              <a:spcBef>
                <a:spcPct val="0"/>
              </a:spcBef>
            </a:pPr>
            <a:r>
              <a:rPr lang="en-US" sz="3800" i="1">
                <a:solidFill>
                  <a:srgbClr val="479DD3"/>
                </a:solidFill>
                <a:latin typeface="Open Sans Italics"/>
                <a:ea typeface="Open Sans Italics"/>
                <a:cs typeface="Open Sans Italics"/>
                <a:sym typeface="Open Sans Italics"/>
              </a:rPr>
              <a:t>Ethics Guidelines for Trustworthy AI</a:t>
            </a:r>
            <a:r>
              <a:rPr lang="en-US" sz="3800">
                <a:solidFill>
                  <a:srgbClr val="000000"/>
                </a:solidFill>
                <a:latin typeface="Open Sans"/>
                <a:ea typeface="Open Sans"/>
                <a:cs typeface="Open Sans"/>
                <a:sym typeface="Open Sans"/>
              </a:rPr>
              <a:t> écrit par un groupe d’experts en IA (HLEG) pour la Commission européenne en 2019.</a:t>
            </a:r>
          </a:p>
        </p:txBody>
      </p:sp>
      <p:sp>
        <p:nvSpPr>
          <p:cNvPr id="7" name="TextBox 7"/>
          <p:cNvSpPr txBox="1"/>
          <p:nvPr/>
        </p:nvSpPr>
        <p:spPr>
          <a:xfrm>
            <a:off x="1706043" y="3991787"/>
            <a:ext cx="15553257" cy="646430"/>
          </a:xfrm>
          <a:prstGeom prst="rect">
            <a:avLst/>
          </a:prstGeom>
        </p:spPr>
        <p:txBody>
          <a:bodyPr lIns="0" tIns="0" rIns="0" bIns="0" rtlCol="0" anchor="t">
            <a:spAutoFit/>
          </a:bodyPr>
          <a:lstStyle/>
          <a:p>
            <a:pPr algn="l">
              <a:lnSpc>
                <a:spcPts val="5320"/>
              </a:lnSpc>
              <a:spcBef>
                <a:spcPct val="0"/>
              </a:spcBef>
            </a:pPr>
            <a:r>
              <a:rPr lang="en-US" sz="3800" dirty="0">
                <a:solidFill>
                  <a:srgbClr val="000000"/>
                </a:solidFill>
                <a:latin typeface="Open Sans"/>
                <a:ea typeface="Open Sans"/>
                <a:cs typeface="Open Sans"/>
                <a:sym typeface="Open Sans"/>
              </a:rPr>
              <a:t>Repose sur 3 </a:t>
            </a:r>
            <a:r>
              <a:rPr lang="en-US" sz="3800" dirty="0" err="1">
                <a:solidFill>
                  <a:srgbClr val="000000"/>
                </a:solidFill>
                <a:latin typeface="Open Sans"/>
                <a:ea typeface="Open Sans"/>
                <a:cs typeface="Open Sans"/>
                <a:sym typeface="Open Sans"/>
              </a:rPr>
              <a:t>composantes</a:t>
            </a:r>
            <a:r>
              <a:rPr lang="en-US" sz="3800" dirty="0">
                <a:solidFill>
                  <a:srgbClr val="000000"/>
                </a:solidFill>
                <a:latin typeface="Open Sans"/>
                <a:ea typeface="Open Sans"/>
                <a:cs typeface="Open Sans"/>
                <a:sym typeface="Open Sans"/>
              </a:rPr>
              <a:t> :</a:t>
            </a:r>
          </a:p>
        </p:txBody>
      </p:sp>
      <p:sp>
        <p:nvSpPr>
          <p:cNvPr id="8" name="TextBox 8"/>
          <p:cNvSpPr txBox="1"/>
          <p:nvPr/>
        </p:nvSpPr>
        <p:spPr>
          <a:xfrm>
            <a:off x="2792149" y="6220537"/>
            <a:ext cx="2489704" cy="646430"/>
          </a:xfrm>
          <a:prstGeom prst="rect">
            <a:avLst/>
          </a:prstGeom>
        </p:spPr>
        <p:txBody>
          <a:bodyPr lIns="0" tIns="0" rIns="0" bIns="0" rtlCol="0" anchor="t">
            <a:spAutoFit/>
          </a:bodyPr>
          <a:lstStyle/>
          <a:p>
            <a:pPr algn="ctr">
              <a:lnSpc>
                <a:spcPts val="5320"/>
              </a:lnSpc>
              <a:spcBef>
                <a:spcPct val="0"/>
              </a:spcBef>
            </a:pPr>
            <a:r>
              <a:rPr lang="en-US" sz="3800" b="1">
                <a:solidFill>
                  <a:srgbClr val="1E325C"/>
                </a:solidFill>
                <a:latin typeface="Open Sans Bold"/>
                <a:ea typeface="Open Sans Bold"/>
                <a:cs typeface="Open Sans Bold"/>
                <a:sym typeface="Open Sans Bold"/>
              </a:rPr>
              <a:t>Lawful</a:t>
            </a:r>
          </a:p>
        </p:txBody>
      </p:sp>
      <p:sp>
        <p:nvSpPr>
          <p:cNvPr id="9" name="TextBox 9"/>
          <p:cNvSpPr txBox="1"/>
          <p:nvPr/>
        </p:nvSpPr>
        <p:spPr>
          <a:xfrm>
            <a:off x="2495988" y="7377051"/>
            <a:ext cx="3082027" cy="448283"/>
          </a:xfrm>
          <a:prstGeom prst="rect">
            <a:avLst/>
          </a:prstGeom>
        </p:spPr>
        <p:txBody>
          <a:bodyPr lIns="0" tIns="0" rIns="0" bIns="0" rtlCol="0" anchor="t">
            <a:spAutoFit/>
          </a:bodyPr>
          <a:lstStyle/>
          <a:p>
            <a:pPr algn="ctr">
              <a:lnSpc>
                <a:spcPts val="3640"/>
              </a:lnSpc>
              <a:spcBef>
                <a:spcPct val="0"/>
              </a:spcBef>
            </a:pPr>
            <a:r>
              <a:rPr lang="en-US" sz="2600">
                <a:solidFill>
                  <a:srgbClr val="000000"/>
                </a:solidFill>
                <a:latin typeface="Open Sans"/>
                <a:ea typeface="Open Sans"/>
                <a:cs typeface="Open Sans"/>
                <a:sym typeface="Open Sans"/>
              </a:rPr>
              <a:t>Conforme au droit</a:t>
            </a:r>
          </a:p>
        </p:txBody>
      </p:sp>
      <p:grpSp>
        <p:nvGrpSpPr>
          <p:cNvPr id="10" name="Group 10"/>
          <p:cNvGrpSpPr/>
          <p:nvPr/>
        </p:nvGrpSpPr>
        <p:grpSpPr>
          <a:xfrm>
            <a:off x="7077289" y="5648055"/>
            <a:ext cx="3762161" cy="2949810"/>
            <a:chOff x="0" y="0"/>
            <a:chExt cx="990857" cy="776905"/>
          </a:xfrm>
        </p:grpSpPr>
        <p:sp>
          <p:nvSpPr>
            <p:cNvPr id="11" name="Freeform 11"/>
            <p:cNvSpPr/>
            <p:nvPr/>
          </p:nvSpPr>
          <p:spPr>
            <a:xfrm>
              <a:off x="0" y="0"/>
              <a:ext cx="990857" cy="776905"/>
            </a:xfrm>
            <a:custGeom>
              <a:avLst/>
              <a:gdLst/>
              <a:ahLst/>
              <a:cxnLst/>
              <a:rect l="l" t="t" r="r" b="b"/>
              <a:pathLst>
                <a:path w="990857" h="776905">
                  <a:moveTo>
                    <a:pt x="104950" y="0"/>
                  </a:moveTo>
                  <a:lnTo>
                    <a:pt x="885907" y="0"/>
                  </a:lnTo>
                  <a:cubicBezTo>
                    <a:pt x="943870" y="0"/>
                    <a:pt x="990857" y="46988"/>
                    <a:pt x="990857" y="104950"/>
                  </a:cubicBezTo>
                  <a:lnTo>
                    <a:pt x="990857" y="671955"/>
                  </a:lnTo>
                  <a:cubicBezTo>
                    <a:pt x="990857" y="699789"/>
                    <a:pt x="979800" y="726484"/>
                    <a:pt x="960118" y="746166"/>
                  </a:cubicBezTo>
                  <a:cubicBezTo>
                    <a:pt x="940436" y="765848"/>
                    <a:pt x="913742" y="776905"/>
                    <a:pt x="885907" y="776905"/>
                  </a:cubicBezTo>
                  <a:lnTo>
                    <a:pt x="104950" y="776905"/>
                  </a:lnTo>
                  <a:cubicBezTo>
                    <a:pt x="77115" y="776905"/>
                    <a:pt x="50421" y="765848"/>
                    <a:pt x="30739" y="746166"/>
                  </a:cubicBezTo>
                  <a:cubicBezTo>
                    <a:pt x="11057" y="726484"/>
                    <a:pt x="0" y="699789"/>
                    <a:pt x="0" y="671955"/>
                  </a:cubicBezTo>
                  <a:lnTo>
                    <a:pt x="0" y="104950"/>
                  </a:lnTo>
                  <a:cubicBezTo>
                    <a:pt x="0" y="77115"/>
                    <a:pt x="11057" y="50421"/>
                    <a:pt x="30739" y="30739"/>
                  </a:cubicBezTo>
                  <a:cubicBezTo>
                    <a:pt x="50421" y="11057"/>
                    <a:pt x="77115" y="0"/>
                    <a:pt x="104950" y="0"/>
                  </a:cubicBezTo>
                  <a:close/>
                </a:path>
              </a:pathLst>
            </a:custGeom>
            <a:ln w="38100" cap="rnd">
              <a:solidFill>
                <a:srgbClr val="000000"/>
              </a:solidFill>
              <a:prstDash val="solid"/>
              <a:round/>
            </a:ln>
          </p:spPr>
          <p:txBody>
            <a:bodyPr/>
            <a:lstStyle/>
            <a:p>
              <a:endParaRPr lang="fr-BE"/>
            </a:p>
          </p:txBody>
        </p:sp>
        <p:sp>
          <p:nvSpPr>
            <p:cNvPr id="12" name="TextBox 12"/>
            <p:cNvSpPr txBox="1"/>
            <p:nvPr/>
          </p:nvSpPr>
          <p:spPr>
            <a:xfrm>
              <a:off x="0" y="-38100"/>
              <a:ext cx="990857" cy="81500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7713518" y="6220537"/>
            <a:ext cx="2489704" cy="646430"/>
          </a:xfrm>
          <a:prstGeom prst="rect">
            <a:avLst/>
          </a:prstGeom>
        </p:spPr>
        <p:txBody>
          <a:bodyPr lIns="0" tIns="0" rIns="0" bIns="0" rtlCol="0" anchor="t">
            <a:spAutoFit/>
          </a:bodyPr>
          <a:lstStyle/>
          <a:p>
            <a:pPr algn="ctr">
              <a:lnSpc>
                <a:spcPts val="5320"/>
              </a:lnSpc>
              <a:spcBef>
                <a:spcPct val="0"/>
              </a:spcBef>
            </a:pPr>
            <a:r>
              <a:rPr lang="en-US" sz="3800" b="1">
                <a:solidFill>
                  <a:srgbClr val="1E325C"/>
                </a:solidFill>
                <a:latin typeface="Open Sans Bold"/>
                <a:ea typeface="Open Sans Bold"/>
                <a:cs typeface="Open Sans Bold"/>
                <a:sym typeface="Open Sans Bold"/>
              </a:rPr>
              <a:t>Ethical</a:t>
            </a:r>
          </a:p>
        </p:txBody>
      </p:sp>
      <p:sp>
        <p:nvSpPr>
          <p:cNvPr id="14" name="TextBox 14"/>
          <p:cNvSpPr txBox="1"/>
          <p:nvPr/>
        </p:nvSpPr>
        <p:spPr>
          <a:xfrm>
            <a:off x="7417356" y="7377051"/>
            <a:ext cx="3082027" cy="448283"/>
          </a:xfrm>
          <a:prstGeom prst="rect">
            <a:avLst/>
          </a:prstGeom>
        </p:spPr>
        <p:txBody>
          <a:bodyPr lIns="0" tIns="0" rIns="0" bIns="0" rtlCol="0" anchor="t">
            <a:spAutoFit/>
          </a:bodyPr>
          <a:lstStyle/>
          <a:p>
            <a:pPr algn="ctr">
              <a:lnSpc>
                <a:spcPts val="3640"/>
              </a:lnSpc>
              <a:spcBef>
                <a:spcPct val="0"/>
              </a:spcBef>
            </a:pPr>
            <a:r>
              <a:rPr lang="en-US" sz="2600">
                <a:solidFill>
                  <a:srgbClr val="000000"/>
                </a:solidFill>
                <a:latin typeface="Open Sans"/>
                <a:ea typeface="Open Sans"/>
                <a:cs typeface="Open Sans"/>
                <a:sym typeface="Open Sans"/>
              </a:rPr>
              <a:t>Principes éthiques</a:t>
            </a:r>
          </a:p>
        </p:txBody>
      </p:sp>
      <p:grpSp>
        <p:nvGrpSpPr>
          <p:cNvPr id="15" name="Group 15"/>
          <p:cNvGrpSpPr/>
          <p:nvPr/>
        </p:nvGrpSpPr>
        <p:grpSpPr>
          <a:xfrm>
            <a:off x="12001500" y="5648055"/>
            <a:ext cx="3762161" cy="2949810"/>
            <a:chOff x="0" y="0"/>
            <a:chExt cx="990857" cy="776905"/>
          </a:xfrm>
        </p:grpSpPr>
        <p:sp>
          <p:nvSpPr>
            <p:cNvPr id="16" name="Freeform 16"/>
            <p:cNvSpPr/>
            <p:nvPr/>
          </p:nvSpPr>
          <p:spPr>
            <a:xfrm>
              <a:off x="0" y="0"/>
              <a:ext cx="990857" cy="776905"/>
            </a:xfrm>
            <a:custGeom>
              <a:avLst/>
              <a:gdLst/>
              <a:ahLst/>
              <a:cxnLst/>
              <a:rect l="l" t="t" r="r" b="b"/>
              <a:pathLst>
                <a:path w="990857" h="776905">
                  <a:moveTo>
                    <a:pt x="104950" y="0"/>
                  </a:moveTo>
                  <a:lnTo>
                    <a:pt x="885907" y="0"/>
                  </a:lnTo>
                  <a:cubicBezTo>
                    <a:pt x="943870" y="0"/>
                    <a:pt x="990857" y="46988"/>
                    <a:pt x="990857" y="104950"/>
                  </a:cubicBezTo>
                  <a:lnTo>
                    <a:pt x="990857" y="671955"/>
                  </a:lnTo>
                  <a:cubicBezTo>
                    <a:pt x="990857" y="699789"/>
                    <a:pt x="979800" y="726484"/>
                    <a:pt x="960118" y="746166"/>
                  </a:cubicBezTo>
                  <a:cubicBezTo>
                    <a:pt x="940436" y="765848"/>
                    <a:pt x="913742" y="776905"/>
                    <a:pt x="885907" y="776905"/>
                  </a:cubicBezTo>
                  <a:lnTo>
                    <a:pt x="104950" y="776905"/>
                  </a:lnTo>
                  <a:cubicBezTo>
                    <a:pt x="77115" y="776905"/>
                    <a:pt x="50421" y="765848"/>
                    <a:pt x="30739" y="746166"/>
                  </a:cubicBezTo>
                  <a:cubicBezTo>
                    <a:pt x="11057" y="726484"/>
                    <a:pt x="0" y="699789"/>
                    <a:pt x="0" y="671955"/>
                  </a:cubicBezTo>
                  <a:lnTo>
                    <a:pt x="0" y="104950"/>
                  </a:lnTo>
                  <a:cubicBezTo>
                    <a:pt x="0" y="77115"/>
                    <a:pt x="11057" y="50421"/>
                    <a:pt x="30739" y="30739"/>
                  </a:cubicBezTo>
                  <a:cubicBezTo>
                    <a:pt x="50421" y="11057"/>
                    <a:pt x="77115" y="0"/>
                    <a:pt x="104950" y="0"/>
                  </a:cubicBezTo>
                  <a:close/>
                </a:path>
              </a:pathLst>
            </a:custGeom>
            <a:ln w="38100" cap="rnd">
              <a:solidFill>
                <a:srgbClr val="000000"/>
              </a:solidFill>
              <a:prstDash val="solid"/>
              <a:round/>
            </a:ln>
          </p:spPr>
          <p:txBody>
            <a:bodyPr/>
            <a:lstStyle/>
            <a:p>
              <a:endParaRPr lang="fr-BE"/>
            </a:p>
          </p:txBody>
        </p:sp>
        <p:sp>
          <p:nvSpPr>
            <p:cNvPr id="17" name="TextBox 17"/>
            <p:cNvSpPr txBox="1"/>
            <p:nvPr/>
          </p:nvSpPr>
          <p:spPr>
            <a:xfrm>
              <a:off x="0" y="-38100"/>
              <a:ext cx="990857" cy="815005"/>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12637728" y="6220537"/>
            <a:ext cx="2489704" cy="646430"/>
          </a:xfrm>
          <a:prstGeom prst="rect">
            <a:avLst/>
          </a:prstGeom>
        </p:spPr>
        <p:txBody>
          <a:bodyPr lIns="0" tIns="0" rIns="0" bIns="0" rtlCol="0" anchor="t">
            <a:spAutoFit/>
          </a:bodyPr>
          <a:lstStyle/>
          <a:p>
            <a:pPr algn="ctr">
              <a:lnSpc>
                <a:spcPts val="5320"/>
              </a:lnSpc>
              <a:spcBef>
                <a:spcPct val="0"/>
              </a:spcBef>
            </a:pPr>
            <a:r>
              <a:rPr lang="en-US" sz="3800" b="1">
                <a:solidFill>
                  <a:srgbClr val="1E325C"/>
                </a:solidFill>
                <a:latin typeface="Open Sans Bold"/>
                <a:ea typeface="Open Sans Bold"/>
                <a:cs typeface="Open Sans Bold"/>
                <a:sym typeface="Open Sans Bold"/>
              </a:rPr>
              <a:t>Robust</a:t>
            </a:r>
          </a:p>
        </p:txBody>
      </p:sp>
      <p:sp>
        <p:nvSpPr>
          <p:cNvPr id="19" name="TextBox 19"/>
          <p:cNvSpPr txBox="1"/>
          <p:nvPr/>
        </p:nvSpPr>
        <p:spPr>
          <a:xfrm>
            <a:off x="12334875" y="7148464"/>
            <a:ext cx="3082027" cy="905456"/>
          </a:xfrm>
          <a:prstGeom prst="rect">
            <a:avLst/>
          </a:prstGeom>
        </p:spPr>
        <p:txBody>
          <a:bodyPr lIns="0" tIns="0" rIns="0" bIns="0" rtlCol="0" anchor="t">
            <a:spAutoFit/>
          </a:bodyPr>
          <a:lstStyle/>
          <a:p>
            <a:pPr algn="ctr">
              <a:lnSpc>
                <a:spcPts val="3640"/>
              </a:lnSpc>
              <a:spcBef>
                <a:spcPct val="0"/>
              </a:spcBef>
            </a:pPr>
            <a:r>
              <a:rPr lang="en-US" sz="2600">
                <a:solidFill>
                  <a:srgbClr val="000000"/>
                </a:solidFill>
                <a:latin typeface="Open Sans"/>
                <a:ea typeface="Open Sans"/>
                <a:cs typeface="Open Sans"/>
                <a:sym typeface="Open Sans"/>
              </a:rPr>
              <a:t>Solide techniquement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16916400"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Trustworthy AI : 7 guidelines</a:t>
            </a:r>
          </a:p>
        </p:txBody>
      </p:sp>
      <p:sp>
        <p:nvSpPr>
          <p:cNvPr id="10" name="CardBg1"/>
          <p:cNvSpPr>
            <a:spLocks noGrp="1"/>
          </p:cNvSpPr>
          <p:nvPr/>
        </p:nvSpPr>
        <p:spPr>
          <a:xfrm>
            <a:off x="635000" y="2349500"/>
            <a:ext cx="4102100" cy="3035300"/>
          </a:xfrm>
          <a:prstGeom prst="roundRect">
            <a:avLst>
              <a:gd name="adj" fmla="val 8000"/>
            </a:avLst>
          </a:prstGeom>
          <a:solidFill>
            <a:srgbClr val="EEF4FF"/>
          </a:solidFill>
          <a:ln w="12700">
            <a:solidFill>
              <a:srgbClr val="C7D7F5"/>
            </a:solidFill>
          </a:ln>
          <a:effectLst>
            <a:outerShdw blurRad="50800" dist="25400" dir="5400000" algn="ctr" rotWithShape="0">
              <a:srgbClr val="000000">
                <a:alpha val="12000"/>
              </a:srgbClr>
            </a:outerShdw>
          </a:effectLst>
        </p:spPr>
        <p:txBody>
          <a:bodyPr/>
          <a:lstStyle/>
          <a:p>
            <a:endParaRPr lang="en-US" dirty="0"/>
          </a:p>
        </p:txBody>
      </p:sp>
      <p:sp>
        <p:nvSpPr>
          <p:cNvPr id="11" name="Badge1"/>
          <p:cNvSpPr>
            <a:spLocks noGrp="1"/>
          </p:cNvSpPr>
          <p:nvPr/>
        </p:nvSpPr>
        <p:spPr>
          <a:xfrm>
            <a:off x="2336800" y="2578100"/>
            <a:ext cx="711200" cy="711200"/>
          </a:xfrm>
          <a:prstGeom prst="ellipse">
            <a:avLst/>
          </a:prstGeom>
          <a:solidFill>
            <a:srgbClr val="2563EB"/>
          </a:solidFill>
          <a:ln>
            <a:noFill/>
          </a:ln>
        </p:spPr>
        <p:txBody>
          <a:bodyPr anchor="ctr" anchorCtr="1">
            <a:noAutofit/>
          </a:bodyPr>
          <a:lstStyle/>
          <a:p>
            <a:pPr algn="ctr"/>
            <a:r>
              <a:rPr lang="en-US" sz="3200" b="1" dirty="0">
                <a:solidFill>
                  <a:srgbClr val="FFFFFF"/>
                </a:solidFill>
                <a:latin typeface="Open Sans"/>
              </a:rPr>
              <a:t>1</a:t>
            </a:r>
          </a:p>
        </p:txBody>
      </p:sp>
      <p:sp>
        <p:nvSpPr>
          <p:cNvPr id="12" name="Label1"/>
          <p:cNvSpPr>
            <a:spLocks noGrp="1"/>
          </p:cNvSpPr>
          <p:nvPr/>
        </p:nvSpPr>
        <p:spPr>
          <a:xfrm>
            <a:off x="838200" y="3467100"/>
            <a:ext cx="3695700" cy="1460500"/>
          </a:xfrm>
          <a:prstGeom prst="rect">
            <a:avLst/>
          </a:prstGeom>
          <a:noFill/>
          <a:ln>
            <a:noFill/>
          </a:ln>
        </p:spPr>
        <p:txBody>
          <a:bodyPr wrap="square" anchor="t">
            <a:normAutofit/>
          </a:bodyPr>
          <a:lstStyle/>
          <a:p>
            <a:pPr algn="ctr"/>
            <a:r>
              <a:rPr lang="en-US" sz="2800" b="1" dirty="0">
                <a:solidFill>
                  <a:srgbClr val="1E293B"/>
                </a:solidFill>
                <a:latin typeface="Open Sans"/>
              </a:rPr>
              <a:t>Human agency </a:t>
            </a:r>
          </a:p>
          <a:p>
            <a:pPr algn="ctr"/>
            <a:r>
              <a:rPr lang="en-US" sz="2800" b="1" dirty="0">
                <a:solidFill>
                  <a:srgbClr val="1E293B"/>
                </a:solidFill>
                <a:latin typeface="Open Sans"/>
              </a:rPr>
              <a:t>and oversight</a:t>
            </a:r>
          </a:p>
        </p:txBody>
      </p:sp>
      <p:sp>
        <p:nvSpPr>
          <p:cNvPr id="13" name="CardBg2"/>
          <p:cNvSpPr>
            <a:spLocks noGrp="1"/>
          </p:cNvSpPr>
          <p:nvPr/>
        </p:nvSpPr>
        <p:spPr>
          <a:xfrm>
            <a:off x="4940300" y="2349500"/>
            <a:ext cx="4102100" cy="3035300"/>
          </a:xfrm>
          <a:prstGeom prst="roundRect">
            <a:avLst>
              <a:gd name="adj" fmla="val 8000"/>
            </a:avLst>
          </a:prstGeom>
          <a:solidFill>
            <a:srgbClr val="EEF4FF"/>
          </a:solidFill>
          <a:ln w="12700">
            <a:solidFill>
              <a:srgbClr val="C7D7F5"/>
            </a:solidFill>
          </a:ln>
          <a:effectLst>
            <a:outerShdw blurRad="50800" dist="25400" dir="5400000" algn="ctr" rotWithShape="0">
              <a:srgbClr val="000000">
                <a:alpha val="12000"/>
              </a:srgbClr>
            </a:outerShdw>
          </a:effectLst>
        </p:spPr>
        <p:txBody>
          <a:bodyPr/>
          <a:lstStyle/>
          <a:p>
            <a:endParaRPr lang="en-US" dirty="0"/>
          </a:p>
        </p:txBody>
      </p:sp>
      <p:sp>
        <p:nvSpPr>
          <p:cNvPr id="14" name="Badge2"/>
          <p:cNvSpPr>
            <a:spLocks noGrp="1"/>
          </p:cNvSpPr>
          <p:nvPr/>
        </p:nvSpPr>
        <p:spPr>
          <a:xfrm>
            <a:off x="6642100" y="2578100"/>
            <a:ext cx="711200" cy="711200"/>
          </a:xfrm>
          <a:prstGeom prst="ellipse">
            <a:avLst/>
          </a:prstGeom>
          <a:solidFill>
            <a:srgbClr val="2563EB"/>
          </a:solidFill>
          <a:ln>
            <a:noFill/>
          </a:ln>
        </p:spPr>
        <p:txBody>
          <a:bodyPr anchor="ctr" anchorCtr="1">
            <a:noAutofit/>
          </a:bodyPr>
          <a:lstStyle/>
          <a:p>
            <a:pPr algn="ctr"/>
            <a:r>
              <a:rPr lang="en-US" sz="3200" b="1" dirty="0">
                <a:solidFill>
                  <a:srgbClr val="FFFFFF"/>
                </a:solidFill>
                <a:latin typeface="Open Sans"/>
              </a:rPr>
              <a:t>2</a:t>
            </a:r>
          </a:p>
        </p:txBody>
      </p:sp>
      <p:sp>
        <p:nvSpPr>
          <p:cNvPr id="15" name="Label2"/>
          <p:cNvSpPr>
            <a:spLocks noGrp="1"/>
          </p:cNvSpPr>
          <p:nvPr/>
        </p:nvSpPr>
        <p:spPr>
          <a:xfrm>
            <a:off x="5143500" y="3467100"/>
            <a:ext cx="3695700" cy="1460500"/>
          </a:xfrm>
          <a:prstGeom prst="rect">
            <a:avLst/>
          </a:prstGeom>
          <a:noFill/>
          <a:ln>
            <a:noFill/>
          </a:ln>
        </p:spPr>
        <p:txBody>
          <a:bodyPr wrap="square" anchor="t">
            <a:normAutofit/>
          </a:bodyPr>
          <a:lstStyle/>
          <a:p>
            <a:pPr algn="ctr"/>
            <a:r>
              <a:rPr lang="en-US" sz="2800" b="1" dirty="0">
                <a:solidFill>
                  <a:srgbClr val="1E293B"/>
                </a:solidFill>
                <a:latin typeface="Open Sans"/>
              </a:rPr>
              <a:t>Technical robustness </a:t>
            </a:r>
          </a:p>
          <a:p>
            <a:pPr algn="ctr"/>
            <a:r>
              <a:rPr lang="en-US" sz="2800" b="1" dirty="0">
                <a:solidFill>
                  <a:srgbClr val="1E293B"/>
                </a:solidFill>
                <a:latin typeface="Open Sans"/>
              </a:rPr>
              <a:t>and safety</a:t>
            </a:r>
          </a:p>
        </p:txBody>
      </p:sp>
      <p:sp>
        <p:nvSpPr>
          <p:cNvPr id="16" name="CardBg3"/>
          <p:cNvSpPr>
            <a:spLocks noGrp="1"/>
          </p:cNvSpPr>
          <p:nvPr/>
        </p:nvSpPr>
        <p:spPr>
          <a:xfrm>
            <a:off x="9245600" y="2349500"/>
            <a:ext cx="4102100" cy="3035300"/>
          </a:xfrm>
          <a:prstGeom prst="roundRect">
            <a:avLst>
              <a:gd name="adj" fmla="val 8000"/>
            </a:avLst>
          </a:prstGeom>
          <a:solidFill>
            <a:srgbClr val="EEF4FF"/>
          </a:solidFill>
          <a:ln w="12700">
            <a:solidFill>
              <a:srgbClr val="C7D7F5"/>
            </a:solidFill>
          </a:ln>
          <a:effectLst>
            <a:outerShdw blurRad="50800" dist="25400" dir="5400000" algn="ctr" rotWithShape="0">
              <a:srgbClr val="000000">
                <a:alpha val="12000"/>
              </a:srgbClr>
            </a:outerShdw>
          </a:effectLst>
        </p:spPr>
        <p:txBody>
          <a:bodyPr/>
          <a:lstStyle/>
          <a:p>
            <a:endParaRPr lang="en-US" dirty="0"/>
          </a:p>
        </p:txBody>
      </p:sp>
      <p:sp>
        <p:nvSpPr>
          <p:cNvPr id="17" name="Badge3"/>
          <p:cNvSpPr>
            <a:spLocks noGrp="1"/>
          </p:cNvSpPr>
          <p:nvPr/>
        </p:nvSpPr>
        <p:spPr>
          <a:xfrm>
            <a:off x="10947400" y="2578100"/>
            <a:ext cx="711200" cy="711200"/>
          </a:xfrm>
          <a:prstGeom prst="ellipse">
            <a:avLst/>
          </a:prstGeom>
          <a:solidFill>
            <a:srgbClr val="2563EB"/>
          </a:solidFill>
          <a:ln>
            <a:noFill/>
          </a:ln>
        </p:spPr>
        <p:txBody>
          <a:bodyPr anchor="ctr" anchorCtr="1">
            <a:noAutofit/>
          </a:bodyPr>
          <a:lstStyle/>
          <a:p>
            <a:pPr algn="ctr"/>
            <a:r>
              <a:rPr lang="en-US" sz="3200" b="1" dirty="0">
                <a:solidFill>
                  <a:srgbClr val="FFFFFF"/>
                </a:solidFill>
                <a:latin typeface="Open Sans"/>
              </a:rPr>
              <a:t>3</a:t>
            </a:r>
          </a:p>
        </p:txBody>
      </p:sp>
      <p:sp>
        <p:nvSpPr>
          <p:cNvPr id="18" name="Label3"/>
          <p:cNvSpPr>
            <a:spLocks noGrp="1"/>
          </p:cNvSpPr>
          <p:nvPr/>
        </p:nvSpPr>
        <p:spPr>
          <a:xfrm>
            <a:off x="9448800" y="3467100"/>
            <a:ext cx="3695700" cy="2667000"/>
          </a:xfrm>
          <a:prstGeom prst="rect">
            <a:avLst/>
          </a:prstGeom>
          <a:noFill/>
          <a:ln>
            <a:noFill/>
          </a:ln>
        </p:spPr>
        <p:txBody>
          <a:bodyPr wrap="square" anchor="t">
            <a:normAutofit/>
          </a:bodyPr>
          <a:lstStyle/>
          <a:p>
            <a:pPr algn="ctr"/>
            <a:r>
              <a:rPr lang="en-US" sz="2800" b="1" dirty="0">
                <a:solidFill>
                  <a:srgbClr val="1E293B"/>
                </a:solidFill>
                <a:latin typeface="Open Sans"/>
              </a:rPr>
              <a:t>Privacy and data governance</a:t>
            </a:r>
          </a:p>
        </p:txBody>
      </p:sp>
      <p:sp>
        <p:nvSpPr>
          <p:cNvPr id="19" name="CardBg4"/>
          <p:cNvSpPr>
            <a:spLocks noGrp="1"/>
          </p:cNvSpPr>
          <p:nvPr/>
        </p:nvSpPr>
        <p:spPr>
          <a:xfrm>
            <a:off x="13550900" y="2349500"/>
            <a:ext cx="4102100" cy="3035300"/>
          </a:xfrm>
          <a:prstGeom prst="roundRect">
            <a:avLst>
              <a:gd name="adj" fmla="val 8000"/>
            </a:avLst>
          </a:prstGeom>
          <a:solidFill>
            <a:srgbClr val="EEF4FF"/>
          </a:solidFill>
          <a:ln w="12700">
            <a:solidFill>
              <a:srgbClr val="C7D7F5"/>
            </a:solidFill>
          </a:ln>
          <a:effectLst>
            <a:outerShdw blurRad="50800" dist="25400" dir="5400000" algn="ctr" rotWithShape="0">
              <a:srgbClr val="000000">
                <a:alpha val="12000"/>
              </a:srgbClr>
            </a:outerShdw>
          </a:effectLst>
        </p:spPr>
        <p:txBody>
          <a:bodyPr/>
          <a:lstStyle/>
          <a:p>
            <a:endParaRPr lang="en-US" dirty="0"/>
          </a:p>
        </p:txBody>
      </p:sp>
      <p:sp>
        <p:nvSpPr>
          <p:cNvPr id="20" name="Badge4"/>
          <p:cNvSpPr>
            <a:spLocks noGrp="1"/>
          </p:cNvSpPr>
          <p:nvPr/>
        </p:nvSpPr>
        <p:spPr>
          <a:xfrm>
            <a:off x="15252700" y="2578100"/>
            <a:ext cx="711200" cy="711200"/>
          </a:xfrm>
          <a:prstGeom prst="ellipse">
            <a:avLst/>
          </a:prstGeom>
          <a:solidFill>
            <a:srgbClr val="2563EB"/>
          </a:solidFill>
          <a:ln>
            <a:noFill/>
          </a:ln>
        </p:spPr>
        <p:txBody>
          <a:bodyPr anchor="ctr" anchorCtr="1">
            <a:noAutofit/>
          </a:bodyPr>
          <a:lstStyle/>
          <a:p>
            <a:pPr algn="ctr"/>
            <a:r>
              <a:rPr lang="en-US" sz="3200" b="1" dirty="0">
                <a:solidFill>
                  <a:srgbClr val="FFFFFF"/>
                </a:solidFill>
                <a:latin typeface="Open Sans"/>
              </a:rPr>
              <a:t>4</a:t>
            </a:r>
          </a:p>
        </p:txBody>
      </p:sp>
      <p:sp>
        <p:nvSpPr>
          <p:cNvPr id="21" name="Label4"/>
          <p:cNvSpPr>
            <a:spLocks noGrp="1"/>
          </p:cNvSpPr>
          <p:nvPr/>
        </p:nvSpPr>
        <p:spPr>
          <a:xfrm>
            <a:off x="13754100" y="3467100"/>
            <a:ext cx="3695700" cy="2667000"/>
          </a:xfrm>
          <a:prstGeom prst="rect">
            <a:avLst/>
          </a:prstGeom>
          <a:noFill/>
          <a:ln>
            <a:noFill/>
          </a:ln>
        </p:spPr>
        <p:txBody>
          <a:bodyPr wrap="square" anchor="t">
            <a:normAutofit/>
          </a:bodyPr>
          <a:lstStyle/>
          <a:p>
            <a:pPr algn="ctr"/>
            <a:r>
              <a:rPr lang="en-US" sz="2800" b="1" dirty="0">
                <a:solidFill>
                  <a:srgbClr val="1E293B"/>
                </a:solidFill>
                <a:latin typeface="Open Sans"/>
              </a:rPr>
              <a:t>Transparency</a:t>
            </a:r>
          </a:p>
        </p:txBody>
      </p:sp>
      <p:sp>
        <p:nvSpPr>
          <p:cNvPr id="22" name="CardBg5"/>
          <p:cNvSpPr>
            <a:spLocks noGrp="1"/>
          </p:cNvSpPr>
          <p:nvPr/>
        </p:nvSpPr>
        <p:spPr>
          <a:xfrm>
            <a:off x="2794000" y="5842000"/>
            <a:ext cx="4102100" cy="3035300"/>
          </a:xfrm>
          <a:prstGeom prst="roundRect">
            <a:avLst>
              <a:gd name="adj" fmla="val 8000"/>
            </a:avLst>
          </a:prstGeom>
          <a:solidFill>
            <a:srgbClr val="EEF4FF"/>
          </a:solidFill>
          <a:ln w="12700">
            <a:solidFill>
              <a:srgbClr val="C7D7F5"/>
            </a:solidFill>
          </a:ln>
          <a:effectLst>
            <a:outerShdw blurRad="50800" dist="25400" dir="5400000" algn="ctr" rotWithShape="0">
              <a:srgbClr val="000000">
                <a:alpha val="12000"/>
              </a:srgbClr>
            </a:outerShdw>
          </a:effectLst>
        </p:spPr>
        <p:txBody>
          <a:bodyPr/>
          <a:lstStyle/>
          <a:p>
            <a:endParaRPr lang="en-US" dirty="0"/>
          </a:p>
        </p:txBody>
      </p:sp>
      <p:sp>
        <p:nvSpPr>
          <p:cNvPr id="23" name="Badge5"/>
          <p:cNvSpPr>
            <a:spLocks noGrp="1"/>
          </p:cNvSpPr>
          <p:nvPr/>
        </p:nvSpPr>
        <p:spPr>
          <a:xfrm>
            <a:off x="4495800" y="6070600"/>
            <a:ext cx="711200" cy="711200"/>
          </a:xfrm>
          <a:prstGeom prst="ellipse">
            <a:avLst/>
          </a:prstGeom>
          <a:solidFill>
            <a:srgbClr val="2563EB"/>
          </a:solidFill>
          <a:ln>
            <a:noFill/>
          </a:ln>
        </p:spPr>
        <p:txBody>
          <a:bodyPr anchor="ctr" anchorCtr="1">
            <a:noAutofit/>
          </a:bodyPr>
          <a:lstStyle/>
          <a:p>
            <a:pPr algn="ctr"/>
            <a:r>
              <a:rPr lang="en-US" sz="3200" b="1" dirty="0">
                <a:solidFill>
                  <a:srgbClr val="FFFFFF"/>
                </a:solidFill>
                <a:latin typeface="Open Sans"/>
              </a:rPr>
              <a:t>5</a:t>
            </a:r>
          </a:p>
        </p:txBody>
      </p:sp>
      <p:sp>
        <p:nvSpPr>
          <p:cNvPr id="24" name="Label5"/>
          <p:cNvSpPr>
            <a:spLocks noGrp="1"/>
          </p:cNvSpPr>
          <p:nvPr/>
        </p:nvSpPr>
        <p:spPr>
          <a:xfrm>
            <a:off x="2997200" y="6959600"/>
            <a:ext cx="3695700" cy="2667000"/>
          </a:xfrm>
          <a:prstGeom prst="rect">
            <a:avLst/>
          </a:prstGeom>
          <a:noFill/>
          <a:ln>
            <a:noFill/>
          </a:ln>
        </p:spPr>
        <p:txBody>
          <a:bodyPr wrap="square" anchor="t">
            <a:normAutofit/>
          </a:bodyPr>
          <a:lstStyle/>
          <a:p>
            <a:pPr algn="ctr"/>
            <a:r>
              <a:rPr lang="en-US" sz="2800" b="1" dirty="0">
                <a:solidFill>
                  <a:srgbClr val="1E293B"/>
                </a:solidFill>
                <a:latin typeface="Open Sans"/>
              </a:rPr>
              <a:t>Diversity, </a:t>
            </a:r>
          </a:p>
          <a:p>
            <a:pPr algn="ctr"/>
            <a:r>
              <a:rPr lang="en-US" sz="2800" b="1" dirty="0">
                <a:solidFill>
                  <a:srgbClr val="1E293B"/>
                </a:solidFill>
                <a:latin typeface="Open Sans"/>
              </a:rPr>
              <a:t>non-discrimination and fairness</a:t>
            </a:r>
          </a:p>
        </p:txBody>
      </p:sp>
      <p:sp>
        <p:nvSpPr>
          <p:cNvPr id="25" name="CardBg6"/>
          <p:cNvSpPr>
            <a:spLocks noGrp="1"/>
          </p:cNvSpPr>
          <p:nvPr/>
        </p:nvSpPr>
        <p:spPr>
          <a:xfrm>
            <a:off x="7099300" y="5842000"/>
            <a:ext cx="4102100" cy="3035300"/>
          </a:xfrm>
          <a:prstGeom prst="roundRect">
            <a:avLst>
              <a:gd name="adj" fmla="val 8000"/>
            </a:avLst>
          </a:prstGeom>
          <a:solidFill>
            <a:srgbClr val="EEF4FF"/>
          </a:solidFill>
          <a:ln w="12700">
            <a:solidFill>
              <a:srgbClr val="C7D7F5"/>
            </a:solidFill>
          </a:ln>
          <a:effectLst>
            <a:outerShdw blurRad="50800" dist="25400" dir="5400000" algn="ctr" rotWithShape="0">
              <a:srgbClr val="000000">
                <a:alpha val="12000"/>
              </a:srgbClr>
            </a:outerShdw>
          </a:effectLst>
        </p:spPr>
        <p:txBody>
          <a:bodyPr/>
          <a:lstStyle/>
          <a:p>
            <a:endParaRPr lang="en-US" dirty="0"/>
          </a:p>
        </p:txBody>
      </p:sp>
      <p:sp>
        <p:nvSpPr>
          <p:cNvPr id="26" name="Badge6"/>
          <p:cNvSpPr>
            <a:spLocks noGrp="1"/>
          </p:cNvSpPr>
          <p:nvPr/>
        </p:nvSpPr>
        <p:spPr>
          <a:xfrm>
            <a:off x="8801100" y="6070600"/>
            <a:ext cx="711200" cy="711200"/>
          </a:xfrm>
          <a:prstGeom prst="ellipse">
            <a:avLst/>
          </a:prstGeom>
          <a:solidFill>
            <a:srgbClr val="2563EB"/>
          </a:solidFill>
          <a:ln>
            <a:noFill/>
          </a:ln>
        </p:spPr>
        <p:txBody>
          <a:bodyPr anchor="ctr" anchorCtr="1">
            <a:noAutofit/>
          </a:bodyPr>
          <a:lstStyle/>
          <a:p>
            <a:pPr algn="ctr"/>
            <a:r>
              <a:rPr lang="en-US" sz="3200" b="1" dirty="0">
                <a:solidFill>
                  <a:srgbClr val="FFFFFF"/>
                </a:solidFill>
                <a:latin typeface="Open Sans"/>
              </a:rPr>
              <a:t>6</a:t>
            </a:r>
          </a:p>
        </p:txBody>
      </p:sp>
      <p:sp>
        <p:nvSpPr>
          <p:cNvPr id="27" name="Label6"/>
          <p:cNvSpPr>
            <a:spLocks noGrp="1"/>
          </p:cNvSpPr>
          <p:nvPr/>
        </p:nvSpPr>
        <p:spPr>
          <a:xfrm>
            <a:off x="7302500" y="6959600"/>
            <a:ext cx="3695700" cy="2667000"/>
          </a:xfrm>
          <a:prstGeom prst="rect">
            <a:avLst/>
          </a:prstGeom>
          <a:noFill/>
          <a:ln>
            <a:noFill/>
          </a:ln>
        </p:spPr>
        <p:txBody>
          <a:bodyPr wrap="square" anchor="t">
            <a:normAutofit/>
          </a:bodyPr>
          <a:lstStyle/>
          <a:p>
            <a:pPr algn="ctr"/>
            <a:r>
              <a:rPr lang="en-US" sz="2800" b="1" dirty="0">
                <a:solidFill>
                  <a:srgbClr val="1E293B"/>
                </a:solidFill>
                <a:latin typeface="Open Sans"/>
              </a:rPr>
              <a:t>Societal and environmental well-being</a:t>
            </a:r>
          </a:p>
        </p:txBody>
      </p:sp>
      <p:sp>
        <p:nvSpPr>
          <p:cNvPr id="28" name="CardBg7"/>
          <p:cNvSpPr>
            <a:spLocks noGrp="1"/>
          </p:cNvSpPr>
          <p:nvPr/>
        </p:nvSpPr>
        <p:spPr>
          <a:xfrm>
            <a:off x="11404600" y="5842000"/>
            <a:ext cx="4102100" cy="3035300"/>
          </a:xfrm>
          <a:prstGeom prst="roundRect">
            <a:avLst>
              <a:gd name="adj" fmla="val 8000"/>
            </a:avLst>
          </a:prstGeom>
          <a:solidFill>
            <a:srgbClr val="EEF4FF"/>
          </a:solidFill>
          <a:ln w="12700">
            <a:solidFill>
              <a:srgbClr val="C7D7F5"/>
            </a:solidFill>
          </a:ln>
          <a:effectLst>
            <a:outerShdw blurRad="50800" dist="25400" dir="5400000" algn="ctr" rotWithShape="0">
              <a:srgbClr val="000000">
                <a:alpha val="12000"/>
              </a:srgbClr>
            </a:outerShdw>
          </a:effectLst>
        </p:spPr>
        <p:txBody>
          <a:bodyPr/>
          <a:lstStyle/>
          <a:p>
            <a:endParaRPr lang="en-US" dirty="0"/>
          </a:p>
        </p:txBody>
      </p:sp>
      <p:sp>
        <p:nvSpPr>
          <p:cNvPr id="29" name="Badge7"/>
          <p:cNvSpPr>
            <a:spLocks noGrp="1"/>
          </p:cNvSpPr>
          <p:nvPr/>
        </p:nvSpPr>
        <p:spPr>
          <a:xfrm>
            <a:off x="13106400" y="6070600"/>
            <a:ext cx="711200" cy="711200"/>
          </a:xfrm>
          <a:prstGeom prst="ellipse">
            <a:avLst/>
          </a:prstGeom>
          <a:solidFill>
            <a:srgbClr val="2563EB"/>
          </a:solidFill>
          <a:ln>
            <a:noFill/>
          </a:ln>
        </p:spPr>
        <p:txBody>
          <a:bodyPr anchor="ctr" anchorCtr="1">
            <a:noAutofit/>
          </a:bodyPr>
          <a:lstStyle/>
          <a:p>
            <a:pPr algn="ctr"/>
            <a:r>
              <a:rPr lang="en-US" sz="3200" b="1" dirty="0">
                <a:solidFill>
                  <a:srgbClr val="FFFFFF"/>
                </a:solidFill>
                <a:latin typeface="Open Sans"/>
              </a:rPr>
              <a:t>7</a:t>
            </a:r>
          </a:p>
        </p:txBody>
      </p:sp>
      <p:sp>
        <p:nvSpPr>
          <p:cNvPr id="30" name="Label7"/>
          <p:cNvSpPr>
            <a:spLocks noGrp="1"/>
          </p:cNvSpPr>
          <p:nvPr/>
        </p:nvSpPr>
        <p:spPr>
          <a:xfrm>
            <a:off x="11607800" y="6959600"/>
            <a:ext cx="3695700" cy="2667000"/>
          </a:xfrm>
          <a:prstGeom prst="rect">
            <a:avLst/>
          </a:prstGeom>
          <a:noFill/>
          <a:ln>
            <a:noFill/>
          </a:ln>
        </p:spPr>
        <p:txBody>
          <a:bodyPr wrap="square" anchor="t">
            <a:normAutofit/>
          </a:bodyPr>
          <a:lstStyle/>
          <a:p>
            <a:pPr algn="ctr"/>
            <a:r>
              <a:rPr lang="en-US" sz="2800" b="1" dirty="0">
                <a:solidFill>
                  <a:srgbClr val="1E293B"/>
                </a:solidFill>
                <a:latin typeface="Open Sans"/>
              </a:rPr>
              <a:t>Accountability</a:t>
            </a:r>
          </a:p>
        </p:txBody>
      </p:sp>
    </p:spTree>
    <p:extLst>
      <p:ext uri="{BB962C8B-B14F-4D97-AF65-F5344CB8AC3E}">
        <p14:creationId xmlns:p14="http://schemas.microsoft.com/office/powerpoint/2010/main" val="536404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91594" y="4028164"/>
            <a:ext cx="11504811" cy="2230672"/>
            <a:chOff x="0" y="0"/>
            <a:chExt cx="15339749" cy="2974229"/>
          </a:xfrm>
        </p:grpSpPr>
        <p:grpSp>
          <p:nvGrpSpPr>
            <p:cNvPr id="3" name="Group 3"/>
            <p:cNvGrpSpPr/>
            <p:nvPr/>
          </p:nvGrpSpPr>
          <p:grpSpPr>
            <a:xfrm>
              <a:off x="1090130" y="1125990"/>
              <a:ext cx="14249619" cy="1848240"/>
              <a:chOff x="0" y="0"/>
              <a:chExt cx="2814739" cy="365084"/>
            </a:xfrm>
          </p:grpSpPr>
          <p:sp>
            <p:nvSpPr>
              <p:cNvPr id="4" name="Freeform 4"/>
              <p:cNvSpPr/>
              <p:nvPr/>
            </p:nvSpPr>
            <p:spPr>
              <a:xfrm>
                <a:off x="0" y="0"/>
                <a:ext cx="2814739" cy="365084"/>
              </a:xfrm>
              <a:custGeom>
                <a:avLst/>
                <a:gdLst/>
                <a:ahLst/>
                <a:cxnLst/>
                <a:rect l="l" t="t" r="r" b="b"/>
                <a:pathLst>
                  <a:path w="2814739" h="365084">
                    <a:moveTo>
                      <a:pt x="36945" y="0"/>
                    </a:moveTo>
                    <a:lnTo>
                      <a:pt x="2777795" y="0"/>
                    </a:lnTo>
                    <a:cubicBezTo>
                      <a:pt x="2798199" y="0"/>
                      <a:pt x="2814739" y="16541"/>
                      <a:pt x="2814739" y="36945"/>
                    </a:cubicBezTo>
                    <a:lnTo>
                      <a:pt x="2814739" y="328139"/>
                    </a:lnTo>
                    <a:cubicBezTo>
                      <a:pt x="2814739" y="337938"/>
                      <a:pt x="2810847" y="347335"/>
                      <a:pt x="2803919" y="354263"/>
                    </a:cubicBezTo>
                    <a:cubicBezTo>
                      <a:pt x="2796990" y="361192"/>
                      <a:pt x="2787593" y="365084"/>
                      <a:pt x="2777795" y="365084"/>
                    </a:cubicBezTo>
                    <a:lnTo>
                      <a:pt x="36945" y="365084"/>
                    </a:lnTo>
                    <a:cubicBezTo>
                      <a:pt x="16541" y="365084"/>
                      <a:pt x="0" y="348544"/>
                      <a:pt x="0" y="328139"/>
                    </a:cubicBezTo>
                    <a:lnTo>
                      <a:pt x="0" y="36945"/>
                    </a:lnTo>
                    <a:cubicBezTo>
                      <a:pt x="0" y="27146"/>
                      <a:pt x="3892" y="17749"/>
                      <a:pt x="10821" y="10821"/>
                    </a:cubicBezTo>
                    <a:cubicBezTo>
                      <a:pt x="17749" y="3892"/>
                      <a:pt x="27146" y="0"/>
                      <a:pt x="36945" y="0"/>
                    </a:cubicBezTo>
                    <a:close/>
                  </a:path>
                </a:pathLst>
              </a:custGeom>
              <a:solidFill>
                <a:srgbClr val="EAF3FF"/>
              </a:solidFill>
              <a:ln w="38100" cap="rnd">
                <a:solidFill>
                  <a:srgbClr val="1E325C"/>
                </a:solidFill>
                <a:prstDash val="solid"/>
                <a:round/>
              </a:ln>
            </p:spPr>
            <p:txBody>
              <a:bodyPr/>
              <a:lstStyle/>
              <a:p>
                <a:endParaRPr lang="fr-BE"/>
              </a:p>
            </p:txBody>
          </p:sp>
          <p:sp>
            <p:nvSpPr>
              <p:cNvPr id="5" name="TextBox 5"/>
              <p:cNvSpPr txBox="1"/>
              <p:nvPr/>
            </p:nvSpPr>
            <p:spPr>
              <a:xfrm>
                <a:off x="0" y="-57150"/>
                <a:ext cx="2814739" cy="422234"/>
              </a:xfrm>
              <a:prstGeom prst="rect">
                <a:avLst/>
              </a:prstGeom>
            </p:spPr>
            <p:txBody>
              <a:bodyPr lIns="50800" tIns="50800" rIns="50800" bIns="50800" rtlCol="0" anchor="ctr"/>
              <a:lstStyle/>
              <a:p>
                <a:pPr algn="ctr">
                  <a:lnSpc>
                    <a:spcPts val="4480"/>
                  </a:lnSpc>
                  <a:spcBef>
                    <a:spcPct val="0"/>
                  </a:spcBef>
                </a:pPr>
                <a:r>
                  <a:rPr lang="en-US" sz="3200">
                    <a:solidFill>
                      <a:srgbClr val="000000"/>
                    </a:solidFill>
                    <a:latin typeface="Open Sans"/>
                    <a:ea typeface="Open Sans"/>
                    <a:cs typeface="Open Sans"/>
                    <a:sym typeface="Open Sans"/>
                  </a:rPr>
                  <a:t>Les humains doivent conserver leur autonomie et un contrôle effectif sur la prise de décision</a:t>
                </a:r>
              </a:p>
            </p:txBody>
          </p:sp>
        </p:grpSp>
        <p:sp>
          <p:nvSpPr>
            <p:cNvPr id="6" name="Freeform 6"/>
            <p:cNvSpPr/>
            <p:nvPr/>
          </p:nvSpPr>
          <p:spPr>
            <a:xfrm rot="-863286">
              <a:off x="165476" y="165476"/>
              <a:ext cx="1524257" cy="1524257"/>
            </a:xfrm>
            <a:custGeom>
              <a:avLst/>
              <a:gdLst/>
              <a:ahLst/>
              <a:cxnLst/>
              <a:rect l="l" t="t" r="r" b="b"/>
              <a:pathLst>
                <a:path w="1524257" h="1524257">
                  <a:moveTo>
                    <a:pt x="0" y="0"/>
                  </a:moveTo>
                  <a:lnTo>
                    <a:pt x="1524257" y="0"/>
                  </a:lnTo>
                  <a:lnTo>
                    <a:pt x="1524257" y="1524257"/>
                  </a:lnTo>
                  <a:lnTo>
                    <a:pt x="0" y="15242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BE"/>
            </a:p>
          </p:txBody>
        </p:sp>
      </p:grpSp>
      <p:sp>
        <p:nvSpPr>
          <p:cNvPr id="7" name="TextBox 7"/>
          <p:cNvSpPr txBox="1"/>
          <p:nvPr/>
        </p:nvSpPr>
        <p:spPr>
          <a:xfrm>
            <a:off x="735956" y="659116"/>
            <a:ext cx="9233407"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Human agency and oversight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14349542"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Human agency and oversight : Exemple de risque</a:t>
            </a:r>
          </a:p>
        </p:txBody>
      </p:sp>
      <p:grpSp>
        <p:nvGrpSpPr>
          <p:cNvPr id="3" name="Group 3"/>
          <p:cNvGrpSpPr/>
          <p:nvPr/>
        </p:nvGrpSpPr>
        <p:grpSpPr>
          <a:xfrm>
            <a:off x="3417809" y="4049653"/>
            <a:ext cx="11452381" cy="4083139"/>
            <a:chOff x="0" y="0"/>
            <a:chExt cx="15269842" cy="5444185"/>
          </a:xfrm>
        </p:grpSpPr>
        <p:sp>
          <p:nvSpPr>
            <p:cNvPr id="4" name="Freeform 4"/>
            <p:cNvSpPr/>
            <p:nvPr/>
          </p:nvSpPr>
          <p:spPr>
            <a:xfrm>
              <a:off x="5413004" y="1137707"/>
              <a:ext cx="4443833" cy="4306478"/>
            </a:xfrm>
            <a:custGeom>
              <a:avLst/>
              <a:gdLst/>
              <a:ahLst/>
              <a:cxnLst/>
              <a:rect l="l" t="t" r="r" b="b"/>
              <a:pathLst>
                <a:path w="4443833" h="4306478">
                  <a:moveTo>
                    <a:pt x="0" y="0"/>
                  </a:moveTo>
                  <a:lnTo>
                    <a:pt x="4443833" y="0"/>
                  </a:lnTo>
                  <a:lnTo>
                    <a:pt x="4443833" y="4306478"/>
                  </a:lnTo>
                  <a:lnTo>
                    <a:pt x="0" y="430647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BE"/>
            </a:p>
          </p:txBody>
        </p:sp>
        <p:sp>
          <p:nvSpPr>
            <p:cNvPr id="5" name="Freeform 5"/>
            <p:cNvSpPr/>
            <p:nvPr/>
          </p:nvSpPr>
          <p:spPr>
            <a:xfrm>
              <a:off x="0" y="0"/>
              <a:ext cx="4306478" cy="4306478"/>
            </a:xfrm>
            <a:custGeom>
              <a:avLst/>
              <a:gdLst/>
              <a:ahLst/>
              <a:cxnLst/>
              <a:rect l="l" t="t" r="r" b="b"/>
              <a:pathLst>
                <a:path w="4306478" h="4306478">
                  <a:moveTo>
                    <a:pt x="0" y="0"/>
                  </a:moveTo>
                  <a:lnTo>
                    <a:pt x="4306478" y="0"/>
                  </a:lnTo>
                  <a:lnTo>
                    <a:pt x="4306478" y="4306478"/>
                  </a:lnTo>
                  <a:lnTo>
                    <a:pt x="0" y="430647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BE"/>
            </a:p>
          </p:txBody>
        </p:sp>
        <p:sp>
          <p:nvSpPr>
            <p:cNvPr id="6" name="Freeform 6"/>
            <p:cNvSpPr/>
            <p:nvPr/>
          </p:nvSpPr>
          <p:spPr>
            <a:xfrm>
              <a:off x="10963363" y="0"/>
              <a:ext cx="4306478" cy="4306478"/>
            </a:xfrm>
            <a:custGeom>
              <a:avLst/>
              <a:gdLst/>
              <a:ahLst/>
              <a:cxnLst/>
              <a:rect l="l" t="t" r="r" b="b"/>
              <a:pathLst>
                <a:path w="4306478" h="4306478">
                  <a:moveTo>
                    <a:pt x="0" y="0"/>
                  </a:moveTo>
                  <a:lnTo>
                    <a:pt x="4306479" y="0"/>
                  </a:lnTo>
                  <a:lnTo>
                    <a:pt x="4306479" y="4306478"/>
                  </a:lnTo>
                  <a:lnTo>
                    <a:pt x="0" y="430647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fr-BE"/>
            </a:p>
          </p:txBody>
        </p:sp>
      </p:grpSp>
      <p:sp>
        <p:nvSpPr>
          <p:cNvPr id="7" name="TextBox 7"/>
          <p:cNvSpPr txBox="1"/>
          <p:nvPr/>
        </p:nvSpPr>
        <p:spPr>
          <a:xfrm>
            <a:off x="1706043" y="2159149"/>
            <a:ext cx="15553257" cy="1099928"/>
          </a:xfrm>
          <a:prstGeom prst="rect">
            <a:avLst/>
          </a:prstGeom>
        </p:spPr>
        <p:txBody>
          <a:bodyPr lIns="0" tIns="0" rIns="0" bIns="0" rtlCol="0" anchor="t">
            <a:spAutoFit/>
          </a:bodyPr>
          <a:lstStyle/>
          <a:p>
            <a:pPr algn="l">
              <a:lnSpc>
                <a:spcPts val="4480"/>
              </a:lnSpc>
              <a:spcBef>
                <a:spcPct val="0"/>
              </a:spcBef>
            </a:pPr>
            <a:r>
              <a:rPr lang="en-US" sz="3200">
                <a:solidFill>
                  <a:srgbClr val="1E325C"/>
                </a:solidFill>
                <a:latin typeface="Open Sans"/>
                <a:ea typeface="Open Sans"/>
                <a:cs typeface="Open Sans"/>
                <a:sym typeface="Open Sans"/>
              </a:rPr>
              <a:t>Les profils républicains reçoivent davantage de contenus alignés avec leurs idéologies que les profils démocrates.</a:t>
            </a:r>
          </a:p>
        </p:txBody>
      </p:sp>
      <p:sp>
        <p:nvSpPr>
          <p:cNvPr id="8" name="TextBox 8"/>
          <p:cNvSpPr txBox="1"/>
          <p:nvPr/>
        </p:nvSpPr>
        <p:spPr>
          <a:xfrm>
            <a:off x="7563560" y="9229725"/>
            <a:ext cx="9695740" cy="297153"/>
          </a:xfrm>
          <a:prstGeom prst="rect">
            <a:avLst/>
          </a:prstGeom>
        </p:spPr>
        <p:txBody>
          <a:bodyPr lIns="0" tIns="0" rIns="0" bIns="0" rtlCol="0" anchor="t">
            <a:spAutoFit/>
          </a:bodyPr>
          <a:lstStyle/>
          <a:p>
            <a:pPr algn="r">
              <a:lnSpc>
                <a:spcPts val="2520"/>
              </a:lnSpc>
              <a:spcBef>
                <a:spcPct val="0"/>
              </a:spcBef>
            </a:pPr>
            <a:r>
              <a:rPr lang="en-US" sz="1800" b="1">
                <a:solidFill>
                  <a:srgbClr val="000000"/>
                </a:solidFill>
                <a:latin typeface="Open Sans Bold"/>
                <a:ea typeface="Open Sans Bold"/>
                <a:cs typeface="Open Sans Bold"/>
                <a:sym typeface="Open Sans Bold"/>
              </a:rPr>
              <a:t>Lien ref. : </a:t>
            </a:r>
            <a:r>
              <a:rPr lang="en-US" sz="1800">
                <a:solidFill>
                  <a:srgbClr val="000000"/>
                </a:solidFill>
                <a:latin typeface="Open Sans"/>
                <a:ea typeface="Open Sans"/>
                <a:cs typeface="Open Sans"/>
                <a:sym typeface="Open Sans"/>
              </a:rPr>
              <a:t>https://doi.org/10.1038/s41586-026-10447-1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91594" y="4028164"/>
            <a:ext cx="11504811" cy="2230672"/>
            <a:chOff x="0" y="0"/>
            <a:chExt cx="15339749" cy="2974229"/>
          </a:xfrm>
        </p:grpSpPr>
        <p:grpSp>
          <p:nvGrpSpPr>
            <p:cNvPr id="3" name="Group 3"/>
            <p:cNvGrpSpPr/>
            <p:nvPr/>
          </p:nvGrpSpPr>
          <p:grpSpPr>
            <a:xfrm>
              <a:off x="1090130" y="1125990"/>
              <a:ext cx="14249619" cy="1848240"/>
              <a:chOff x="0" y="0"/>
              <a:chExt cx="2814739" cy="365084"/>
            </a:xfrm>
          </p:grpSpPr>
          <p:sp>
            <p:nvSpPr>
              <p:cNvPr id="4" name="Freeform 4"/>
              <p:cNvSpPr/>
              <p:nvPr/>
            </p:nvSpPr>
            <p:spPr>
              <a:xfrm>
                <a:off x="0" y="0"/>
                <a:ext cx="2814739" cy="365084"/>
              </a:xfrm>
              <a:custGeom>
                <a:avLst/>
                <a:gdLst/>
                <a:ahLst/>
                <a:cxnLst/>
                <a:rect l="l" t="t" r="r" b="b"/>
                <a:pathLst>
                  <a:path w="2814739" h="365084">
                    <a:moveTo>
                      <a:pt x="36945" y="0"/>
                    </a:moveTo>
                    <a:lnTo>
                      <a:pt x="2777795" y="0"/>
                    </a:lnTo>
                    <a:cubicBezTo>
                      <a:pt x="2798199" y="0"/>
                      <a:pt x="2814739" y="16541"/>
                      <a:pt x="2814739" y="36945"/>
                    </a:cubicBezTo>
                    <a:lnTo>
                      <a:pt x="2814739" y="328139"/>
                    </a:lnTo>
                    <a:cubicBezTo>
                      <a:pt x="2814739" y="337938"/>
                      <a:pt x="2810847" y="347335"/>
                      <a:pt x="2803919" y="354263"/>
                    </a:cubicBezTo>
                    <a:cubicBezTo>
                      <a:pt x="2796990" y="361192"/>
                      <a:pt x="2787593" y="365084"/>
                      <a:pt x="2777795" y="365084"/>
                    </a:cubicBezTo>
                    <a:lnTo>
                      <a:pt x="36945" y="365084"/>
                    </a:lnTo>
                    <a:cubicBezTo>
                      <a:pt x="16541" y="365084"/>
                      <a:pt x="0" y="348544"/>
                      <a:pt x="0" y="328139"/>
                    </a:cubicBezTo>
                    <a:lnTo>
                      <a:pt x="0" y="36945"/>
                    </a:lnTo>
                    <a:cubicBezTo>
                      <a:pt x="0" y="27146"/>
                      <a:pt x="3892" y="17749"/>
                      <a:pt x="10821" y="10821"/>
                    </a:cubicBezTo>
                    <a:cubicBezTo>
                      <a:pt x="17749" y="3892"/>
                      <a:pt x="27146" y="0"/>
                      <a:pt x="36945" y="0"/>
                    </a:cubicBezTo>
                    <a:close/>
                  </a:path>
                </a:pathLst>
              </a:custGeom>
              <a:solidFill>
                <a:srgbClr val="EAF3FF"/>
              </a:solidFill>
              <a:ln w="38100" cap="rnd">
                <a:solidFill>
                  <a:srgbClr val="1E325C"/>
                </a:solidFill>
                <a:prstDash val="solid"/>
                <a:round/>
              </a:ln>
            </p:spPr>
            <p:txBody>
              <a:bodyPr/>
              <a:lstStyle/>
              <a:p>
                <a:endParaRPr lang="fr-BE"/>
              </a:p>
            </p:txBody>
          </p:sp>
          <p:sp>
            <p:nvSpPr>
              <p:cNvPr id="5" name="TextBox 5"/>
              <p:cNvSpPr txBox="1"/>
              <p:nvPr/>
            </p:nvSpPr>
            <p:spPr>
              <a:xfrm>
                <a:off x="0" y="-57150"/>
                <a:ext cx="2814739" cy="422234"/>
              </a:xfrm>
              <a:prstGeom prst="rect">
                <a:avLst/>
              </a:prstGeom>
            </p:spPr>
            <p:txBody>
              <a:bodyPr lIns="50800" tIns="50800" rIns="50800" bIns="50800" rtlCol="0" anchor="ctr"/>
              <a:lstStyle/>
              <a:p>
                <a:pPr algn="ctr">
                  <a:lnSpc>
                    <a:spcPts val="4480"/>
                  </a:lnSpc>
                </a:pPr>
                <a:r>
                  <a:rPr lang="en-US" sz="3200">
                    <a:solidFill>
                      <a:srgbClr val="000000"/>
                    </a:solidFill>
                    <a:latin typeface="Open Sans"/>
                    <a:ea typeface="Open Sans"/>
                    <a:cs typeface="Open Sans"/>
                    <a:sym typeface="Open Sans"/>
                  </a:rPr>
                  <a:t>Un système d'IA doit rester fiable et sûr,</a:t>
                </a:r>
              </a:p>
              <a:p>
                <a:pPr algn="ctr">
                  <a:lnSpc>
                    <a:spcPts val="4480"/>
                  </a:lnSpc>
                  <a:spcBef>
                    <a:spcPct val="0"/>
                  </a:spcBef>
                </a:pPr>
                <a:r>
                  <a:rPr lang="en-US" sz="3200">
                    <a:solidFill>
                      <a:srgbClr val="000000"/>
                    </a:solidFill>
                    <a:latin typeface="Open Sans"/>
                    <a:ea typeface="Open Sans"/>
                    <a:cs typeface="Open Sans"/>
                    <a:sym typeface="Open Sans"/>
                  </a:rPr>
                  <a:t>y compris dans des situations imprévues </a:t>
                </a:r>
              </a:p>
            </p:txBody>
          </p:sp>
        </p:grpSp>
        <p:sp>
          <p:nvSpPr>
            <p:cNvPr id="6" name="Freeform 6"/>
            <p:cNvSpPr/>
            <p:nvPr/>
          </p:nvSpPr>
          <p:spPr>
            <a:xfrm rot="-863286">
              <a:off x="165476" y="165476"/>
              <a:ext cx="1524257" cy="1524257"/>
            </a:xfrm>
            <a:custGeom>
              <a:avLst/>
              <a:gdLst/>
              <a:ahLst/>
              <a:cxnLst/>
              <a:rect l="l" t="t" r="r" b="b"/>
              <a:pathLst>
                <a:path w="1524257" h="1524257">
                  <a:moveTo>
                    <a:pt x="0" y="0"/>
                  </a:moveTo>
                  <a:lnTo>
                    <a:pt x="1524257" y="0"/>
                  </a:lnTo>
                  <a:lnTo>
                    <a:pt x="1524257" y="1524257"/>
                  </a:lnTo>
                  <a:lnTo>
                    <a:pt x="0" y="15242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BE"/>
            </a:p>
          </p:txBody>
        </p:sp>
      </p:grpSp>
      <p:sp>
        <p:nvSpPr>
          <p:cNvPr id="7" name="TextBox 7"/>
          <p:cNvSpPr txBox="1"/>
          <p:nvPr/>
        </p:nvSpPr>
        <p:spPr>
          <a:xfrm>
            <a:off x="735956" y="659116"/>
            <a:ext cx="9233407"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Technical robustness and safety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610660" y="3631932"/>
            <a:ext cx="7066680" cy="4840676"/>
          </a:xfrm>
          <a:custGeom>
            <a:avLst/>
            <a:gdLst/>
            <a:ahLst/>
            <a:cxnLst/>
            <a:rect l="l" t="t" r="r" b="b"/>
            <a:pathLst>
              <a:path w="7066680" h="4840676">
                <a:moveTo>
                  <a:pt x="0" y="0"/>
                </a:moveTo>
                <a:lnTo>
                  <a:pt x="7066680" y="0"/>
                </a:lnTo>
                <a:lnTo>
                  <a:pt x="7066680" y="4840676"/>
                </a:lnTo>
                <a:lnTo>
                  <a:pt x="0" y="4840676"/>
                </a:lnTo>
                <a:lnTo>
                  <a:pt x="0" y="0"/>
                </a:lnTo>
                <a:close/>
              </a:path>
            </a:pathLst>
          </a:custGeom>
          <a:blipFill>
            <a:blip r:embed="rId3"/>
            <a:stretch>
              <a:fillRect/>
            </a:stretch>
          </a:blipFill>
        </p:spPr>
        <p:txBody>
          <a:bodyPr/>
          <a:lstStyle/>
          <a:p>
            <a:endParaRPr lang="fr-BE"/>
          </a:p>
        </p:txBody>
      </p:sp>
      <p:sp>
        <p:nvSpPr>
          <p:cNvPr id="3" name="TextBox 3"/>
          <p:cNvSpPr txBox="1"/>
          <p:nvPr/>
        </p:nvSpPr>
        <p:spPr>
          <a:xfrm>
            <a:off x="735956" y="659116"/>
            <a:ext cx="14349542"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Technical robustness and safety : Exemple de risque</a:t>
            </a:r>
          </a:p>
        </p:txBody>
      </p:sp>
      <p:sp>
        <p:nvSpPr>
          <p:cNvPr id="4" name="TextBox 4"/>
          <p:cNvSpPr txBox="1"/>
          <p:nvPr/>
        </p:nvSpPr>
        <p:spPr>
          <a:xfrm>
            <a:off x="1706043" y="2159149"/>
            <a:ext cx="15553257" cy="1115818"/>
          </a:xfrm>
          <a:prstGeom prst="rect">
            <a:avLst/>
          </a:prstGeom>
        </p:spPr>
        <p:txBody>
          <a:bodyPr lIns="0" tIns="0" rIns="0" bIns="0" rtlCol="0" anchor="t">
            <a:spAutoFit/>
          </a:bodyPr>
          <a:lstStyle/>
          <a:p>
            <a:pPr algn="l">
              <a:lnSpc>
                <a:spcPts val="4480"/>
              </a:lnSpc>
              <a:spcBef>
                <a:spcPct val="0"/>
              </a:spcBef>
            </a:pPr>
            <a:r>
              <a:rPr lang="en-US" sz="3200" dirty="0">
                <a:solidFill>
                  <a:srgbClr val="1E325C"/>
                </a:solidFill>
                <a:latin typeface="Open Sans"/>
                <a:ea typeface="Open Sans"/>
                <a:cs typeface="Open Sans"/>
                <a:sym typeface="Open Sans"/>
              </a:rPr>
              <a:t>2016 : Une Tesla </a:t>
            </a:r>
            <a:r>
              <a:rPr lang="en-US" sz="3200" dirty="0" err="1">
                <a:solidFill>
                  <a:srgbClr val="1E325C"/>
                </a:solidFill>
                <a:latin typeface="Open Sans"/>
                <a:ea typeface="Open Sans"/>
                <a:cs typeface="Open Sans"/>
                <a:sym typeface="Open Sans"/>
              </a:rPr>
              <a:t>en</a:t>
            </a:r>
            <a:r>
              <a:rPr lang="en-US" sz="3200" dirty="0">
                <a:solidFill>
                  <a:srgbClr val="1E325C"/>
                </a:solidFill>
                <a:latin typeface="Open Sans"/>
                <a:ea typeface="Open Sans"/>
                <a:cs typeface="Open Sans"/>
                <a:sym typeface="Open Sans"/>
              </a:rPr>
              <a:t> mode Autopilot </a:t>
            </a:r>
            <a:r>
              <a:rPr lang="en-US" sz="3200" dirty="0" err="1">
                <a:solidFill>
                  <a:srgbClr val="1E325C"/>
                </a:solidFill>
                <a:latin typeface="Open Sans"/>
                <a:ea typeface="Open Sans"/>
                <a:cs typeface="Open Sans"/>
                <a:sym typeface="Open Sans"/>
              </a:rPr>
              <a:t>percute</a:t>
            </a:r>
            <a:r>
              <a:rPr lang="en-US" sz="3200" dirty="0">
                <a:solidFill>
                  <a:srgbClr val="1E325C"/>
                </a:solidFill>
                <a:latin typeface="Open Sans"/>
                <a:ea typeface="Open Sans"/>
                <a:cs typeface="Open Sans"/>
                <a:sym typeface="Open Sans"/>
              </a:rPr>
              <a:t> un camion après </a:t>
            </a:r>
            <a:r>
              <a:rPr lang="en-US" sz="3200" dirty="0" err="1">
                <a:solidFill>
                  <a:srgbClr val="1E325C"/>
                </a:solidFill>
                <a:latin typeface="Open Sans"/>
                <a:ea typeface="Open Sans"/>
                <a:cs typeface="Open Sans"/>
                <a:sym typeface="Open Sans"/>
              </a:rPr>
              <a:t>que</a:t>
            </a:r>
            <a:r>
              <a:rPr lang="en-US" sz="3200" dirty="0">
                <a:solidFill>
                  <a:srgbClr val="1E325C"/>
                </a:solidFill>
                <a:latin typeface="Open Sans"/>
                <a:ea typeface="Open Sans"/>
                <a:cs typeface="Open Sans"/>
                <a:sym typeface="Open Sans"/>
              </a:rPr>
              <a:t> le </a:t>
            </a:r>
            <a:r>
              <a:rPr lang="en-US" sz="3200" dirty="0" err="1">
                <a:solidFill>
                  <a:srgbClr val="1E325C"/>
                </a:solidFill>
                <a:latin typeface="Open Sans"/>
                <a:ea typeface="Open Sans"/>
                <a:cs typeface="Open Sans"/>
                <a:sym typeface="Open Sans"/>
              </a:rPr>
              <a:t>système</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n’a</a:t>
            </a:r>
            <a:r>
              <a:rPr lang="en-US" sz="3200" dirty="0">
                <a:solidFill>
                  <a:srgbClr val="1E325C"/>
                </a:solidFill>
                <a:latin typeface="Open Sans"/>
                <a:ea typeface="Open Sans"/>
                <a:cs typeface="Open Sans"/>
                <a:sym typeface="Open Sans"/>
              </a:rPr>
              <a:t> pas </a:t>
            </a:r>
            <a:r>
              <a:rPr lang="en-US" sz="3200" dirty="0" err="1">
                <a:solidFill>
                  <a:srgbClr val="1E325C"/>
                </a:solidFill>
                <a:latin typeface="Open Sans"/>
                <a:ea typeface="Open Sans"/>
                <a:cs typeface="Open Sans"/>
                <a:sym typeface="Open Sans"/>
              </a:rPr>
              <a:t>identifié</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l’obstacle</a:t>
            </a:r>
            <a:r>
              <a:rPr lang="en-US" sz="3200" dirty="0">
                <a:solidFill>
                  <a:srgbClr val="1E325C"/>
                </a:solidFill>
                <a:latin typeface="Open Sans"/>
                <a:ea typeface="Open Sans"/>
                <a:cs typeface="Open Sans"/>
                <a:sym typeface="Open Sans"/>
              </a:rPr>
              <a:t>.</a:t>
            </a:r>
          </a:p>
        </p:txBody>
      </p:sp>
      <p:sp>
        <p:nvSpPr>
          <p:cNvPr id="5" name="TextBox 5"/>
          <p:cNvSpPr txBox="1"/>
          <p:nvPr/>
        </p:nvSpPr>
        <p:spPr>
          <a:xfrm>
            <a:off x="7563560" y="9229725"/>
            <a:ext cx="9695740" cy="297153"/>
          </a:xfrm>
          <a:prstGeom prst="rect">
            <a:avLst/>
          </a:prstGeom>
        </p:spPr>
        <p:txBody>
          <a:bodyPr lIns="0" tIns="0" rIns="0" bIns="0" rtlCol="0" anchor="t">
            <a:spAutoFit/>
          </a:bodyPr>
          <a:lstStyle/>
          <a:p>
            <a:pPr algn="r">
              <a:lnSpc>
                <a:spcPts val="2520"/>
              </a:lnSpc>
              <a:spcBef>
                <a:spcPct val="0"/>
              </a:spcBef>
            </a:pPr>
            <a:r>
              <a:rPr lang="en-US" sz="1800" b="1">
                <a:solidFill>
                  <a:srgbClr val="000000"/>
                </a:solidFill>
                <a:latin typeface="Open Sans Bold"/>
                <a:ea typeface="Open Sans Bold"/>
                <a:cs typeface="Open Sans Bold"/>
                <a:sym typeface="Open Sans Bold"/>
              </a:rPr>
              <a:t>Lien ref. : </a:t>
            </a:r>
            <a:r>
              <a:rPr lang="en-US" sz="1800">
                <a:solidFill>
                  <a:srgbClr val="000000"/>
                </a:solidFill>
                <a:latin typeface="Open Sans"/>
                <a:ea typeface="Open Sans"/>
                <a:cs typeface="Open Sans"/>
                <a:sym typeface="Open Sans"/>
              </a:rPr>
              <a:t> https://www.ntsb.gov/investigations/AccidentReports/Reports/HAR1702.pdf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91594" y="4028164"/>
            <a:ext cx="11504811" cy="2230672"/>
            <a:chOff x="0" y="0"/>
            <a:chExt cx="15339749" cy="2974229"/>
          </a:xfrm>
        </p:grpSpPr>
        <p:grpSp>
          <p:nvGrpSpPr>
            <p:cNvPr id="3" name="Group 3"/>
            <p:cNvGrpSpPr/>
            <p:nvPr/>
          </p:nvGrpSpPr>
          <p:grpSpPr>
            <a:xfrm>
              <a:off x="1090130" y="1125990"/>
              <a:ext cx="14249619" cy="1848240"/>
              <a:chOff x="0" y="0"/>
              <a:chExt cx="2814739" cy="365084"/>
            </a:xfrm>
          </p:grpSpPr>
          <p:sp>
            <p:nvSpPr>
              <p:cNvPr id="4" name="Freeform 4"/>
              <p:cNvSpPr/>
              <p:nvPr/>
            </p:nvSpPr>
            <p:spPr>
              <a:xfrm>
                <a:off x="0" y="0"/>
                <a:ext cx="2814739" cy="365084"/>
              </a:xfrm>
              <a:custGeom>
                <a:avLst/>
                <a:gdLst/>
                <a:ahLst/>
                <a:cxnLst/>
                <a:rect l="l" t="t" r="r" b="b"/>
                <a:pathLst>
                  <a:path w="2814739" h="365084">
                    <a:moveTo>
                      <a:pt x="36945" y="0"/>
                    </a:moveTo>
                    <a:lnTo>
                      <a:pt x="2777795" y="0"/>
                    </a:lnTo>
                    <a:cubicBezTo>
                      <a:pt x="2798199" y="0"/>
                      <a:pt x="2814739" y="16541"/>
                      <a:pt x="2814739" y="36945"/>
                    </a:cubicBezTo>
                    <a:lnTo>
                      <a:pt x="2814739" y="328139"/>
                    </a:lnTo>
                    <a:cubicBezTo>
                      <a:pt x="2814739" y="337938"/>
                      <a:pt x="2810847" y="347335"/>
                      <a:pt x="2803919" y="354263"/>
                    </a:cubicBezTo>
                    <a:cubicBezTo>
                      <a:pt x="2796990" y="361192"/>
                      <a:pt x="2787593" y="365084"/>
                      <a:pt x="2777795" y="365084"/>
                    </a:cubicBezTo>
                    <a:lnTo>
                      <a:pt x="36945" y="365084"/>
                    </a:lnTo>
                    <a:cubicBezTo>
                      <a:pt x="16541" y="365084"/>
                      <a:pt x="0" y="348544"/>
                      <a:pt x="0" y="328139"/>
                    </a:cubicBezTo>
                    <a:lnTo>
                      <a:pt x="0" y="36945"/>
                    </a:lnTo>
                    <a:cubicBezTo>
                      <a:pt x="0" y="27146"/>
                      <a:pt x="3892" y="17749"/>
                      <a:pt x="10821" y="10821"/>
                    </a:cubicBezTo>
                    <a:cubicBezTo>
                      <a:pt x="17749" y="3892"/>
                      <a:pt x="27146" y="0"/>
                      <a:pt x="36945" y="0"/>
                    </a:cubicBezTo>
                    <a:close/>
                  </a:path>
                </a:pathLst>
              </a:custGeom>
              <a:solidFill>
                <a:srgbClr val="EAF3FF"/>
              </a:solidFill>
              <a:ln w="38100" cap="rnd">
                <a:solidFill>
                  <a:srgbClr val="1E325C"/>
                </a:solidFill>
                <a:prstDash val="solid"/>
                <a:round/>
              </a:ln>
            </p:spPr>
            <p:txBody>
              <a:bodyPr/>
              <a:lstStyle/>
              <a:p>
                <a:endParaRPr lang="fr-BE"/>
              </a:p>
            </p:txBody>
          </p:sp>
          <p:sp>
            <p:nvSpPr>
              <p:cNvPr id="5" name="TextBox 5"/>
              <p:cNvSpPr txBox="1"/>
              <p:nvPr/>
            </p:nvSpPr>
            <p:spPr>
              <a:xfrm>
                <a:off x="0" y="-57150"/>
                <a:ext cx="2814739" cy="422234"/>
              </a:xfrm>
              <a:prstGeom prst="rect">
                <a:avLst/>
              </a:prstGeom>
            </p:spPr>
            <p:txBody>
              <a:bodyPr lIns="50800" tIns="50800" rIns="50800" bIns="50800" rtlCol="0" anchor="ctr"/>
              <a:lstStyle/>
              <a:p>
                <a:pPr algn="ctr">
                  <a:lnSpc>
                    <a:spcPts val="4480"/>
                  </a:lnSpc>
                  <a:spcBef>
                    <a:spcPct val="0"/>
                  </a:spcBef>
                </a:pPr>
                <a:r>
                  <a:rPr lang="en-US" sz="3200" dirty="0">
                    <a:solidFill>
                      <a:srgbClr val="000000"/>
                    </a:solidFill>
                    <a:latin typeface="Open Sans"/>
                    <a:ea typeface="Open Sans"/>
                    <a:cs typeface="Open Sans"/>
                    <a:sym typeface="Open Sans"/>
                  </a:rPr>
                  <a:t>   </a:t>
                </a:r>
                <a:r>
                  <a:rPr lang="en-US" sz="3200" dirty="0" err="1">
                    <a:solidFill>
                      <a:srgbClr val="000000"/>
                    </a:solidFill>
                    <a:latin typeface="Open Sans"/>
                    <a:ea typeface="Open Sans"/>
                    <a:cs typeface="Open Sans"/>
                    <a:sym typeface="Open Sans"/>
                  </a:rPr>
                  <a:t>Relatif</a:t>
                </a:r>
                <a:r>
                  <a:rPr lang="en-US" sz="3200" dirty="0">
                    <a:solidFill>
                      <a:srgbClr val="000000"/>
                    </a:solidFill>
                    <a:latin typeface="Open Sans"/>
                    <a:ea typeface="Open Sans"/>
                    <a:cs typeface="Open Sans"/>
                    <a:sym typeface="Open Sans"/>
                  </a:rPr>
                  <a:t> au GDPR, </a:t>
                </a:r>
                <a:r>
                  <a:rPr lang="en-US" sz="3200" dirty="0" err="1">
                    <a:solidFill>
                      <a:srgbClr val="000000"/>
                    </a:solidFill>
                    <a:latin typeface="Open Sans"/>
                    <a:ea typeface="Open Sans"/>
                    <a:cs typeface="Open Sans"/>
                    <a:sym typeface="Open Sans"/>
                  </a:rPr>
                  <a:t>cela</a:t>
                </a:r>
                <a:r>
                  <a:rPr lang="en-US" sz="3200" dirty="0">
                    <a:solidFill>
                      <a:srgbClr val="000000"/>
                    </a:solidFill>
                    <a:latin typeface="Open Sans"/>
                    <a:ea typeface="Open Sans"/>
                    <a:cs typeface="Open Sans"/>
                    <a:sym typeface="Open Sans"/>
                  </a:rPr>
                  <a:t> </a:t>
                </a:r>
                <a:r>
                  <a:rPr lang="en-US" sz="3200" dirty="0" err="1">
                    <a:solidFill>
                      <a:srgbClr val="000000"/>
                    </a:solidFill>
                    <a:latin typeface="Open Sans"/>
                    <a:ea typeface="Open Sans"/>
                    <a:cs typeface="Open Sans"/>
                    <a:sym typeface="Open Sans"/>
                  </a:rPr>
                  <a:t>réfère</a:t>
                </a:r>
                <a:r>
                  <a:rPr lang="en-US" sz="3200" dirty="0">
                    <a:solidFill>
                      <a:srgbClr val="000000"/>
                    </a:solidFill>
                    <a:latin typeface="Open Sans"/>
                    <a:ea typeface="Open Sans"/>
                    <a:cs typeface="Open Sans"/>
                    <a:sym typeface="Open Sans"/>
                  </a:rPr>
                  <a:t> à la protection et la gestion </a:t>
                </a:r>
                <a:r>
                  <a:rPr lang="en-US" sz="3200" dirty="0" err="1">
                    <a:solidFill>
                      <a:srgbClr val="000000"/>
                    </a:solidFill>
                    <a:latin typeface="Open Sans"/>
                    <a:ea typeface="Open Sans"/>
                    <a:cs typeface="Open Sans"/>
                    <a:sym typeface="Open Sans"/>
                  </a:rPr>
                  <a:t>responsable</a:t>
                </a:r>
                <a:r>
                  <a:rPr lang="en-US" sz="3200" dirty="0">
                    <a:solidFill>
                      <a:srgbClr val="000000"/>
                    </a:solidFill>
                    <a:latin typeface="Open Sans"/>
                    <a:ea typeface="Open Sans"/>
                    <a:cs typeface="Open Sans"/>
                    <a:sym typeface="Open Sans"/>
                  </a:rPr>
                  <a:t> des données des </a:t>
                </a:r>
                <a:r>
                  <a:rPr lang="en-US" sz="3200" dirty="0" err="1">
                    <a:solidFill>
                      <a:srgbClr val="000000"/>
                    </a:solidFill>
                    <a:latin typeface="Open Sans"/>
                    <a:ea typeface="Open Sans"/>
                    <a:cs typeface="Open Sans"/>
                    <a:sym typeface="Open Sans"/>
                  </a:rPr>
                  <a:t>utilisateurs</a:t>
                </a:r>
                <a:r>
                  <a:rPr lang="en-US" sz="3200" dirty="0">
                    <a:solidFill>
                      <a:srgbClr val="000000"/>
                    </a:solidFill>
                    <a:latin typeface="Open Sans"/>
                    <a:ea typeface="Open Sans"/>
                    <a:cs typeface="Open Sans"/>
                    <a:sym typeface="Open Sans"/>
                  </a:rPr>
                  <a:t> </a:t>
                </a:r>
              </a:p>
            </p:txBody>
          </p:sp>
        </p:grpSp>
        <p:sp>
          <p:nvSpPr>
            <p:cNvPr id="6" name="Freeform 6"/>
            <p:cNvSpPr/>
            <p:nvPr/>
          </p:nvSpPr>
          <p:spPr>
            <a:xfrm rot="-863286">
              <a:off x="165476" y="165476"/>
              <a:ext cx="1524257" cy="1524257"/>
            </a:xfrm>
            <a:custGeom>
              <a:avLst/>
              <a:gdLst/>
              <a:ahLst/>
              <a:cxnLst/>
              <a:rect l="l" t="t" r="r" b="b"/>
              <a:pathLst>
                <a:path w="1524257" h="1524257">
                  <a:moveTo>
                    <a:pt x="0" y="0"/>
                  </a:moveTo>
                  <a:lnTo>
                    <a:pt x="1524257" y="0"/>
                  </a:lnTo>
                  <a:lnTo>
                    <a:pt x="1524257" y="1524257"/>
                  </a:lnTo>
                  <a:lnTo>
                    <a:pt x="0" y="15242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BE"/>
            </a:p>
          </p:txBody>
        </p:sp>
      </p:grpSp>
      <p:sp>
        <p:nvSpPr>
          <p:cNvPr id="7" name="TextBox 7"/>
          <p:cNvSpPr txBox="1"/>
          <p:nvPr/>
        </p:nvSpPr>
        <p:spPr>
          <a:xfrm>
            <a:off x="735956" y="659116"/>
            <a:ext cx="9233407"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Privacy and data governance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329996" y="3877708"/>
            <a:ext cx="3628008" cy="5009653"/>
          </a:xfrm>
          <a:custGeom>
            <a:avLst/>
            <a:gdLst/>
            <a:ahLst/>
            <a:cxnLst/>
            <a:rect l="l" t="t" r="r" b="b"/>
            <a:pathLst>
              <a:path w="3628008" h="5009653">
                <a:moveTo>
                  <a:pt x="0" y="0"/>
                </a:moveTo>
                <a:lnTo>
                  <a:pt x="3628008" y="0"/>
                </a:lnTo>
                <a:lnTo>
                  <a:pt x="3628008" y="5009653"/>
                </a:lnTo>
                <a:lnTo>
                  <a:pt x="0" y="5009653"/>
                </a:lnTo>
                <a:lnTo>
                  <a:pt x="0" y="0"/>
                </a:lnTo>
                <a:close/>
              </a:path>
            </a:pathLst>
          </a:custGeom>
          <a:blipFill>
            <a:blip r:embed="rId3"/>
            <a:stretch>
              <a:fillRect l="-83044" r="-88299" b="-10536"/>
            </a:stretch>
          </a:blipFill>
        </p:spPr>
        <p:txBody>
          <a:bodyPr/>
          <a:lstStyle/>
          <a:p>
            <a:endParaRPr lang="fr-BE"/>
          </a:p>
        </p:txBody>
      </p:sp>
      <p:sp>
        <p:nvSpPr>
          <p:cNvPr id="3" name="TextBox 3"/>
          <p:cNvSpPr txBox="1"/>
          <p:nvPr/>
        </p:nvSpPr>
        <p:spPr>
          <a:xfrm>
            <a:off x="735956" y="659116"/>
            <a:ext cx="14349542"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Privacy and data governance : Exemple de risque</a:t>
            </a:r>
          </a:p>
        </p:txBody>
      </p:sp>
      <p:sp>
        <p:nvSpPr>
          <p:cNvPr id="4" name="TextBox 4"/>
          <p:cNvSpPr txBox="1"/>
          <p:nvPr/>
        </p:nvSpPr>
        <p:spPr>
          <a:xfrm>
            <a:off x="1706043" y="2159149"/>
            <a:ext cx="15553257" cy="1099928"/>
          </a:xfrm>
          <a:prstGeom prst="rect">
            <a:avLst/>
          </a:prstGeom>
        </p:spPr>
        <p:txBody>
          <a:bodyPr lIns="0" tIns="0" rIns="0" bIns="0" rtlCol="0" anchor="t">
            <a:spAutoFit/>
          </a:bodyPr>
          <a:lstStyle/>
          <a:p>
            <a:pPr algn="l">
              <a:lnSpc>
                <a:spcPts val="4480"/>
              </a:lnSpc>
              <a:spcBef>
                <a:spcPct val="0"/>
              </a:spcBef>
            </a:pPr>
            <a:r>
              <a:rPr lang="en-US" sz="3200">
                <a:solidFill>
                  <a:srgbClr val="1E325C"/>
                </a:solidFill>
                <a:latin typeface="Open Sans"/>
                <a:ea typeface="Open Sans"/>
                <a:cs typeface="Open Sans"/>
                <a:sym typeface="Open Sans"/>
              </a:rPr>
              <a:t>2024 : Clearview AI est sanctionnée pour avoir constitué illégalement une base de données biométriques destinée à la reconnaissance faciale.</a:t>
            </a:r>
          </a:p>
        </p:txBody>
      </p:sp>
      <p:sp>
        <p:nvSpPr>
          <p:cNvPr id="5" name="TextBox 5"/>
          <p:cNvSpPr txBox="1"/>
          <p:nvPr/>
        </p:nvSpPr>
        <p:spPr>
          <a:xfrm>
            <a:off x="6266255" y="9477911"/>
            <a:ext cx="10993045" cy="297153"/>
          </a:xfrm>
          <a:prstGeom prst="rect">
            <a:avLst/>
          </a:prstGeom>
        </p:spPr>
        <p:txBody>
          <a:bodyPr lIns="0" tIns="0" rIns="0" bIns="0" rtlCol="0" anchor="t">
            <a:spAutoFit/>
          </a:bodyPr>
          <a:lstStyle/>
          <a:p>
            <a:pPr algn="r">
              <a:lnSpc>
                <a:spcPts val="2520"/>
              </a:lnSpc>
              <a:spcBef>
                <a:spcPct val="0"/>
              </a:spcBef>
            </a:pPr>
            <a:r>
              <a:rPr lang="en-US" sz="1800" b="1">
                <a:solidFill>
                  <a:srgbClr val="000000"/>
                </a:solidFill>
                <a:latin typeface="Open Sans Bold"/>
                <a:ea typeface="Open Sans Bold"/>
                <a:cs typeface="Open Sans Bold"/>
                <a:sym typeface="Open Sans Bold"/>
              </a:rPr>
              <a:t>Lien ref. : </a:t>
            </a:r>
            <a:r>
              <a:rPr lang="en-US" sz="1800">
                <a:solidFill>
                  <a:srgbClr val="000000"/>
                </a:solidFill>
                <a:latin typeface="Open Sans"/>
                <a:ea typeface="Open Sans"/>
                <a:cs typeface="Open Sans"/>
                <a:sym typeface="Open Sans"/>
              </a:rPr>
              <a:t>https://www.autoriteitpersoonsgegevens.nl/en/documents/decision-fine-clearview-ai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91594" y="4028164"/>
            <a:ext cx="11504811" cy="2230672"/>
            <a:chOff x="0" y="0"/>
            <a:chExt cx="15339749" cy="2974229"/>
          </a:xfrm>
        </p:grpSpPr>
        <p:grpSp>
          <p:nvGrpSpPr>
            <p:cNvPr id="3" name="Group 3"/>
            <p:cNvGrpSpPr/>
            <p:nvPr/>
          </p:nvGrpSpPr>
          <p:grpSpPr>
            <a:xfrm>
              <a:off x="1090130" y="1125990"/>
              <a:ext cx="14249619" cy="1848240"/>
              <a:chOff x="0" y="0"/>
              <a:chExt cx="2814739" cy="365084"/>
            </a:xfrm>
          </p:grpSpPr>
          <p:sp>
            <p:nvSpPr>
              <p:cNvPr id="4" name="Freeform 4"/>
              <p:cNvSpPr/>
              <p:nvPr/>
            </p:nvSpPr>
            <p:spPr>
              <a:xfrm>
                <a:off x="0" y="0"/>
                <a:ext cx="2814739" cy="365084"/>
              </a:xfrm>
              <a:custGeom>
                <a:avLst/>
                <a:gdLst/>
                <a:ahLst/>
                <a:cxnLst/>
                <a:rect l="l" t="t" r="r" b="b"/>
                <a:pathLst>
                  <a:path w="2814739" h="365084">
                    <a:moveTo>
                      <a:pt x="36945" y="0"/>
                    </a:moveTo>
                    <a:lnTo>
                      <a:pt x="2777795" y="0"/>
                    </a:lnTo>
                    <a:cubicBezTo>
                      <a:pt x="2798199" y="0"/>
                      <a:pt x="2814739" y="16541"/>
                      <a:pt x="2814739" y="36945"/>
                    </a:cubicBezTo>
                    <a:lnTo>
                      <a:pt x="2814739" y="328139"/>
                    </a:lnTo>
                    <a:cubicBezTo>
                      <a:pt x="2814739" y="337938"/>
                      <a:pt x="2810847" y="347335"/>
                      <a:pt x="2803919" y="354263"/>
                    </a:cubicBezTo>
                    <a:cubicBezTo>
                      <a:pt x="2796990" y="361192"/>
                      <a:pt x="2787593" y="365084"/>
                      <a:pt x="2777795" y="365084"/>
                    </a:cubicBezTo>
                    <a:lnTo>
                      <a:pt x="36945" y="365084"/>
                    </a:lnTo>
                    <a:cubicBezTo>
                      <a:pt x="16541" y="365084"/>
                      <a:pt x="0" y="348544"/>
                      <a:pt x="0" y="328139"/>
                    </a:cubicBezTo>
                    <a:lnTo>
                      <a:pt x="0" y="36945"/>
                    </a:lnTo>
                    <a:cubicBezTo>
                      <a:pt x="0" y="27146"/>
                      <a:pt x="3892" y="17749"/>
                      <a:pt x="10821" y="10821"/>
                    </a:cubicBezTo>
                    <a:cubicBezTo>
                      <a:pt x="17749" y="3892"/>
                      <a:pt x="27146" y="0"/>
                      <a:pt x="36945" y="0"/>
                    </a:cubicBezTo>
                    <a:close/>
                  </a:path>
                </a:pathLst>
              </a:custGeom>
              <a:solidFill>
                <a:srgbClr val="EAF3FF"/>
              </a:solidFill>
              <a:ln w="38100" cap="rnd">
                <a:solidFill>
                  <a:srgbClr val="1E325C"/>
                </a:solidFill>
                <a:prstDash val="solid"/>
                <a:round/>
              </a:ln>
            </p:spPr>
            <p:txBody>
              <a:bodyPr/>
              <a:lstStyle/>
              <a:p>
                <a:endParaRPr lang="fr-BE"/>
              </a:p>
            </p:txBody>
          </p:sp>
          <p:sp>
            <p:nvSpPr>
              <p:cNvPr id="5" name="TextBox 5"/>
              <p:cNvSpPr txBox="1"/>
              <p:nvPr/>
            </p:nvSpPr>
            <p:spPr>
              <a:xfrm>
                <a:off x="0" y="-57150"/>
                <a:ext cx="2814739" cy="422234"/>
              </a:xfrm>
              <a:prstGeom prst="rect">
                <a:avLst/>
              </a:prstGeom>
            </p:spPr>
            <p:txBody>
              <a:bodyPr lIns="50800" tIns="50800" rIns="50800" bIns="50800" rtlCol="0" anchor="ctr"/>
              <a:lstStyle/>
              <a:p>
                <a:pPr algn="ctr">
                  <a:lnSpc>
                    <a:spcPts val="4480"/>
                  </a:lnSpc>
                  <a:spcBef>
                    <a:spcPct val="0"/>
                  </a:spcBef>
                </a:pPr>
                <a:r>
                  <a:rPr lang="en-US" sz="3200">
                    <a:solidFill>
                      <a:srgbClr val="000000"/>
                    </a:solidFill>
                    <a:latin typeface="Open Sans"/>
                    <a:ea typeface="Open Sans"/>
                    <a:cs typeface="Open Sans"/>
                    <a:sym typeface="Open Sans"/>
                  </a:rPr>
                  <a:t>Les données, les systèmes et les décisions de l'IA doivent être transparents, traçables et explicables.</a:t>
                </a:r>
              </a:p>
            </p:txBody>
          </p:sp>
        </p:grpSp>
        <p:sp>
          <p:nvSpPr>
            <p:cNvPr id="6" name="Freeform 6"/>
            <p:cNvSpPr/>
            <p:nvPr/>
          </p:nvSpPr>
          <p:spPr>
            <a:xfrm rot="-863286">
              <a:off x="165476" y="165476"/>
              <a:ext cx="1524257" cy="1524257"/>
            </a:xfrm>
            <a:custGeom>
              <a:avLst/>
              <a:gdLst/>
              <a:ahLst/>
              <a:cxnLst/>
              <a:rect l="l" t="t" r="r" b="b"/>
              <a:pathLst>
                <a:path w="1524257" h="1524257">
                  <a:moveTo>
                    <a:pt x="0" y="0"/>
                  </a:moveTo>
                  <a:lnTo>
                    <a:pt x="1524257" y="0"/>
                  </a:lnTo>
                  <a:lnTo>
                    <a:pt x="1524257" y="1524257"/>
                  </a:lnTo>
                  <a:lnTo>
                    <a:pt x="0" y="15242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BE"/>
            </a:p>
          </p:txBody>
        </p:sp>
      </p:grpSp>
      <p:sp>
        <p:nvSpPr>
          <p:cNvPr id="7" name="TextBox 7"/>
          <p:cNvSpPr txBox="1"/>
          <p:nvPr/>
        </p:nvSpPr>
        <p:spPr>
          <a:xfrm>
            <a:off x="735956" y="659116"/>
            <a:ext cx="9233407"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Transparency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12207" y="3700410"/>
            <a:ext cx="8063586" cy="5372364"/>
          </a:xfrm>
          <a:custGeom>
            <a:avLst/>
            <a:gdLst/>
            <a:ahLst/>
            <a:cxnLst/>
            <a:rect l="l" t="t" r="r" b="b"/>
            <a:pathLst>
              <a:path w="8063586" h="5372364">
                <a:moveTo>
                  <a:pt x="0" y="0"/>
                </a:moveTo>
                <a:lnTo>
                  <a:pt x="8063586" y="0"/>
                </a:lnTo>
                <a:lnTo>
                  <a:pt x="8063586" y="5372364"/>
                </a:lnTo>
                <a:lnTo>
                  <a:pt x="0" y="5372364"/>
                </a:lnTo>
                <a:lnTo>
                  <a:pt x="0" y="0"/>
                </a:lnTo>
                <a:close/>
              </a:path>
            </a:pathLst>
          </a:custGeom>
          <a:blipFill>
            <a:blip r:embed="rId2"/>
            <a:stretch>
              <a:fillRect/>
            </a:stretch>
          </a:blipFill>
        </p:spPr>
        <p:txBody>
          <a:bodyPr/>
          <a:lstStyle/>
          <a:p>
            <a:endParaRPr lang="fr-BE"/>
          </a:p>
        </p:txBody>
      </p:sp>
      <p:sp>
        <p:nvSpPr>
          <p:cNvPr id="3" name="TextBox 3"/>
          <p:cNvSpPr txBox="1"/>
          <p:nvPr/>
        </p:nvSpPr>
        <p:spPr>
          <a:xfrm>
            <a:off x="735956" y="659116"/>
            <a:ext cx="14349542"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Transparency : Exemple</a:t>
            </a:r>
          </a:p>
        </p:txBody>
      </p:sp>
      <p:sp>
        <p:nvSpPr>
          <p:cNvPr id="4" name="TextBox 4"/>
          <p:cNvSpPr txBox="1"/>
          <p:nvPr/>
        </p:nvSpPr>
        <p:spPr>
          <a:xfrm>
            <a:off x="1706043" y="2159149"/>
            <a:ext cx="15553257" cy="1099928"/>
          </a:xfrm>
          <a:prstGeom prst="rect">
            <a:avLst/>
          </a:prstGeom>
        </p:spPr>
        <p:txBody>
          <a:bodyPr lIns="0" tIns="0" rIns="0" bIns="0" rtlCol="0" anchor="t">
            <a:spAutoFit/>
          </a:bodyPr>
          <a:lstStyle/>
          <a:p>
            <a:pPr algn="l">
              <a:lnSpc>
                <a:spcPts val="4480"/>
              </a:lnSpc>
              <a:spcBef>
                <a:spcPct val="0"/>
              </a:spcBef>
            </a:pPr>
            <a:r>
              <a:rPr lang="en-US" sz="3200">
                <a:solidFill>
                  <a:srgbClr val="1E325C"/>
                </a:solidFill>
                <a:latin typeface="Open Sans"/>
                <a:ea typeface="Open Sans"/>
                <a:cs typeface="Open Sans"/>
                <a:sym typeface="Open Sans"/>
              </a:rPr>
              <a:t>Les utilisateurs doivent être informés lorsqu’ils interagissent avec un chatbot plutôt qu’avec un humain.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91594" y="3752857"/>
            <a:ext cx="11504811" cy="2781286"/>
            <a:chOff x="0" y="0"/>
            <a:chExt cx="15339749" cy="3708381"/>
          </a:xfrm>
        </p:grpSpPr>
        <p:grpSp>
          <p:nvGrpSpPr>
            <p:cNvPr id="3" name="Group 3"/>
            <p:cNvGrpSpPr/>
            <p:nvPr/>
          </p:nvGrpSpPr>
          <p:grpSpPr>
            <a:xfrm>
              <a:off x="1090130" y="1125990"/>
              <a:ext cx="14249619" cy="2582391"/>
              <a:chOff x="0" y="0"/>
              <a:chExt cx="2814739" cy="510102"/>
            </a:xfrm>
          </p:grpSpPr>
          <p:sp>
            <p:nvSpPr>
              <p:cNvPr id="4" name="Freeform 4"/>
              <p:cNvSpPr/>
              <p:nvPr/>
            </p:nvSpPr>
            <p:spPr>
              <a:xfrm>
                <a:off x="0" y="0"/>
                <a:ext cx="2814739" cy="510102"/>
              </a:xfrm>
              <a:custGeom>
                <a:avLst/>
                <a:gdLst/>
                <a:ahLst/>
                <a:cxnLst/>
                <a:rect l="l" t="t" r="r" b="b"/>
                <a:pathLst>
                  <a:path w="2814739" h="510102">
                    <a:moveTo>
                      <a:pt x="36945" y="0"/>
                    </a:moveTo>
                    <a:lnTo>
                      <a:pt x="2777795" y="0"/>
                    </a:lnTo>
                    <a:cubicBezTo>
                      <a:pt x="2798199" y="0"/>
                      <a:pt x="2814739" y="16541"/>
                      <a:pt x="2814739" y="36945"/>
                    </a:cubicBezTo>
                    <a:lnTo>
                      <a:pt x="2814739" y="473157"/>
                    </a:lnTo>
                    <a:cubicBezTo>
                      <a:pt x="2814739" y="482955"/>
                      <a:pt x="2810847" y="492353"/>
                      <a:pt x="2803919" y="499281"/>
                    </a:cubicBezTo>
                    <a:cubicBezTo>
                      <a:pt x="2796990" y="506210"/>
                      <a:pt x="2787593" y="510102"/>
                      <a:pt x="2777795" y="510102"/>
                    </a:cubicBezTo>
                    <a:lnTo>
                      <a:pt x="36945" y="510102"/>
                    </a:lnTo>
                    <a:cubicBezTo>
                      <a:pt x="27146" y="510102"/>
                      <a:pt x="17749" y="506210"/>
                      <a:pt x="10821" y="499281"/>
                    </a:cubicBezTo>
                    <a:cubicBezTo>
                      <a:pt x="3892" y="492353"/>
                      <a:pt x="0" y="482955"/>
                      <a:pt x="0" y="473157"/>
                    </a:cubicBezTo>
                    <a:lnTo>
                      <a:pt x="0" y="36945"/>
                    </a:lnTo>
                    <a:cubicBezTo>
                      <a:pt x="0" y="27146"/>
                      <a:pt x="3892" y="17749"/>
                      <a:pt x="10821" y="10821"/>
                    </a:cubicBezTo>
                    <a:cubicBezTo>
                      <a:pt x="17749" y="3892"/>
                      <a:pt x="27146" y="0"/>
                      <a:pt x="36945" y="0"/>
                    </a:cubicBezTo>
                    <a:close/>
                  </a:path>
                </a:pathLst>
              </a:custGeom>
              <a:solidFill>
                <a:srgbClr val="EAF3FF"/>
              </a:solidFill>
              <a:ln w="38100" cap="rnd">
                <a:solidFill>
                  <a:srgbClr val="1E325C"/>
                </a:solidFill>
                <a:prstDash val="solid"/>
                <a:round/>
              </a:ln>
            </p:spPr>
            <p:txBody>
              <a:bodyPr/>
              <a:lstStyle/>
              <a:p>
                <a:endParaRPr lang="fr-BE"/>
              </a:p>
            </p:txBody>
          </p:sp>
          <p:sp>
            <p:nvSpPr>
              <p:cNvPr id="5" name="TextBox 5"/>
              <p:cNvSpPr txBox="1"/>
              <p:nvPr/>
            </p:nvSpPr>
            <p:spPr>
              <a:xfrm>
                <a:off x="0" y="-57150"/>
                <a:ext cx="2814739" cy="567252"/>
              </a:xfrm>
              <a:prstGeom prst="rect">
                <a:avLst/>
              </a:prstGeom>
            </p:spPr>
            <p:txBody>
              <a:bodyPr lIns="50800" tIns="50800" rIns="50800" bIns="50800" rtlCol="0" anchor="ctr"/>
              <a:lstStyle/>
              <a:p>
                <a:pPr algn="ctr">
                  <a:lnSpc>
                    <a:spcPts val="4480"/>
                  </a:lnSpc>
                  <a:spcBef>
                    <a:spcPct val="0"/>
                  </a:spcBef>
                </a:pPr>
                <a:r>
                  <a:rPr lang="en-US" sz="3200" dirty="0">
                    <a:solidFill>
                      <a:srgbClr val="000000"/>
                    </a:solidFill>
                    <a:latin typeface="Open Sans"/>
                    <a:ea typeface="Open Sans"/>
                    <a:cs typeface="Open Sans"/>
                    <a:sym typeface="Open Sans"/>
                  </a:rPr>
                  <a:t>  Les </a:t>
                </a:r>
                <a:r>
                  <a:rPr lang="en-US" sz="3200" dirty="0" err="1">
                    <a:solidFill>
                      <a:srgbClr val="000000"/>
                    </a:solidFill>
                    <a:latin typeface="Open Sans"/>
                    <a:ea typeface="Open Sans"/>
                    <a:cs typeface="Open Sans"/>
                    <a:sym typeface="Open Sans"/>
                  </a:rPr>
                  <a:t>individus</a:t>
                </a:r>
                <a:r>
                  <a:rPr lang="en-US" sz="3200" dirty="0">
                    <a:solidFill>
                      <a:srgbClr val="000000"/>
                    </a:solidFill>
                    <a:latin typeface="Open Sans"/>
                    <a:ea typeface="Open Sans"/>
                    <a:cs typeface="Open Sans"/>
                    <a:sym typeface="Open Sans"/>
                  </a:rPr>
                  <a:t> et les </a:t>
                </a:r>
                <a:r>
                  <a:rPr lang="en-US" sz="3200" dirty="0" err="1">
                    <a:solidFill>
                      <a:srgbClr val="000000"/>
                    </a:solidFill>
                    <a:latin typeface="Open Sans"/>
                    <a:ea typeface="Open Sans"/>
                    <a:cs typeface="Open Sans"/>
                    <a:sym typeface="Open Sans"/>
                  </a:rPr>
                  <a:t>groupes</a:t>
                </a:r>
                <a:r>
                  <a:rPr lang="en-US" sz="3200" dirty="0">
                    <a:solidFill>
                      <a:srgbClr val="000000"/>
                    </a:solidFill>
                    <a:latin typeface="Open Sans"/>
                    <a:ea typeface="Open Sans"/>
                    <a:cs typeface="Open Sans"/>
                    <a:sym typeface="Open Sans"/>
                  </a:rPr>
                  <a:t> </a:t>
                </a:r>
                <a:r>
                  <a:rPr lang="en-US" sz="3200" dirty="0" err="1">
                    <a:solidFill>
                      <a:srgbClr val="000000"/>
                    </a:solidFill>
                    <a:latin typeface="Open Sans"/>
                    <a:ea typeface="Open Sans"/>
                    <a:cs typeface="Open Sans"/>
                    <a:sym typeface="Open Sans"/>
                  </a:rPr>
                  <a:t>sont</a:t>
                </a:r>
                <a:r>
                  <a:rPr lang="en-US" sz="3200" dirty="0">
                    <a:solidFill>
                      <a:srgbClr val="000000"/>
                    </a:solidFill>
                    <a:latin typeface="Open Sans"/>
                    <a:ea typeface="Open Sans"/>
                    <a:cs typeface="Open Sans"/>
                    <a:sym typeface="Open Sans"/>
                  </a:rPr>
                  <a:t> </a:t>
                </a:r>
                <a:r>
                  <a:rPr lang="en-US" sz="3200" dirty="0" err="1">
                    <a:solidFill>
                      <a:srgbClr val="000000"/>
                    </a:solidFill>
                    <a:latin typeface="Open Sans"/>
                    <a:ea typeface="Open Sans"/>
                    <a:cs typeface="Open Sans"/>
                    <a:sym typeface="Open Sans"/>
                  </a:rPr>
                  <a:t>traités</a:t>
                </a:r>
                <a:r>
                  <a:rPr lang="en-US" sz="3200" dirty="0">
                    <a:solidFill>
                      <a:srgbClr val="000000"/>
                    </a:solidFill>
                    <a:latin typeface="Open Sans"/>
                    <a:ea typeface="Open Sans"/>
                    <a:cs typeface="Open Sans"/>
                    <a:sym typeface="Open Sans"/>
                  </a:rPr>
                  <a:t> sur </a:t>
                </a:r>
              </a:p>
              <a:p>
                <a:pPr algn="ctr">
                  <a:lnSpc>
                    <a:spcPts val="4480"/>
                  </a:lnSpc>
                  <a:spcBef>
                    <a:spcPct val="0"/>
                  </a:spcBef>
                </a:pPr>
                <a:r>
                  <a:rPr lang="en-US" sz="3200" dirty="0">
                    <a:solidFill>
                      <a:srgbClr val="000000"/>
                    </a:solidFill>
                    <a:latin typeface="Open Sans"/>
                    <a:ea typeface="Open Sans"/>
                    <a:cs typeface="Open Sans"/>
                    <a:sym typeface="Open Sans"/>
                  </a:rPr>
                  <a:t>un </a:t>
                </a:r>
                <a:r>
                  <a:rPr lang="fr-FR" sz="3200" dirty="0">
                    <a:solidFill>
                      <a:srgbClr val="000000"/>
                    </a:solidFill>
                    <a:latin typeface="Open Sans"/>
                    <a:ea typeface="Open Sans"/>
                    <a:cs typeface="Open Sans"/>
                    <a:sym typeface="Open Sans"/>
                  </a:rPr>
                  <a:t>pied d'égalité, sans préjugés injustifiés, </a:t>
                </a:r>
              </a:p>
              <a:p>
                <a:pPr algn="ctr">
                  <a:lnSpc>
                    <a:spcPts val="4480"/>
                  </a:lnSpc>
                  <a:spcBef>
                    <a:spcPct val="0"/>
                  </a:spcBef>
                </a:pPr>
                <a:r>
                  <a:rPr lang="fr-FR" sz="3200" dirty="0">
                    <a:solidFill>
                      <a:srgbClr val="000000"/>
                    </a:solidFill>
                    <a:latin typeface="Open Sans"/>
                    <a:ea typeface="Open Sans"/>
                    <a:cs typeface="Open Sans"/>
                    <a:sym typeface="Open Sans"/>
                  </a:rPr>
                  <a:t>ni discrimination, ni</a:t>
                </a:r>
                <a:r>
                  <a:rPr lang="en-US" sz="3200" dirty="0">
                    <a:solidFill>
                      <a:srgbClr val="000000"/>
                    </a:solidFill>
                    <a:latin typeface="Open Sans"/>
                    <a:ea typeface="Open Sans"/>
                    <a:cs typeface="Open Sans"/>
                    <a:sym typeface="Open Sans"/>
                  </a:rPr>
                  <a:t> </a:t>
                </a:r>
                <a:r>
                  <a:rPr lang="en-US" sz="3200" dirty="0" err="1">
                    <a:solidFill>
                      <a:srgbClr val="000000"/>
                    </a:solidFill>
                    <a:latin typeface="Open Sans"/>
                    <a:ea typeface="Open Sans"/>
                    <a:cs typeface="Open Sans"/>
                    <a:sym typeface="Open Sans"/>
                  </a:rPr>
                  <a:t>stigmatisation</a:t>
                </a:r>
                <a:r>
                  <a:rPr lang="en-US" sz="3200" dirty="0">
                    <a:solidFill>
                      <a:srgbClr val="000000"/>
                    </a:solidFill>
                    <a:latin typeface="Open Sans"/>
                    <a:ea typeface="Open Sans"/>
                    <a:cs typeface="Open Sans"/>
                    <a:sym typeface="Open Sans"/>
                  </a:rPr>
                  <a:t>.</a:t>
                </a:r>
              </a:p>
            </p:txBody>
          </p:sp>
        </p:grpSp>
        <p:sp>
          <p:nvSpPr>
            <p:cNvPr id="6" name="Freeform 6"/>
            <p:cNvSpPr/>
            <p:nvPr/>
          </p:nvSpPr>
          <p:spPr>
            <a:xfrm rot="-863286">
              <a:off x="165476" y="165476"/>
              <a:ext cx="1524257" cy="1524257"/>
            </a:xfrm>
            <a:custGeom>
              <a:avLst/>
              <a:gdLst/>
              <a:ahLst/>
              <a:cxnLst/>
              <a:rect l="l" t="t" r="r" b="b"/>
              <a:pathLst>
                <a:path w="1524257" h="1524257">
                  <a:moveTo>
                    <a:pt x="0" y="0"/>
                  </a:moveTo>
                  <a:lnTo>
                    <a:pt x="1524257" y="0"/>
                  </a:lnTo>
                  <a:lnTo>
                    <a:pt x="1524257" y="1524257"/>
                  </a:lnTo>
                  <a:lnTo>
                    <a:pt x="0" y="15242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BE"/>
            </a:p>
          </p:txBody>
        </p:sp>
      </p:grpSp>
      <p:sp>
        <p:nvSpPr>
          <p:cNvPr id="7" name="TextBox 7"/>
          <p:cNvSpPr txBox="1"/>
          <p:nvPr/>
        </p:nvSpPr>
        <p:spPr>
          <a:xfrm>
            <a:off x="735956" y="659116"/>
            <a:ext cx="11480852"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Diversity, non-discrimination and fairness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16779706"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Diversity, non-discrimination and fairness : Exemple de risque</a:t>
            </a:r>
          </a:p>
        </p:txBody>
      </p:sp>
      <p:sp>
        <p:nvSpPr>
          <p:cNvPr id="3" name="TextBox 3"/>
          <p:cNvSpPr txBox="1"/>
          <p:nvPr/>
        </p:nvSpPr>
        <p:spPr>
          <a:xfrm>
            <a:off x="1706043" y="2159149"/>
            <a:ext cx="15553257" cy="537899"/>
          </a:xfrm>
          <a:prstGeom prst="rect">
            <a:avLst/>
          </a:prstGeom>
        </p:spPr>
        <p:txBody>
          <a:bodyPr lIns="0" tIns="0" rIns="0" bIns="0" rtlCol="0" anchor="t">
            <a:spAutoFit/>
          </a:bodyPr>
          <a:lstStyle/>
          <a:p>
            <a:pPr algn="l">
              <a:lnSpc>
                <a:spcPts val="4480"/>
              </a:lnSpc>
              <a:spcBef>
                <a:spcPct val="0"/>
              </a:spcBef>
            </a:pPr>
            <a:r>
              <a:rPr lang="en-US" sz="3200" dirty="0">
                <a:solidFill>
                  <a:srgbClr val="1E325C"/>
                </a:solidFill>
                <a:latin typeface="Open Sans"/>
                <a:ea typeface="Open Sans"/>
                <a:cs typeface="Open Sans"/>
                <a:sym typeface="Open Sans"/>
              </a:rPr>
              <a:t>2018 : Amazon </a:t>
            </a:r>
            <a:r>
              <a:rPr lang="en-US" sz="3200" dirty="0" err="1">
                <a:solidFill>
                  <a:srgbClr val="1E325C"/>
                </a:solidFill>
                <a:latin typeface="Open Sans"/>
                <a:ea typeface="Open Sans"/>
                <a:cs typeface="Open Sans"/>
                <a:sym typeface="Open Sans"/>
              </a:rPr>
              <a:t>abandonne</a:t>
            </a:r>
            <a:r>
              <a:rPr lang="en-US" sz="3200" dirty="0">
                <a:solidFill>
                  <a:srgbClr val="1E325C"/>
                </a:solidFill>
                <a:latin typeface="Open Sans"/>
                <a:ea typeface="Open Sans"/>
                <a:cs typeface="Open Sans"/>
                <a:sym typeface="Open Sans"/>
              </a:rPr>
              <a:t> un </a:t>
            </a:r>
            <a:r>
              <a:rPr lang="en-US" sz="3200" dirty="0" err="1">
                <a:solidFill>
                  <a:srgbClr val="1E325C"/>
                </a:solidFill>
                <a:latin typeface="Open Sans"/>
                <a:ea typeface="Open Sans"/>
                <a:cs typeface="Open Sans"/>
                <a:sym typeface="Open Sans"/>
              </a:rPr>
              <a:t>outil</a:t>
            </a:r>
            <a:r>
              <a:rPr lang="en-US" sz="3200" dirty="0">
                <a:solidFill>
                  <a:srgbClr val="1E325C"/>
                </a:solidFill>
                <a:latin typeface="Open Sans"/>
                <a:ea typeface="Open Sans"/>
                <a:cs typeface="Open Sans"/>
                <a:sym typeface="Open Sans"/>
              </a:rPr>
              <a:t> de </a:t>
            </a:r>
            <a:r>
              <a:rPr lang="en-US" sz="3200" dirty="0" err="1">
                <a:solidFill>
                  <a:srgbClr val="1E325C"/>
                </a:solidFill>
                <a:latin typeface="Open Sans"/>
                <a:ea typeface="Open Sans"/>
                <a:cs typeface="Open Sans"/>
                <a:sym typeface="Open Sans"/>
              </a:rPr>
              <a:t>recrutement</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biaisé</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contre</a:t>
            </a:r>
            <a:r>
              <a:rPr lang="en-US" sz="3200" dirty="0">
                <a:solidFill>
                  <a:srgbClr val="1E325C"/>
                </a:solidFill>
                <a:latin typeface="Open Sans"/>
                <a:ea typeface="Open Sans"/>
                <a:cs typeface="Open Sans"/>
                <a:sym typeface="Open Sans"/>
              </a:rPr>
              <a:t> les femmes.</a:t>
            </a:r>
          </a:p>
        </p:txBody>
      </p:sp>
      <p:sp>
        <p:nvSpPr>
          <p:cNvPr id="4" name="TextBox 4"/>
          <p:cNvSpPr txBox="1"/>
          <p:nvPr/>
        </p:nvSpPr>
        <p:spPr>
          <a:xfrm>
            <a:off x="7563560" y="9229725"/>
            <a:ext cx="9695740" cy="611451"/>
          </a:xfrm>
          <a:prstGeom prst="rect">
            <a:avLst/>
          </a:prstGeom>
        </p:spPr>
        <p:txBody>
          <a:bodyPr lIns="0" tIns="0" rIns="0" bIns="0" rtlCol="0" anchor="t">
            <a:spAutoFit/>
          </a:bodyPr>
          <a:lstStyle/>
          <a:p>
            <a:pPr algn="r">
              <a:lnSpc>
                <a:spcPts val="2520"/>
              </a:lnSpc>
              <a:spcBef>
                <a:spcPct val="0"/>
              </a:spcBef>
            </a:pPr>
            <a:r>
              <a:rPr lang="en-US" sz="1800" b="1">
                <a:solidFill>
                  <a:srgbClr val="000000"/>
                </a:solidFill>
                <a:latin typeface="Open Sans Bold"/>
                <a:ea typeface="Open Sans Bold"/>
                <a:cs typeface="Open Sans Bold"/>
                <a:sym typeface="Open Sans Bold"/>
              </a:rPr>
              <a:t>Lien ref. : </a:t>
            </a:r>
            <a:r>
              <a:rPr lang="en-US" sz="1800">
                <a:solidFill>
                  <a:srgbClr val="000000"/>
                </a:solidFill>
                <a:latin typeface="Open Sans"/>
                <a:ea typeface="Open Sans"/>
                <a:cs typeface="Open Sans"/>
                <a:sym typeface="Open Sans"/>
              </a:rPr>
              <a:t> https://www.taylorfrancis.com/chapters/edit/10.1201/9781003278290-44/amazon-scraps-secret-ai-recruiting-tool-showed-bias-women-jeffrey-dastin</a:t>
            </a:r>
          </a:p>
        </p:txBody>
      </p:sp>
      <p:grpSp>
        <p:nvGrpSpPr>
          <p:cNvPr id="5" name="Group 5"/>
          <p:cNvGrpSpPr/>
          <p:nvPr/>
        </p:nvGrpSpPr>
        <p:grpSpPr>
          <a:xfrm>
            <a:off x="4713176" y="3487623"/>
            <a:ext cx="8861647" cy="4984677"/>
            <a:chOff x="0" y="0"/>
            <a:chExt cx="11815530" cy="6646235"/>
          </a:xfrm>
        </p:grpSpPr>
        <p:sp>
          <p:nvSpPr>
            <p:cNvPr id="6" name="Freeform 6"/>
            <p:cNvSpPr/>
            <p:nvPr/>
          </p:nvSpPr>
          <p:spPr>
            <a:xfrm>
              <a:off x="0" y="0"/>
              <a:ext cx="11815530" cy="6646235"/>
            </a:xfrm>
            <a:custGeom>
              <a:avLst/>
              <a:gdLst/>
              <a:ahLst/>
              <a:cxnLst/>
              <a:rect l="l" t="t" r="r" b="b"/>
              <a:pathLst>
                <a:path w="11815530" h="6646235">
                  <a:moveTo>
                    <a:pt x="0" y="0"/>
                  </a:moveTo>
                  <a:lnTo>
                    <a:pt x="11815530" y="0"/>
                  </a:lnTo>
                  <a:lnTo>
                    <a:pt x="11815530" y="6646235"/>
                  </a:lnTo>
                  <a:lnTo>
                    <a:pt x="0" y="6646235"/>
                  </a:lnTo>
                  <a:lnTo>
                    <a:pt x="0" y="0"/>
                  </a:lnTo>
                  <a:close/>
                </a:path>
              </a:pathLst>
            </a:custGeom>
            <a:blipFill>
              <a:blip r:embed="rId2"/>
              <a:stretch>
                <a:fillRect b="-18444"/>
              </a:stretch>
            </a:blipFill>
          </p:spPr>
          <p:txBody>
            <a:bodyPr/>
            <a:lstStyle/>
            <a:p>
              <a:endParaRPr lang="fr-BE"/>
            </a:p>
          </p:txBody>
        </p:sp>
        <p:sp>
          <p:nvSpPr>
            <p:cNvPr id="7" name="Freeform 7"/>
            <p:cNvSpPr/>
            <p:nvPr/>
          </p:nvSpPr>
          <p:spPr>
            <a:xfrm>
              <a:off x="4189255" y="359576"/>
              <a:ext cx="3437019" cy="1149839"/>
            </a:xfrm>
            <a:custGeom>
              <a:avLst/>
              <a:gdLst/>
              <a:ahLst/>
              <a:cxnLst/>
              <a:rect l="l" t="t" r="r" b="b"/>
              <a:pathLst>
                <a:path w="3437019" h="1149839">
                  <a:moveTo>
                    <a:pt x="0" y="0"/>
                  </a:moveTo>
                  <a:lnTo>
                    <a:pt x="3437019" y="0"/>
                  </a:lnTo>
                  <a:lnTo>
                    <a:pt x="3437019" y="1149839"/>
                  </a:lnTo>
                  <a:lnTo>
                    <a:pt x="0" y="114983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BE"/>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91594" y="3752857"/>
            <a:ext cx="11504811" cy="2230672"/>
            <a:chOff x="0" y="0"/>
            <a:chExt cx="15339749" cy="2974229"/>
          </a:xfrm>
        </p:grpSpPr>
        <p:grpSp>
          <p:nvGrpSpPr>
            <p:cNvPr id="3" name="Group 3"/>
            <p:cNvGrpSpPr/>
            <p:nvPr/>
          </p:nvGrpSpPr>
          <p:grpSpPr>
            <a:xfrm>
              <a:off x="1090130" y="1125990"/>
              <a:ext cx="14249619" cy="1848240"/>
              <a:chOff x="0" y="0"/>
              <a:chExt cx="2814739" cy="365084"/>
            </a:xfrm>
          </p:grpSpPr>
          <p:sp>
            <p:nvSpPr>
              <p:cNvPr id="4" name="Freeform 4"/>
              <p:cNvSpPr/>
              <p:nvPr/>
            </p:nvSpPr>
            <p:spPr>
              <a:xfrm>
                <a:off x="0" y="0"/>
                <a:ext cx="2814739" cy="365084"/>
              </a:xfrm>
              <a:custGeom>
                <a:avLst/>
                <a:gdLst/>
                <a:ahLst/>
                <a:cxnLst/>
                <a:rect l="l" t="t" r="r" b="b"/>
                <a:pathLst>
                  <a:path w="2814739" h="365084">
                    <a:moveTo>
                      <a:pt x="36945" y="0"/>
                    </a:moveTo>
                    <a:lnTo>
                      <a:pt x="2777795" y="0"/>
                    </a:lnTo>
                    <a:cubicBezTo>
                      <a:pt x="2798199" y="0"/>
                      <a:pt x="2814739" y="16541"/>
                      <a:pt x="2814739" y="36945"/>
                    </a:cubicBezTo>
                    <a:lnTo>
                      <a:pt x="2814739" y="328139"/>
                    </a:lnTo>
                    <a:cubicBezTo>
                      <a:pt x="2814739" y="337938"/>
                      <a:pt x="2810847" y="347335"/>
                      <a:pt x="2803919" y="354263"/>
                    </a:cubicBezTo>
                    <a:cubicBezTo>
                      <a:pt x="2796990" y="361192"/>
                      <a:pt x="2787593" y="365084"/>
                      <a:pt x="2777795" y="365084"/>
                    </a:cubicBezTo>
                    <a:lnTo>
                      <a:pt x="36945" y="365084"/>
                    </a:lnTo>
                    <a:cubicBezTo>
                      <a:pt x="16541" y="365084"/>
                      <a:pt x="0" y="348544"/>
                      <a:pt x="0" y="328139"/>
                    </a:cubicBezTo>
                    <a:lnTo>
                      <a:pt x="0" y="36945"/>
                    </a:lnTo>
                    <a:cubicBezTo>
                      <a:pt x="0" y="27146"/>
                      <a:pt x="3892" y="17749"/>
                      <a:pt x="10821" y="10821"/>
                    </a:cubicBezTo>
                    <a:cubicBezTo>
                      <a:pt x="17749" y="3892"/>
                      <a:pt x="27146" y="0"/>
                      <a:pt x="36945" y="0"/>
                    </a:cubicBezTo>
                    <a:close/>
                  </a:path>
                </a:pathLst>
              </a:custGeom>
              <a:solidFill>
                <a:srgbClr val="EAF3FF"/>
              </a:solidFill>
              <a:ln w="38100" cap="rnd">
                <a:solidFill>
                  <a:srgbClr val="1E325C"/>
                </a:solidFill>
                <a:prstDash val="solid"/>
                <a:round/>
              </a:ln>
            </p:spPr>
            <p:txBody>
              <a:bodyPr/>
              <a:lstStyle/>
              <a:p>
                <a:endParaRPr lang="fr-BE"/>
              </a:p>
            </p:txBody>
          </p:sp>
          <p:sp>
            <p:nvSpPr>
              <p:cNvPr id="5" name="TextBox 5"/>
              <p:cNvSpPr txBox="1"/>
              <p:nvPr/>
            </p:nvSpPr>
            <p:spPr>
              <a:xfrm>
                <a:off x="0" y="-57150"/>
                <a:ext cx="2814739" cy="422234"/>
              </a:xfrm>
              <a:prstGeom prst="rect">
                <a:avLst/>
              </a:prstGeom>
            </p:spPr>
            <p:txBody>
              <a:bodyPr lIns="50800" tIns="50800" rIns="50800" bIns="50800" rtlCol="0" anchor="ctr"/>
              <a:lstStyle/>
              <a:p>
                <a:pPr algn="ctr">
                  <a:lnSpc>
                    <a:spcPts val="4480"/>
                  </a:lnSpc>
                  <a:spcBef>
                    <a:spcPct val="0"/>
                  </a:spcBef>
                </a:pPr>
                <a:r>
                  <a:rPr lang="en-US" sz="3200">
                    <a:solidFill>
                      <a:srgbClr val="000000"/>
                    </a:solidFill>
                    <a:latin typeface="Open Sans"/>
                    <a:ea typeface="Open Sans"/>
                    <a:cs typeface="Open Sans"/>
                    <a:sym typeface="Open Sans"/>
                  </a:rPr>
                  <a:t>Les impacts des systèmes d’IA sur la société et l’environnement doivent être considérés.</a:t>
                </a:r>
              </a:p>
            </p:txBody>
          </p:sp>
        </p:grpSp>
        <p:sp>
          <p:nvSpPr>
            <p:cNvPr id="6" name="Freeform 6"/>
            <p:cNvSpPr/>
            <p:nvPr/>
          </p:nvSpPr>
          <p:spPr>
            <a:xfrm rot="-863286">
              <a:off x="165476" y="165476"/>
              <a:ext cx="1524257" cy="1524257"/>
            </a:xfrm>
            <a:custGeom>
              <a:avLst/>
              <a:gdLst/>
              <a:ahLst/>
              <a:cxnLst/>
              <a:rect l="l" t="t" r="r" b="b"/>
              <a:pathLst>
                <a:path w="1524257" h="1524257">
                  <a:moveTo>
                    <a:pt x="0" y="0"/>
                  </a:moveTo>
                  <a:lnTo>
                    <a:pt x="1524257" y="0"/>
                  </a:lnTo>
                  <a:lnTo>
                    <a:pt x="1524257" y="1524257"/>
                  </a:lnTo>
                  <a:lnTo>
                    <a:pt x="0" y="15242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BE"/>
            </a:p>
          </p:txBody>
        </p:sp>
      </p:grpSp>
      <p:sp>
        <p:nvSpPr>
          <p:cNvPr id="7" name="TextBox 7"/>
          <p:cNvSpPr txBox="1"/>
          <p:nvPr/>
        </p:nvSpPr>
        <p:spPr>
          <a:xfrm>
            <a:off x="735956" y="659116"/>
            <a:ext cx="11480852"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Societal and environmental well-being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176325" y="5803044"/>
            <a:ext cx="4527479" cy="3589545"/>
          </a:xfrm>
          <a:custGeom>
            <a:avLst/>
            <a:gdLst/>
            <a:ahLst/>
            <a:cxnLst/>
            <a:rect l="l" t="t" r="r" b="b"/>
            <a:pathLst>
              <a:path w="4527479" h="3589545">
                <a:moveTo>
                  <a:pt x="0" y="0"/>
                </a:moveTo>
                <a:lnTo>
                  <a:pt x="4527479" y="0"/>
                </a:lnTo>
                <a:lnTo>
                  <a:pt x="4527479" y="3589545"/>
                </a:lnTo>
                <a:lnTo>
                  <a:pt x="0" y="3589545"/>
                </a:lnTo>
                <a:lnTo>
                  <a:pt x="0" y="0"/>
                </a:lnTo>
                <a:close/>
              </a:path>
            </a:pathLst>
          </a:custGeom>
          <a:blipFill>
            <a:blip r:embed="rId3"/>
            <a:stretch>
              <a:fillRect r="-28321" b="-7999"/>
            </a:stretch>
          </a:blipFill>
        </p:spPr>
        <p:txBody>
          <a:bodyPr/>
          <a:lstStyle/>
          <a:p>
            <a:endParaRPr lang="fr-BE"/>
          </a:p>
        </p:txBody>
      </p:sp>
      <p:sp>
        <p:nvSpPr>
          <p:cNvPr id="3" name="Freeform 3"/>
          <p:cNvSpPr/>
          <p:nvPr/>
        </p:nvSpPr>
        <p:spPr>
          <a:xfrm>
            <a:off x="4445905" y="3410654"/>
            <a:ext cx="4798671" cy="3197115"/>
          </a:xfrm>
          <a:custGeom>
            <a:avLst/>
            <a:gdLst/>
            <a:ahLst/>
            <a:cxnLst/>
            <a:rect l="l" t="t" r="r" b="b"/>
            <a:pathLst>
              <a:path w="4798671" h="3197115">
                <a:moveTo>
                  <a:pt x="0" y="0"/>
                </a:moveTo>
                <a:lnTo>
                  <a:pt x="4798671" y="0"/>
                </a:lnTo>
                <a:lnTo>
                  <a:pt x="4798671" y="3197114"/>
                </a:lnTo>
                <a:lnTo>
                  <a:pt x="0" y="3197114"/>
                </a:lnTo>
                <a:lnTo>
                  <a:pt x="0" y="0"/>
                </a:lnTo>
                <a:close/>
              </a:path>
            </a:pathLst>
          </a:custGeom>
          <a:blipFill>
            <a:blip r:embed="rId4"/>
            <a:stretch>
              <a:fillRect/>
            </a:stretch>
          </a:blipFill>
        </p:spPr>
        <p:txBody>
          <a:bodyPr/>
          <a:lstStyle/>
          <a:p>
            <a:endParaRPr lang="fr-BE"/>
          </a:p>
        </p:txBody>
      </p:sp>
      <p:sp>
        <p:nvSpPr>
          <p:cNvPr id="4" name="TextBox 4"/>
          <p:cNvSpPr txBox="1"/>
          <p:nvPr/>
        </p:nvSpPr>
        <p:spPr>
          <a:xfrm>
            <a:off x="735956" y="659116"/>
            <a:ext cx="16779706"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Societal and environmental well-being : Exemple de risque</a:t>
            </a:r>
          </a:p>
        </p:txBody>
      </p:sp>
      <p:sp>
        <p:nvSpPr>
          <p:cNvPr id="5" name="TextBox 5"/>
          <p:cNvSpPr txBox="1"/>
          <p:nvPr/>
        </p:nvSpPr>
        <p:spPr>
          <a:xfrm>
            <a:off x="1706043" y="2159149"/>
            <a:ext cx="15553257" cy="1115818"/>
          </a:xfrm>
          <a:prstGeom prst="rect">
            <a:avLst/>
          </a:prstGeom>
        </p:spPr>
        <p:txBody>
          <a:bodyPr lIns="0" tIns="0" rIns="0" bIns="0" rtlCol="0" anchor="t">
            <a:spAutoFit/>
          </a:bodyPr>
          <a:lstStyle/>
          <a:p>
            <a:pPr algn="l">
              <a:lnSpc>
                <a:spcPts val="4480"/>
              </a:lnSpc>
              <a:spcBef>
                <a:spcPct val="0"/>
              </a:spcBef>
            </a:pPr>
            <a:r>
              <a:rPr lang="en-US" sz="3200" dirty="0">
                <a:solidFill>
                  <a:srgbClr val="1E325C"/>
                </a:solidFill>
                <a:latin typeface="Open Sans"/>
                <a:ea typeface="Open Sans"/>
                <a:cs typeface="Open Sans"/>
                <a:sym typeface="Open Sans"/>
              </a:rPr>
              <a:t>Un data center de grande taille </a:t>
            </a:r>
            <a:r>
              <a:rPr lang="en-US" sz="3200" dirty="0" err="1">
                <a:solidFill>
                  <a:srgbClr val="1E325C"/>
                </a:solidFill>
                <a:latin typeface="Open Sans"/>
                <a:ea typeface="Open Sans"/>
                <a:cs typeface="Open Sans"/>
                <a:sym typeface="Open Sans"/>
              </a:rPr>
              <a:t>peut</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consommer</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autant</a:t>
            </a:r>
            <a:r>
              <a:rPr lang="en-US" sz="3200" dirty="0">
                <a:solidFill>
                  <a:srgbClr val="1E325C"/>
                </a:solidFill>
                <a:latin typeface="Open Sans"/>
                <a:ea typeface="Open Sans"/>
                <a:cs typeface="Open Sans"/>
                <a:sym typeface="Open Sans"/>
              </a:rPr>
              <a:t> d’eau </a:t>
            </a:r>
            <a:r>
              <a:rPr lang="en-US" sz="3200" dirty="0" err="1">
                <a:solidFill>
                  <a:srgbClr val="1E325C"/>
                </a:solidFill>
                <a:latin typeface="Open Sans"/>
                <a:ea typeface="Open Sans"/>
                <a:cs typeface="Open Sans"/>
                <a:sym typeface="Open Sans"/>
              </a:rPr>
              <a:t>qu’une</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ville</a:t>
            </a:r>
            <a:r>
              <a:rPr lang="en-US" sz="3200" dirty="0">
                <a:solidFill>
                  <a:srgbClr val="1E325C"/>
                </a:solidFill>
                <a:latin typeface="Open Sans"/>
                <a:ea typeface="Open Sans"/>
                <a:cs typeface="Open Sans"/>
                <a:sym typeface="Open Sans"/>
              </a:rPr>
              <a:t> de </a:t>
            </a:r>
          </a:p>
          <a:p>
            <a:pPr algn="l">
              <a:lnSpc>
                <a:spcPts val="4480"/>
              </a:lnSpc>
              <a:spcBef>
                <a:spcPct val="0"/>
              </a:spcBef>
            </a:pPr>
            <a:r>
              <a:rPr lang="en-US" sz="3200" dirty="0">
                <a:solidFill>
                  <a:srgbClr val="1E325C"/>
                </a:solidFill>
                <a:latin typeface="Open Sans"/>
                <a:ea typeface="Open Sans"/>
                <a:cs typeface="Open Sans"/>
                <a:sym typeface="Open Sans"/>
              </a:rPr>
              <a:t>10 000 à 50 000 habitants.</a:t>
            </a:r>
          </a:p>
        </p:txBody>
      </p:sp>
      <p:sp>
        <p:nvSpPr>
          <p:cNvPr id="6" name="TextBox 6"/>
          <p:cNvSpPr txBox="1"/>
          <p:nvPr/>
        </p:nvSpPr>
        <p:spPr>
          <a:xfrm>
            <a:off x="7563560" y="9516414"/>
            <a:ext cx="9695740" cy="297153"/>
          </a:xfrm>
          <a:prstGeom prst="rect">
            <a:avLst/>
          </a:prstGeom>
        </p:spPr>
        <p:txBody>
          <a:bodyPr lIns="0" tIns="0" rIns="0" bIns="0" rtlCol="0" anchor="t">
            <a:spAutoFit/>
          </a:bodyPr>
          <a:lstStyle/>
          <a:p>
            <a:pPr algn="r">
              <a:lnSpc>
                <a:spcPts val="2520"/>
              </a:lnSpc>
              <a:spcBef>
                <a:spcPct val="0"/>
              </a:spcBef>
            </a:pPr>
            <a:r>
              <a:rPr lang="en-US" sz="1800" b="1">
                <a:solidFill>
                  <a:srgbClr val="000000"/>
                </a:solidFill>
                <a:latin typeface="Open Sans Bold"/>
                <a:ea typeface="Open Sans Bold"/>
                <a:cs typeface="Open Sans Bold"/>
                <a:sym typeface="Open Sans Bold"/>
              </a:rPr>
              <a:t>Lien ref. : </a:t>
            </a:r>
            <a:r>
              <a:rPr lang="en-US" sz="1800">
                <a:solidFill>
                  <a:srgbClr val="000000"/>
                </a:solidFill>
                <a:latin typeface="Open Sans"/>
                <a:ea typeface="Open Sans"/>
                <a:cs typeface="Open Sans"/>
                <a:sym typeface="Open Sans"/>
              </a:rPr>
              <a:t> https://www.eesi.org/articles/view/data-centers-and-water-consumption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391594" y="3752857"/>
            <a:ext cx="11504811" cy="2781286"/>
            <a:chOff x="0" y="0"/>
            <a:chExt cx="15339749" cy="3708381"/>
          </a:xfrm>
        </p:grpSpPr>
        <p:grpSp>
          <p:nvGrpSpPr>
            <p:cNvPr id="3" name="Group 3"/>
            <p:cNvGrpSpPr/>
            <p:nvPr/>
          </p:nvGrpSpPr>
          <p:grpSpPr>
            <a:xfrm>
              <a:off x="1090130" y="1125990"/>
              <a:ext cx="14249619" cy="2582391"/>
              <a:chOff x="0" y="0"/>
              <a:chExt cx="2814739" cy="510102"/>
            </a:xfrm>
          </p:grpSpPr>
          <p:sp>
            <p:nvSpPr>
              <p:cNvPr id="4" name="Freeform 4"/>
              <p:cNvSpPr/>
              <p:nvPr/>
            </p:nvSpPr>
            <p:spPr>
              <a:xfrm>
                <a:off x="0" y="0"/>
                <a:ext cx="2814739" cy="510102"/>
              </a:xfrm>
              <a:custGeom>
                <a:avLst/>
                <a:gdLst/>
                <a:ahLst/>
                <a:cxnLst/>
                <a:rect l="l" t="t" r="r" b="b"/>
                <a:pathLst>
                  <a:path w="2814739" h="510102">
                    <a:moveTo>
                      <a:pt x="36945" y="0"/>
                    </a:moveTo>
                    <a:lnTo>
                      <a:pt x="2777795" y="0"/>
                    </a:lnTo>
                    <a:cubicBezTo>
                      <a:pt x="2798199" y="0"/>
                      <a:pt x="2814739" y="16541"/>
                      <a:pt x="2814739" y="36945"/>
                    </a:cubicBezTo>
                    <a:lnTo>
                      <a:pt x="2814739" y="473157"/>
                    </a:lnTo>
                    <a:cubicBezTo>
                      <a:pt x="2814739" y="482955"/>
                      <a:pt x="2810847" y="492353"/>
                      <a:pt x="2803919" y="499281"/>
                    </a:cubicBezTo>
                    <a:cubicBezTo>
                      <a:pt x="2796990" y="506210"/>
                      <a:pt x="2787593" y="510102"/>
                      <a:pt x="2777795" y="510102"/>
                    </a:cubicBezTo>
                    <a:lnTo>
                      <a:pt x="36945" y="510102"/>
                    </a:lnTo>
                    <a:cubicBezTo>
                      <a:pt x="27146" y="510102"/>
                      <a:pt x="17749" y="506210"/>
                      <a:pt x="10821" y="499281"/>
                    </a:cubicBezTo>
                    <a:cubicBezTo>
                      <a:pt x="3892" y="492353"/>
                      <a:pt x="0" y="482955"/>
                      <a:pt x="0" y="473157"/>
                    </a:cubicBezTo>
                    <a:lnTo>
                      <a:pt x="0" y="36945"/>
                    </a:lnTo>
                    <a:cubicBezTo>
                      <a:pt x="0" y="27146"/>
                      <a:pt x="3892" y="17749"/>
                      <a:pt x="10821" y="10821"/>
                    </a:cubicBezTo>
                    <a:cubicBezTo>
                      <a:pt x="17749" y="3892"/>
                      <a:pt x="27146" y="0"/>
                      <a:pt x="36945" y="0"/>
                    </a:cubicBezTo>
                    <a:close/>
                  </a:path>
                </a:pathLst>
              </a:custGeom>
              <a:solidFill>
                <a:srgbClr val="EAF3FF"/>
              </a:solidFill>
              <a:ln w="38100" cap="rnd">
                <a:solidFill>
                  <a:srgbClr val="1E325C"/>
                </a:solidFill>
                <a:prstDash val="solid"/>
                <a:round/>
              </a:ln>
            </p:spPr>
            <p:txBody>
              <a:bodyPr/>
              <a:lstStyle/>
              <a:p>
                <a:endParaRPr lang="fr-BE"/>
              </a:p>
            </p:txBody>
          </p:sp>
          <p:sp>
            <p:nvSpPr>
              <p:cNvPr id="5" name="TextBox 5"/>
              <p:cNvSpPr txBox="1"/>
              <p:nvPr/>
            </p:nvSpPr>
            <p:spPr>
              <a:xfrm>
                <a:off x="0" y="-57150"/>
                <a:ext cx="2814739" cy="567252"/>
              </a:xfrm>
              <a:prstGeom prst="rect">
                <a:avLst/>
              </a:prstGeom>
            </p:spPr>
            <p:txBody>
              <a:bodyPr lIns="50800" tIns="50800" rIns="50800" bIns="50800" rtlCol="0" anchor="ctr"/>
              <a:lstStyle/>
              <a:p>
                <a:pPr algn="ctr">
                  <a:lnSpc>
                    <a:spcPts val="4480"/>
                  </a:lnSpc>
                  <a:spcBef>
                    <a:spcPct val="0"/>
                  </a:spcBef>
                </a:pPr>
                <a:r>
                  <a:rPr lang="en-US" sz="3200" dirty="0">
                    <a:solidFill>
                      <a:srgbClr val="000000"/>
                    </a:solidFill>
                    <a:latin typeface="Open Sans"/>
                    <a:ea typeface="Open Sans"/>
                    <a:cs typeface="Open Sans"/>
                    <a:sym typeface="Open Sans"/>
                  </a:rPr>
                  <a:t>Les </a:t>
                </a:r>
                <a:r>
                  <a:rPr lang="en-US" sz="3200" dirty="0" err="1">
                    <a:solidFill>
                      <a:srgbClr val="000000"/>
                    </a:solidFill>
                    <a:latin typeface="Open Sans"/>
                    <a:ea typeface="Open Sans"/>
                    <a:cs typeface="Open Sans"/>
                    <a:sym typeface="Open Sans"/>
                  </a:rPr>
                  <a:t>responsabilités</a:t>
                </a:r>
                <a:r>
                  <a:rPr lang="en-US" sz="3200" dirty="0">
                    <a:solidFill>
                      <a:srgbClr val="000000"/>
                    </a:solidFill>
                    <a:latin typeface="Open Sans"/>
                    <a:ea typeface="Open Sans"/>
                    <a:cs typeface="Open Sans"/>
                    <a:sym typeface="Open Sans"/>
                  </a:rPr>
                  <a:t> </a:t>
                </a:r>
                <a:r>
                  <a:rPr lang="en-US" sz="3200" dirty="0" err="1">
                    <a:solidFill>
                      <a:srgbClr val="000000"/>
                    </a:solidFill>
                    <a:latin typeface="Open Sans"/>
                    <a:ea typeface="Open Sans"/>
                    <a:cs typeface="Open Sans"/>
                    <a:sym typeface="Open Sans"/>
                  </a:rPr>
                  <a:t>en</a:t>
                </a:r>
                <a:r>
                  <a:rPr lang="en-US" sz="3200" dirty="0">
                    <a:solidFill>
                      <a:srgbClr val="000000"/>
                    </a:solidFill>
                    <a:latin typeface="Open Sans"/>
                    <a:ea typeface="Open Sans"/>
                    <a:cs typeface="Open Sans"/>
                    <a:sym typeface="Open Sans"/>
                  </a:rPr>
                  <a:t> matière de </a:t>
                </a:r>
                <a:r>
                  <a:rPr lang="en-US" sz="3200" dirty="0" err="1">
                    <a:solidFill>
                      <a:srgbClr val="000000"/>
                    </a:solidFill>
                    <a:latin typeface="Open Sans"/>
                    <a:ea typeface="Open Sans"/>
                    <a:cs typeface="Open Sans"/>
                    <a:sym typeface="Open Sans"/>
                  </a:rPr>
                  <a:t>développement</a:t>
                </a:r>
                <a:r>
                  <a:rPr lang="en-US" sz="3200" dirty="0">
                    <a:solidFill>
                      <a:srgbClr val="000000"/>
                    </a:solidFill>
                    <a:latin typeface="Open Sans"/>
                    <a:ea typeface="Open Sans"/>
                    <a:cs typeface="Open Sans"/>
                    <a:sym typeface="Open Sans"/>
                  </a:rPr>
                  <a:t>, </a:t>
                </a:r>
              </a:p>
              <a:p>
                <a:pPr algn="ctr">
                  <a:lnSpc>
                    <a:spcPts val="4480"/>
                  </a:lnSpc>
                  <a:spcBef>
                    <a:spcPct val="0"/>
                  </a:spcBef>
                </a:pPr>
                <a:r>
                  <a:rPr lang="en-US" sz="3200" dirty="0">
                    <a:solidFill>
                      <a:srgbClr val="000000"/>
                    </a:solidFill>
                    <a:latin typeface="Open Sans"/>
                    <a:ea typeface="Open Sans"/>
                    <a:cs typeface="Open Sans"/>
                    <a:sym typeface="Open Sans"/>
                  </a:rPr>
                  <a:t>de </a:t>
                </a:r>
                <a:r>
                  <a:rPr lang="en-US" sz="3200" dirty="0" err="1">
                    <a:solidFill>
                      <a:srgbClr val="000000"/>
                    </a:solidFill>
                    <a:latin typeface="Open Sans"/>
                    <a:ea typeface="Open Sans"/>
                    <a:cs typeface="Open Sans"/>
                    <a:sym typeface="Open Sans"/>
                  </a:rPr>
                  <a:t>déploiement</a:t>
                </a:r>
                <a:r>
                  <a:rPr lang="en-US" sz="3200" dirty="0">
                    <a:solidFill>
                      <a:srgbClr val="000000"/>
                    </a:solidFill>
                    <a:latin typeface="Open Sans"/>
                    <a:ea typeface="Open Sans"/>
                    <a:cs typeface="Open Sans"/>
                    <a:sym typeface="Open Sans"/>
                  </a:rPr>
                  <a:t> et </a:t>
                </a:r>
                <a:r>
                  <a:rPr lang="en-US" sz="3200" dirty="0" err="1">
                    <a:solidFill>
                      <a:srgbClr val="000000"/>
                    </a:solidFill>
                    <a:latin typeface="Open Sans"/>
                    <a:ea typeface="Open Sans"/>
                    <a:cs typeface="Open Sans"/>
                    <a:sym typeface="Open Sans"/>
                  </a:rPr>
                  <a:t>d'utilisation</a:t>
                </a:r>
                <a:r>
                  <a:rPr lang="en-US" sz="3200" dirty="0">
                    <a:solidFill>
                      <a:srgbClr val="000000"/>
                    </a:solidFill>
                    <a:latin typeface="Open Sans"/>
                    <a:ea typeface="Open Sans"/>
                    <a:cs typeface="Open Sans"/>
                    <a:sym typeface="Open Sans"/>
                  </a:rPr>
                  <a:t> des </a:t>
                </a:r>
                <a:r>
                  <a:rPr lang="en-US" sz="3200" dirty="0" err="1">
                    <a:solidFill>
                      <a:srgbClr val="000000"/>
                    </a:solidFill>
                    <a:latin typeface="Open Sans"/>
                    <a:ea typeface="Open Sans"/>
                    <a:cs typeface="Open Sans"/>
                    <a:sym typeface="Open Sans"/>
                  </a:rPr>
                  <a:t>systèmes</a:t>
                </a:r>
                <a:r>
                  <a:rPr lang="en-US" sz="3200" dirty="0">
                    <a:solidFill>
                      <a:srgbClr val="000000"/>
                    </a:solidFill>
                    <a:latin typeface="Open Sans"/>
                    <a:ea typeface="Open Sans"/>
                    <a:cs typeface="Open Sans"/>
                    <a:sym typeface="Open Sans"/>
                  </a:rPr>
                  <a:t> </a:t>
                </a:r>
                <a:r>
                  <a:rPr lang="en-US" sz="3200" dirty="0" err="1">
                    <a:solidFill>
                      <a:srgbClr val="000000"/>
                    </a:solidFill>
                    <a:latin typeface="Open Sans"/>
                    <a:ea typeface="Open Sans"/>
                    <a:cs typeface="Open Sans"/>
                    <a:sym typeface="Open Sans"/>
                  </a:rPr>
                  <a:t>d'IA</a:t>
                </a:r>
                <a:r>
                  <a:rPr lang="en-US" sz="3200" dirty="0">
                    <a:solidFill>
                      <a:srgbClr val="000000"/>
                    </a:solidFill>
                    <a:latin typeface="Open Sans"/>
                    <a:ea typeface="Open Sans"/>
                    <a:cs typeface="Open Sans"/>
                    <a:sym typeface="Open Sans"/>
                  </a:rPr>
                  <a:t> </a:t>
                </a:r>
                <a:r>
                  <a:rPr lang="en-US" sz="3200" dirty="0" err="1">
                    <a:solidFill>
                      <a:srgbClr val="000000"/>
                    </a:solidFill>
                    <a:latin typeface="Open Sans"/>
                    <a:ea typeface="Open Sans"/>
                    <a:cs typeface="Open Sans"/>
                    <a:sym typeface="Open Sans"/>
                  </a:rPr>
                  <a:t>doivent</a:t>
                </a:r>
                <a:r>
                  <a:rPr lang="en-US" sz="3200" dirty="0">
                    <a:solidFill>
                      <a:srgbClr val="000000"/>
                    </a:solidFill>
                    <a:latin typeface="Open Sans"/>
                    <a:ea typeface="Open Sans"/>
                    <a:cs typeface="Open Sans"/>
                    <a:sym typeface="Open Sans"/>
                  </a:rPr>
                  <a:t> </a:t>
                </a:r>
                <a:r>
                  <a:rPr lang="en-US" sz="3200" dirty="0" err="1">
                    <a:solidFill>
                      <a:srgbClr val="000000"/>
                    </a:solidFill>
                    <a:latin typeface="Open Sans"/>
                    <a:ea typeface="Open Sans"/>
                    <a:cs typeface="Open Sans"/>
                    <a:sym typeface="Open Sans"/>
                  </a:rPr>
                  <a:t>être</a:t>
                </a:r>
                <a:r>
                  <a:rPr lang="en-US" sz="3200" dirty="0">
                    <a:solidFill>
                      <a:srgbClr val="000000"/>
                    </a:solidFill>
                    <a:latin typeface="Open Sans"/>
                    <a:ea typeface="Open Sans"/>
                    <a:cs typeface="Open Sans"/>
                    <a:sym typeface="Open Sans"/>
                  </a:rPr>
                  <a:t> </a:t>
                </a:r>
                <a:r>
                  <a:rPr lang="en-US" sz="3200" dirty="0" err="1">
                    <a:solidFill>
                      <a:srgbClr val="000000"/>
                    </a:solidFill>
                    <a:latin typeface="Open Sans"/>
                    <a:ea typeface="Open Sans"/>
                    <a:cs typeface="Open Sans"/>
                    <a:sym typeface="Open Sans"/>
                  </a:rPr>
                  <a:t>clairement</a:t>
                </a:r>
                <a:r>
                  <a:rPr lang="en-US" sz="3200" dirty="0">
                    <a:solidFill>
                      <a:srgbClr val="000000"/>
                    </a:solidFill>
                    <a:latin typeface="Open Sans"/>
                    <a:ea typeface="Open Sans"/>
                    <a:cs typeface="Open Sans"/>
                    <a:sym typeface="Open Sans"/>
                  </a:rPr>
                  <a:t> </a:t>
                </a:r>
                <a:r>
                  <a:rPr lang="en-US" sz="3200" dirty="0" err="1">
                    <a:solidFill>
                      <a:srgbClr val="000000"/>
                    </a:solidFill>
                    <a:latin typeface="Open Sans"/>
                    <a:ea typeface="Open Sans"/>
                    <a:cs typeface="Open Sans"/>
                    <a:sym typeface="Open Sans"/>
                  </a:rPr>
                  <a:t>attribuées</a:t>
                </a:r>
                <a:r>
                  <a:rPr lang="en-US" sz="3200" dirty="0">
                    <a:solidFill>
                      <a:srgbClr val="000000"/>
                    </a:solidFill>
                    <a:latin typeface="Open Sans"/>
                    <a:ea typeface="Open Sans"/>
                    <a:cs typeface="Open Sans"/>
                    <a:sym typeface="Open Sans"/>
                  </a:rPr>
                  <a:t>.</a:t>
                </a:r>
              </a:p>
            </p:txBody>
          </p:sp>
        </p:grpSp>
        <p:sp>
          <p:nvSpPr>
            <p:cNvPr id="6" name="Freeform 6"/>
            <p:cNvSpPr/>
            <p:nvPr/>
          </p:nvSpPr>
          <p:spPr>
            <a:xfrm rot="-863286">
              <a:off x="165476" y="165476"/>
              <a:ext cx="1524257" cy="1524257"/>
            </a:xfrm>
            <a:custGeom>
              <a:avLst/>
              <a:gdLst/>
              <a:ahLst/>
              <a:cxnLst/>
              <a:rect l="l" t="t" r="r" b="b"/>
              <a:pathLst>
                <a:path w="1524257" h="1524257">
                  <a:moveTo>
                    <a:pt x="0" y="0"/>
                  </a:moveTo>
                  <a:lnTo>
                    <a:pt x="1524257" y="0"/>
                  </a:lnTo>
                  <a:lnTo>
                    <a:pt x="1524257" y="1524257"/>
                  </a:lnTo>
                  <a:lnTo>
                    <a:pt x="0" y="152425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BE"/>
            </a:p>
          </p:txBody>
        </p:sp>
      </p:grpSp>
      <p:sp>
        <p:nvSpPr>
          <p:cNvPr id="7" name="TextBox 7"/>
          <p:cNvSpPr txBox="1"/>
          <p:nvPr/>
        </p:nvSpPr>
        <p:spPr>
          <a:xfrm>
            <a:off x="735956" y="659116"/>
            <a:ext cx="11480852"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Accountability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139656" y="3772680"/>
            <a:ext cx="4008689" cy="4972017"/>
          </a:xfrm>
          <a:custGeom>
            <a:avLst/>
            <a:gdLst/>
            <a:ahLst/>
            <a:cxnLst/>
            <a:rect l="l" t="t" r="r" b="b"/>
            <a:pathLst>
              <a:path w="4008689" h="4972017">
                <a:moveTo>
                  <a:pt x="0" y="0"/>
                </a:moveTo>
                <a:lnTo>
                  <a:pt x="4008688" y="0"/>
                </a:lnTo>
                <a:lnTo>
                  <a:pt x="4008688" y="4972017"/>
                </a:lnTo>
                <a:lnTo>
                  <a:pt x="0" y="4972017"/>
                </a:lnTo>
                <a:lnTo>
                  <a:pt x="0" y="0"/>
                </a:lnTo>
                <a:close/>
              </a:path>
            </a:pathLst>
          </a:custGeom>
          <a:blipFill>
            <a:blip r:embed="rId3"/>
            <a:stretch>
              <a:fillRect/>
            </a:stretch>
          </a:blipFill>
        </p:spPr>
        <p:txBody>
          <a:bodyPr/>
          <a:lstStyle/>
          <a:p>
            <a:endParaRPr lang="fr-BE"/>
          </a:p>
        </p:txBody>
      </p:sp>
      <p:sp>
        <p:nvSpPr>
          <p:cNvPr id="3" name="TextBox 3"/>
          <p:cNvSpPr txBox="1"/>
          <p:nvPr/>
        </p:nvSpPr>
        <p:spPr>
          <a:xfrm>
            <a:off x="735956" y="659116"/>
            <a:ext cx="16779706"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Accountability : Exemple de risque</a:t>
            </a:r>
          </a:p>
        </p:txBody>
      </p:sp>
      <p:sp>
        <p:nvSpPr>
          <p:cNvPr id="4" name="TextBox 4"/>
          <p:cNvSpPr txBox="1"/>
          <p:nvPr/>
        </p:nvSpPr>
        <p:spPr>
          <a:xfrm>
            <a:off x="1706043" y="2159149"/>
            <a:ext cx="15553257" cy="1099928"/>
          </a:xfrm>
          <a:prstGeom prst="rect">
            <a:avLst/>
          </a:prstGeom>
        </p:spPr>
        <p:txBody>
          <a:bodyPr lIns="0" tIns="0" rIns="0" bIns="0" rtlCol="0" anchor="t">
            <a:spAutoFit/>
          </a:bodyPr>
          <a:lstStyle/>
          <a:p>
            <a:pPr algn="l">
              <a:lnSpc>
                <a:spcPts val="4480"/>
              </a:lnSpc>
              <a:spcBef>
                <a:spcPct val="0"/>
              </a:spcBef>
            </a:pPr>
            <a:r>
              <a:rPr lang="en-US" sz="3200" dirty="0" err="1">
                <a:solidFill>
                  <a:srgbClr val="1E325C"/>
                </a:solidFill>
                <a:latin typeface="Open Sans"/>
                <a:ea typeface="Open Sans"/>
                <a:cs typeface="Open Sans"/>
                <a:sym typeface="Open Sans"/>
              </a:rPr>
              <a:t>L’usage</a:t>
            </a:r>
            <a:r>
              <a:rPr lang="en-US" sz="3200" dirty="0">
                <a:solidFill>
                  <a:srgbClr val="1E325C"/>
                </a:solidFill>
                <a:latin typeface="Open Sans"/>
                <a:ea typeface="Open Sans"/>
                <a:cs typeface="Open Sans"/>
                <a:sym typeface="Open Sans"/>
              </a:rPr>
              <a:t> de </a:t>
            </a:r>
            <a:r>
              <a:rPr lang="en-US" sz="3200" dirty="0" err="1">
                <a:solidFill>
                  <a:srgbClr val="1E325C"/>
                </a:solidFill>
                <a:latin typeface="Open Sans"/>
                <a:ea typeface="Open Sans"/>
                <a:cs typeface="Open Sans"/>
                <a:sym typeface="Open Sans"/>
              </a:rPr>
              <a:t>l’IA</a:t>
            </a:r>
            <a:r>
              <a:rPr lang="en-US" sz="3200" dirty="0">
                <a:solidFill>
                  <a:srgbClr val="1E325C"/>
                </a:solidFill>
                <a:latin typeface="Open Sans"/>
                <a:ea typeface="Open Sans"/>
                <a:cs typeface="Open Sans"/>
                <a:sym typeface="Open Sans"/>
              </a:rPr>
              <a:t> pour identifier des </a:t>
            </a:r>
            <a:r>
              <a:rPr lang="en-US" sz="3200" dirty="0" err="1">
                <a:solidFill>
                  <a:srgbClr val="1E325C"/>
                </a:solidFill>
                <a:latin typeface="Open Sans"/>
                <a:ea typeface="Open Sans"/>
                <a:cs typeface="Open Sans"/>
                <a:sym typeface="Open Sans"/>
              </a:rPr>
              <a:t>cibles</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militaires</a:t>
            </a:r>
            <a:r>
              <a:rPr lang="en-US" sz="3200" dirty="0">
                <a:solidFill>
                  <a:srgbClr val="1E325C"/>
                </a:solidFill>
                <a:latin typeface="Open Sans"/>
                <a:ea typeface="Open Sans"/>
                <a:cs typeface="Open Sans"/>
                <a:sym typeface="Open Sans"/>
              </a:rPr>
              <a:t> pose </a:t>
            </a:r>
            <a:r>
              <a:rPr lang="en-US" sz="3200" dirty="0" err="1">
                <a:solidFill>
                  <a:srgbClr val="1E325C"/>
                </a:solidFill>
                <a:latin typeface="Open Sans"/>
                <a:ea typeface="Open Sans"/>
                <a:cs typeface="Open Sans"/>
                <a:sym typeface="Open Sans"/>
              </a:rPr>
              <a:t>une</a:t>
            </a:r>
            <a:r>
              <a:rPr lang="en-US" sz="3200" dirty="0">
                <a:solidFill>
                  <a:srgbClr val="1E325C"/>
                </a:solidFill>
                <a:latin typeface="Open Sans"/>
                <a:ea typeface="Open Sans"/>
                <a:cs typeface="Open Sans"/>
                <a:sym typeface="Open Sans"/>
              </a:rPr>
              <a:t> question </a:t>
            </a:r>
            <a:r>
              <a:rPr lang="en-US" sz="3200" dirty="0" err="1">
                <a:solidFill>
                  <a:srgbClr val="1E325C"/>
                </a:solidFill>
                <a:latin typeface="Open Sans"/>
                <a:ea typeface="Open Sans"/>
                <a:cs typeface="Open Sans"/>
                <a:sym typeface="Open Sans"/>
              </a:rPr>
              <a:t>clé</a:t>
            </a:r>
            <a:r>
              <a:rPr lang="en-US" sz="3200" dirty="0">
                <a:solidFill>
                  <a:srgbClr val="1E325C"/>
                </a:solidFill>
                <a:latin typeface="Open Sans"/>
                <a:ea typeface="Open Sans"/>
                <a:cs typeface="Open Sans"/>
                <a:sym typeface="Open Sans"/>
              </a:rPr>
              <a:t> : qui est </a:t>
            </a:r>
            <a:r>
              <a:rPr lang="en-US" sz="3200" dirty="0" err="1">
                <a:solidFill>
                  <a:srgbClr val="1E325C"/>
                </a:solidFill>
                <a:latin typeface="Open Sans"/>
                <a:ea typeface="Open Sans"/>
                <a:cs typeface="Open Sans"/>
                <a:sym typeface="Open Sans"/>
              </a:rPr>
              <a:t>responsable</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lorsqu’une</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décision</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assistée</a:t>
            </a:r>
            <a:r>
              <a:rPr lang="en-US" sz="3200" dirty="0">
                <a:solidFill>
                  <a:srgbClr val="1E325C"/>
                </a:solidFill>
                <a:latin typeface="Open Sans"/>
                <a:ea typeface="Open Sans"/>
                <a:cs typeface="Open Sans"/>
                <a:sym typeface="Open Sans"/>
              </a:rPr>
              <a:t> par IA cause des </a:t>
            </a:r>
            <a:r>
              <a:rPr lang="en-US" sz="3200" dirty="0" err="1">
                <a:solidFill>
                  <a:srgbClr val="1E325C"/>
                </a:solidFill>
                <a:latin typeface="Open Sans"/>
                <a:ea typeface="Open Sans"/>
                <a:cs typeface="Open Sans"/>
                <a:sym typeface="Open Sans"/>
              </a:rPr>
              <a:t>pertes</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civiles</a:t>
            </a:r>
            <a:r>
              <a:rPr lang="en-US" sz="3200" dirty="0">
                <a:solidFill>
                  <a:srgbClr val="1E325C"/>
                </a:solidFill>
                <a:latin typeface="Open Sans"/>
                <a:ea typeface="Open Sans"/>
                <a:cs typeface="Open Sans"/>
                <a:sym typeface="Open Sans"/>
              </a:rPr>
              <a:t> ?</a:t>
            </a:r>
          </a:p>
        </p:txBody>
      </p:sp>
      <p:sp>
        <p:nvSpPr>
          <p:cNvPr id="5" name="TextBox 5"/>
          <p:cNvSpPr txBox="1"/>
          <p:nvPr/>
        </p:nvSpPr>
        <p:spPr>
          <a:xfrm>
            <a:off x="7563560" y="9229725"/>
            <a:ext cx="9695740" cy="611451"/>
          </a:xfrm>
          <a:prstGeom prst="rect">
            <a:avLst/>
          </a:prstGeom>
        </p:spPr>
        <p:txBody>
          <a:bodyPr lIns="0" tIns="0" rIns="0" bIns="0" rtlCol="0" anchor="t">
            <a:spAutoFit/>
          </a:bodyPr>
          <a:lstStyle/>
          <a:p>
            <a:pPr algn="r">
              <a:lnSpc>
                <a:spcPts val="2520"/>
              </a:lnSpc>
              <a:spcBef>
                <a:spcPct val="0"/>
              </a:spcBef>
            </a:pPr>
            <a:r>
              <a:rPr lang="en-US" sz="1800" b="1">
                <a:solidFill>
                  <a:srgbClr val="000000"/>
                </a:solidFill>
                <a:latin typeface="Open Sans Bold"/>
                <a:ea typeface="Open Sans Bold"/>
                <a:cs typeface="Open Sans Bold"/>
                <a:sym typeface="Open Sans Bold"/>
              </a:rPr>
              <a:t>Lien ref. : </a:t>
            </a:r>
            <a:r>
              <a:rPr lang="en-US" sz="1800">
                <a:solidFill>
                  <a:srgbClr val="000000"/>
                </a:solidFill>
                <a:latin typeface="Open Sans"/>
                <a:ea typeface="Open Sans"/>
                <a:cs typeface="Open Sans"/>
                <a:sym typeface="Open Sans"/>
              </a:rPr>
              <a:t> https://www.hrw.org/report/2025/04/28/a-hazard-to-human-rights/autonomous-weapons-systems-and-digital-decision-making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325C"/>
        </a:solidFill>
        <a:effectLst/>
      </p:bgPr>
    </p:bg>
    <p:spTree>
      <p:nvGrpSpPr>
        <p:cNvPr id="1" name=""/>
        <p:cNvGrpSpPr/>
        <p:nvPr/>
      </p:nvGrpSpPr>
      <p:grpSpPr>
        <a:xfrm>
          <a:off x="0" y="0"/>
          <a:ext cx="0" cy="0"/>
          <a:chOff x="0" y="0"/>
          <a:chExt cx="0" cy="0"/>
        </a:xfrm>
      </p:grpSpPr>
      <p:sp>
        <p:nvSpPr>
          <p:cNvPr id="2" name="TextBox 2"/>
          <p:cNvSpPr txBox="1"/>
          <p:nvPr/>
        </p:nvSpPr>
        <p:spPr>
          <a:xfrm>
            <a:off x="5331961" y="4486937"/>
            <a:ext cx="7624078" cy="1170251"/>
          </a:xfrm>
          <a:prstGeom prst="rect">
            <a:avLst/>
          </a:prstGeom>
        </p:spPr>
        <p:txBody>
          <a:bodyPr lIns="0" tIns="0" rIns="0" bIns="0" rtlCol="0" anchor="t">
            <a:spAutoFit/>
          </a:bodyPr>
          <a:lstStyle/>
          <a:p>
            <a:pPr algn="ctr">
              <a:lnSpc>
                <a:spcPts val="9520"/>
              </a:lnSpc>
              <a:spcBef>
                <a:spcPct val="0"/>
              </a:spcBef>
            </a:pPr>
            <a:r>
              <a:rPr lang="en-US" sz="6800" b="1">
                <a:solidFill>
                  <a:srgbClr val="FFFFFF"/>
                </a:solidFill>
                <a:latin typeface="Open Sans Bold"/>
                <a:ea typeface="Open Sans Bold"/>
                <a:cs typeface="Open Sans Bold"/>
                <a:sym typeface="Open Sans Bold"/>
              </a:rPr>
              <a:t>AI Act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16523344" cy="762054"/>
          </a:xfrm>
          <a:prstGeom prst="rect">
            <a:avLst/>
          </a:prstGeom>
        </p:spPr>
        <p:txBody>
          <a:bodyPr lIns="0" tIns="0" rIns="0" bIns="0" rtlCol="0" anchor="t">
            <a:spAutoFit/>
          </a:bodyPr>
          <a:lstStyle/>
          <a:p>
            <a:pPr algn="l">
              <a:lnSpc>
                <a:spcPts val="6299"/>
              </a:lnSpc>
              <a:spcBef>
                <a:spcPct val="0"/>
              </a:spcBef>
            </a:pPr>
            <a:r>
              <a:rPr lang="en-US" sz="4500" dirty="0">
                <a:solidFill>
                  <a:srgbClr val="000000"/>
                </a:solidFill>
                <a:latin typeface="Open Sans"/>
                <a:ea typeface="Open Sans"/>
                <a:cs typeface="Open Sans"/>
                <a:sym typeface="Open Sans"/>
              </a:rPr>
              <a:t>AI Act : Première </a:t>
            </a:r>
            <a:r>
              <a:rPr lang="en-US" sz="4500" dirty="0" err="1">
                <a:solidFill>
                  <a:srgbClr val="000000"/>
                </a:solidFill>
                <a:latin typeface="Open Sans"/>
                <a:ea typeface="Open Sans"/>
                <a:cs typeface="Open Sans"/>
                <a:sym typeface="Open Sans"/>
              </a:rPr>
              <a:t>législation</a:t>
            </a:r>
            <a:r>
              <a:rPr lang="en-US" sz="4500" dirty="0">
                <a:solidFill>
                  <a:srgbClr val="000000"/>
                </a:solidFill>
                <a:latin typeface="Open Sans"/>
                <a:ea typeface="Open Sans"/>
                <a:cs typeface="Open Sans"/>
                <a:sym typeface="Open Sans"/>
              </a:rPr>
              <a:t> </a:t>
            </a:r>
            <a:r>
              <a:rPr lang="en-US" sz="4500" dirty="0" err="1">
                <a:solidFill>
                  <a:srgbClr val="000000"/>
                </a:solidFill>
                <a:latin typeface="Open Sans"/>
                <a:ea typeface="Open Sans"/>
                <a:cs typeface="Open Sans"/>
                <a:sym typeface="Open Sans"/>
              </a:rPr>
              <a:t>générale</a:t>
            </a:r>
            <a:r>
              <a:rPr lang="en-US" sz="4500" dirty="0">
                <a:solidFill>
                  <a:srgbClr val="000000"/>
                </a:solidFill>
                <a:latin typeface="Open Sans"/>
                <a:ea typeface="Open Sans"/>
                <a:cs typeface="Open Sans"/>
                <a:sym typeface="Open Sans"/>
              </a:rPr>
              <a:t> sur </a:t>
            </a:r>
            <a:r>
              <a:rPr lang="en-US" sz="4500" dirty="0" err="1">
                <a:solidFill>
                  <a:srgbClr val="000000"/>
                </a:solidFill>
                <a:latin typeface="Open Sans"/>
                <a:ea typeface="Open Sans"/>
                <a:cs typeface="Open Sans"/>
                <a:sym typeface="Open Sans"/>
              </a:rPr>
              <a:t>l’IA</a:t>
            </a:r>
            <a:endParaRPr lang="en-US" sz="4500" dirty="0">
              <a:solidFill>
                <a:srgbClr val="000000"/>
              </a:solidFill>
              <a:latin typeface="Open Sans"/>
              <a:ea typeface="Open Sans"/>
              <a:cs typeface="Open Sans"/>
              <a:sym typeface="Open Sans"/>
            </a:endParaRPr>
          </a:p>
        </p:txBody>
      </p:sp>
      <p:sp>
        <p:nvSpPr>
          <p:cNvPr id="3" name="Freeform 3"/>
          <p:cNvSpPr/>
          <p:nvPr/>
        </p:nvSpPr>
        <p:spPr>
          <a:xfrm>
            <a:off x="2020666" y="2518388"/>
            <a:ext cx="1102739" cy="1192150"/>
          </a:xfrm>
          <a:custGeom>
            <a:avLst/>
            <a:gdLst/>
            <a:ahLst/>
            <a:cxnLst/>
            <a:rect l="l" t="t" r="r" b="b"/>
            <a:pathLst>
              <a:path w="1102739" h="1192150">
                <a:moveTo>
                  <a:pt x="0" y="0"/>
                </a:moveTo>
                <a:lnTo>
                  <a:pt x="1102739" y="0"/>
                </a:lnTo>
                <a:lnTo>
                  <a:pt x="1102739" y="1192150"/>
                </a:lnTo>
                <a:lnTo>
                  <a:pt x="0" y="1192150"/>
                </a:lnTo>
                <a:lnTo>
                  <a:pt x="0" y="0"/>
                </a:lnTo>
                <a:close/>
              </a:path>
            </a:pathLst>
          </a:custGeom>
          <a:blipFill>
            <a:blip r:embed="rId3"/>
            <a:stretch>
              <a:fillRect/>
            </a:stretch>
          </a:blipFill>
        </p:spPr>
        <p:txBody>
          <a:bodyPr/>
          <a:lstStyle/>
          <a:p>
            <a:endParaRPr lang="fr-BE"/>
          </a:p>
        </p:txBody>
      </p:sp>
      <p:sp>
        <p:nvSpPr>
          <p:cNvPr id="4" name="TextBox 4"/>
          <p:cNvSpPr txBox="1"/>
          <p:nvPr/>
        </p:nvSpPr>
        <p:spPr>
          <a:xfrm>
            <a:off x="3841924" y="2807413"/>
            <a:ext cx="13417376" cy="1251639"/>
          </a:xfrm>
          <a:prstGeom prst="rect">
            <a:avLst/>
          </a:prstGeom>
        </p:spPr>
        <p:txBody>
          <a:bodyPr lIns="0" tIns="0" rIns="0" bIns="0" rtlCol="0" anchor="t">
            <a:spAutoFit/>
          </a:bodyPr>
          <a:lstStyle/>
          <a:p>
            <a:pPr algn="l">
              <a:lnSpc>
                <a:spcPts val="5039"/>
              </a:lnSpc>
              <a:spcBef>
                <a:spcPct val="0"/>
              </a:spcBef>
            </a:pPr>
            <a:r>
              <a:rPr lang="en-US" sz="3599">
                <a:solidFill>
                  <a:srgbClr val="1E325C"/>
                </a:solidFill>
                <a:latin typeface="Open Sans"/>
                <a:ea typeface="Open Sans"/>
                <a:cs typeface="Open Sans"/>
                <a:sym typeface="Open Sans"/>
              </a:rPr>
              <a:t>En vigueur depuis août 2024 pour une application totale en </a:t>
            </a:r>
            <a:r>
              <a:rPr lang="en-US" sz="3599" strike="sngStrike">
                <a:solidFill>
                  <a:srgbClr val="1E325C"/>
                </a:solidFill>
                <a:latin typeface="Open Sans"/>
                <a:ea typeface="Open Sans"/>
                <a:cs typeface="Open Sans"/>
                <a:sym typeface="Open Sans"/>
              </a:rPr>
              <a:t>août 2026</a:t>
            </a:r>
            <a:r>
              <a:rPr lang="en-US" sz="3599">
                <a:solidFill>
                  <a:srgbClr val="1E325C"/>
                </a:solidFill>
                <a:latin typeface="Open Sans"/>
                <a:ea typeface="Open Sans"/>
                <a:cs typeface="Open Sans"/>
                <a:sym typeface="Open Sans"/>
              </a:rPr>
              <a:t> </a:t>
            </a:r>
            <a:r>
              <a:rPr lang="en-US" sz="3599" b="1">
                <a:solidFill>
                  <a:srgbClr val="1E325C"/>
                </a:solidFill>
                <a:latin typeface="Open Sans Bold"/>
                <a:ea typeface="Open Sans Bold"/>
                <a:cs typeface="Open Sans Bold"/>
                <a:sym typeface="Open Sans Bold"/>
              </a:rPr>
              <a:t>reportée à août 2028</a:t>
            </a:r>
          </a:p>
        </p:txBody>
      </p:sp>
      <p:sp>
        <p:nvSpPr>
          <p:cNvPr id="5" name="Freeform 5"/>
          <p:cNvSpPr/>
          <p:nvPr/>
        </p:nvSpPr>
        <p:spPr>
          <a:xfrm>
            <a:off x="1903300" y="4723689"/>
            <a:ext cx="1337470" cy="1337470"/>
          </a:xfrm>
          <a:custGeom>
            <a:avLst/>
            <a:gdLst/>
            <a:ahLst/>
            <a:cxnLst/>
            <a:rect l="l" t="t" r="r" b="b"/>
            <a:pathLst>
              <a:path w="1337470" h="1337470">
                <a:moveTo>
                  <a:pt x="0" y="0"/>
                </a:moveTo>
                <a:lnTo>
                  <a:pt x="1337470" y="0"/>
                </a:lnTo>
                <a:lnTo>
                  <a:pt x="1337470" y="1337470"/>
                </a:lnTo>
                <a:lnTo>
                  <a:pt x="0" y="133747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BE"/>
          </a:p>
        </p:txBody>
      </p:sp>
      <p:sp>
        <p:nvSpPr>
          <p:cNvPr id="6" name="TextBox 6"/>
          <p:cNvSpPr txBox="1"/>
          <p:nvPr/>
        </p:nvSpPr>
        <p:spPr>
          <a:xfrm>
            <a:off x="3841924" y="5085375"/>
            <a:ext cx="9172497" cy="613437"/>
          </a:xfrm>
          <a:prstGeom prst="rect">
            <a:avLst/>
          </a:prstGeom>
        </p:spPr>
        <p:txBody>
          <a:bodyPr lIns="0" tIns="0" rIns="0" bIns="0" rtlCol="0" anchor="t">
            <a:spAutoFit/>
          </a:bodyPr>
          <a:lstStyle/>
          <a:p>
            <a:pPr algn="l">
              <a:lnSpc>
                <a:spcPts val="5039"/>
              </a:lnSpc>
              <a:spcBef>
                <a:spcPct val="0"/>
              </a:spcBef>
            </a:pPr>
            <a:r>
              <a:rPr lang="en-US" sz="3599" dirty="0" err="1">
                <a:solidFill>
                  <a:srgbClr val="1E325C"/>
                </a:solidFill>
                <a:latin typeface="Open Sans"/>
                <a:ea typeface="Open Sans"/>
                <a:cs typeface="Open Sans"/>
                <a:sym typeface="Open Sans"/>
              </a:rPr>
              <a:t>S’applique</a:t>
            </a:r>
            <a:r>
              <a:rPr lang="en-US" sz="3599" dirty="0">
                <a:solidFill>
                  <a:srgbClr val="1E325C"/>
                </a:solidFill>
                <a:latin typeface="Open Sans"/>
                <a:ea typeface="Open Sans"/>
                <a:cs typeface="Open Sans"/>
                <a:sym typeface="Open Sans"/>
              </a:rPr>
              <a:t> à toute IA </a:t>
            </a:r>
            <a:r>
              <a:rPr lang="en-US" sz="3599" dirty="0" err="1">
                <a:solidFill>
                  <a:srgbClr val="1E325C"/>
                </a:solidFill>
                <a:latin typeface="Open Sans"/>
                <a:ea typeface="Open Sans"/>
                <a:cs typeface="Open Sans"/>
                <a:sym typeface="Open Sans"/>
              </a:rPr>
              <a:t>utilisée</a:t>
            </a:r>
            <a:r>
              <a:rPr lang="en-US" sz="3599" dirty="0">
                <a:solidFill>
                  <a:srgbClr val="1E325C"/>
                </a:solidFill>
                <a:latin typeface="Open Sans"/>
                <a:ea typeface="Open Sans"/>
                <a:cs typeface="Open Sans"/>
                <a:sym typeface="Open Sans"/>
              </a:rPr>
              <a:t> dans </a:t>
            </a:r>
            <a:r>
              <a:rPr lang="en-US" sz="3599" dirty="0" err="1">
                <a:solidFill>
                  <a:srgbClr val="1E325C"/>
                </a:solidFill>
                <a:latin typeface="Open Sans"/>
                <a:ea typeface="Open Sans"/>
                <a:cs typeface="Open Sans"/>
                <a:sym typeface="Open Sans"/>
              </a:rPr>
              <a:t>l’UE</a:t>
            </a:r>
            <a:endParaRPr lang="en-US" sz="3599" dirty="0">
              <a:solidFill>
                <a:srgbClr val="1E325C"/>
              </a:solidFill>
              <a:latin typeface="Open Sans"/>
              <a:ea typeface="Open Sans"/>
              <a:cs typeface="Open Sans"/>
              <a:sym typeface="Open Sans"/>
            </a:endParaRPr>
          </a:p>
        </p:txBody>
      </p:sp>
      <p:sp>
        <p:nvSpPr>
          <p:cNvPr id="7" name="Freeform 7"/>
          <p:cNvSpPr/>
          <p:nvPr/>
        </p:nvSpPr>
        <p:spPr>
          <a:xfrm>
            <a:off x="1815193" y="7074310"/>
            <a:ext cx="1513685" cy="1345288"/>
          </a:xfrm>
          <a:custGeom>
            <a:avLst/>
            <a:gdLst/>
            <a:ahLst/>
            <a:cxnLst/>
            <a:rect l="l" t="t" r="r" b="b"/>
            <a:pathLst>
              <a:path w="1513685" h="1345288">
                <a:moveTo>
                  <a:pt x="0" y="0"/>
                </a:moveTo>
                <a:lnTo>
                  <a:pt x="1513685" y="0"/>
                </a:lnTo>
                <a:lnTo>
                  <a:pt x="1513685" y="1345288"/>
                </a:lnTo>
                <a:lnTo>
                  <a:pt x="0" y="134528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fr-BE"/>
          </a:p>
        </p:txBody>
      </p:sp>
      <p:sp>
        <p:nvSpPr>
          <p:cNvPr id="8" name="TextBox 8"/>
          <p:cNvSpPr txBox="1"/>
          <p:nvPr/>
        </p:nvSpPr>
        <p:spPr>
          <a:xfrm>
            <a:off x="3841924" y="7439905"/>
            <a:ext cx="7824240" cy="613437"/>
          </a:xfrm>
          <a:prstGeom prst="rect">
            <a:avLst/>
          </a:prstGeom>
        </p:spPr>
        <p:txBody>
          <a:bodyPr lIns="0" tIns="0" rIns="0" bIns="0" rtlCol="0" anchor="t">
            <a:spAutoFit/>
          </a:bodyPr>
          <a:lstStyle/>
          <a:p>
            <a:pPr algn="l">
              <a:lnSpc>
                <a:spcPts val="5039"/>
              </a:lnSpc>
              <a:spcBef>
                <a:spcPct val="0"/>
              </a:spcBef>
            </a:pPr>
            <a:r>
              <a:rPr lang="en-US" sz="3599">
                <a:solidFill>
                  <a:srgbClr val="1E325C"/>
                </a:solidFill>
                <a:latin typeface="Open Sans"/>
                <a:ea typeface="Open Sans"/>
                <a:cs typeface="Open Sans"/>
                <a:sym typeface="Open Sans"/>
              </a:rPr>
              <a:t>Approche par niveau de risque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16523344"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AI Act : 4 niveaux de risque</a:t>
            </a:r>
          </a:p>
        </p:txBody>
      </p:sp>
      <p:sp>
        <p:nvSpPr>
          <p:cNvPr id="3" name="Freeform 3"/>
          <p:cNvSpPr/>
          <p:nvPr/>
        </p:nvSpPr>
        <p:spPr>
          <a:xfrm>
            <a:off x="1815193" y="2259872"/>
            <a:ext cx="7874462" cy="6998428"/>
          </a:xfrm>
          <a:custGeom>
            <a:avLst/>
            <a:gdLst/>
            <a:ahLst/>
            <a:cxnLst/>
            <a:rect l="l" t="t" r="r" b="b"/>
            <a:pathLst>
              <a:path w="7874462" h="6998428">
                <a:moveTo>
                  <a:pt x="0" y="0"/>
                </a:moveTo>
                <a:lnTo>
                  <a:pt x="7874461" y="0"/>
                </a:lnTo>
                <a:lnTo>
                  <a:pt x="7874461" y="6998428"/>
                </a:lnTo>
                <a:lnTo>
                  <a:pt x="0" y="699842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fr-BE"/>
          </a:p>
        </p:txBody>
      </p:sp>
      <p:sp>
        <p:nvSpPr>
          <p:cNvPr id="4" name="AutoShape 4"/>
          <p:cNvSpPr/>
          <p:nvPr/>
        </p:nvSpPr>
        <p:spPr>
          <a:xfrm flipV="1">
            <a:off x="6774932" y="3060502"/>
            <a:ext cx="4847906" cy="0"/>
          </a:xfrm>
          <a:prstGeom prst="line">
            <a:avLst/>
          </a:prstGeom>
          <a:ln w="38100" cap="flat">
            <a:solidFill>
              <a:srgbClr val="E7272D"/>
            </a:solidFill>
            <a:prstDash val="solid"/>
            <a:headEnd type="none" w="sm" len="sm"/>
            <a:tailEnd type="triangle" w="lg" len="med"/>
          </a:ln>
        </p:spPr>
        <p:txBody>
          <a:bodyPr/>
          <a:lstStyle/>
          <a:p>
            <a:endParaRPr lang="fr-BE"/>
          </a:p>
        </p:txBody>
      </p:sp>
      <p:sp>
        <p:nvSpPr>
          <p:cNvPr id="5" name="AutoShape 5"/>
          <p:cNvSpPr/>
          <p:nvPr/>
        </p:nvSpPr>
        <p:spPr>
          <a:xfrm>
            <a:off x="7603392" y="4852142"/>
            <a:ext cx="4019445" cy="0"/>
          </a:xfrm>
          <a:prstGeom prst="line">
            <a:avLst/>
          </a:prstGeom>
          <a:ln w="38100" cap="flat">
            <a:solidFill>
              <a:srgbClr val="FF6201"/>
            </a:solidFill>
            <a:prstDash val="solid"/>
            <a:headEnd type="none" w="sm" len="sm"/>
            <a:tailEnd type="triangle" w="lg" len="med"/>
          </a:ln>
        </p:spPr>
        <p:txBody>
          <a:bodyPr/>
          <a:lstStyle/>
          <a:p>
            <a:endParaRPr lang="fr-BE"/>
          </a:p>
        </p:txBody>
      </p:sp>
      <p:sp>
        <p:nvSpPr>
          <p:cNvPr id="6" name="AutoShape 6"/>
          <p:cNvSpPr/>
          <p:nvPr/>
        </p:nvSpPr>
        <p:spPr>
          <a:xfrm>
            <a:off x="8663163" y="6643781"/>
            <a:ext cx="2959675" cy="0"/>
          </a:xfrm>
          <a:prstGeom prst="line">
            <a:avLst/>
          </a:prstGeom>
          <a:ln w="38100" cap="flat">
            <a:solidFill>
              <a:srgbClr val="FCD20E"/>
            </a:solidFill>
            <a:prstDash val="solid"/>
            <a:headEnd type="none" w="sm" len="sm"/>
            <a:tailEnd type="triangle" w="lg" len="med"/>
          </a:ln>
        </p:spPr>
        <p:txBody>
          <a:bodyPr/>
          <a:lstStyle/>
          <a:p>
            <a:endParaRPr lang="fr-BE"/>
          </a:p>
        </p:txBody>
      </p:sp>
      <p:sp>
        <p:nvSpPr>
          <p:cNvPr id="7" name="AutoShape 7"/>
          <p:cNvSpPr/>
          <p:nvPr/>
        </p:nvSpPr>
        <p:spPr>
          <a:xfrm>
            <a:off x="9689654" y="8435421"/>
            <a:ext cx="1933183" cy="0"/>
          </a:xfrm>
          <a:prstGeom prst="line">
            <a:avLst/>
          </a:prstGeom>
          <a:ln w="38100" cap="flat">
            <a:solidFill>
              <a:srgbClr val="3CBB08"/>
            </a:solidFill>
            <a:prstDash val="solid"/>
            <a:headEnd type="none" w="sm" len="sm"/>
            <a:tailEnd type="triangle" w="lg" len="med"/>
          </a:ln>
        </p:spPr>
        <p:txBody>
          <a:bodyPr/>
          <a:lstStyle/>
          <a:p>
            <a:endParaRPr lang="fr-BE"/>
          </a:p>
        </p:txBody>
      </p:sp>
      <p:grpSp>
        <p:nvGrpSpPr>
          <p:cNvPr id="8" name="Group 8"/>
          <p:cNvGrpSpPr/>
          <p:nvPr/>
        </p:nvGrpSpPr>
        <p:grpSpPr>
          <a:xfrm>
            <a:off x="11991196" y="2488121"/>
            <a:ext cx="4500684" cy="1144762"/>
            <a:chOff x="0" y="0"/>
            <a:chExt cx="6000912" cy="1526350"/>
          </a:xfrm>
        </p:grpSpPr>
        <p:sp>
          <p:nvSpPr>
            <p:cNvPr id="9" name="TextBox 9"/>
            <p:cNvSpPr txBox="1"/>
            <p:nvPr/>
          </p:nvSpPr>
          <p:spPr>
            <a:xfrm>
              <a:off x="0" y="-57150"/>
              <a:ext cx="6000912" cy="698149"/>
            </a:xfrm>
            <a:prstGeom prst="rect">
              <a:avLst/>
            </a:prstGeom>
          </p:spPr>
          <p:txBody>
            <a:bodyPr lIns="0" tIns="0" rIns="0" bIns="0" rtlCol="0" anchor="t">
              <a:spAutoFit/>
            </a:bodyPr>
            <a:lstStyle/>
            <a:p>
              <a:pPr algn="l">
                <a:lnSpc>
                  <a:spcPts val="4480"/>
                </a:lnSpc>
                <a:spcBef>
                  <a:spcPct val="0"/>
                </a:spcBef>
              </a:pPr>
              <a:r>
                <a:rPr lang="en-US" sz="3200" b="1">
                  <a:solidFill>
                    <a:srgbClr val="1E325C"/>
                  </a:solidFill>
                  <a:latin typeface="Open Sans Bold"/>
                  <a:ea typeface="Open Sans Bold"/>
                  <a:cs typeface="Open Sans Bold"/>
                  <a:sym typeface="Open Sans Bold"/>
                </a:rPr>
                <a:t>Risque inacceptable</a:t>
              </a:r>
            </a:p>
          </p:txBody>
        </p:sp>
        <p:sp>
          <p:nvSpPr>
            <p:cNvPr id="10" name="TextBox 10"/>
            <p:cNvSpPr txBox="1"/>
            <p:nvPr/>
          </p:nvSpPr>
          <p:spPr>
            <a:xfrm>
              <a:off x="0" y="828201"/>
              <a:ext cx="6000912" cy="698149"/>
            </a:xfrm>
            <a:prstGeom prst="rect">
              <a:avLst/>
            </a:prstGeom>
          </p:spPr>
          <p:txBody>
            <a:bodyPr lIns="0" tIns="0" rIns="0" bIns="0" rtlCol="0" anchor="t">
              <a:spAutoFit/>
            </a:bodyPr>
            <a:lstStyle/>
            <a:p>
              <a:pPr algn="l">
                <a:lnSpc>
                  <a:spcPts val="4480"/>
                </a:lnSpc>
                <a:spcBef>
                  <a:spcPct val="0"/>
                </a:spcBef>
              </a:pPr>
              <a:r>
                <a:rPr lang="en-US" sz="3200">
                  <a:solidFill>
                    <a:srgbClr val="1E325C"/>
                  </a:solidFill>
                  <a:latin typeface="Open Sans"/>
                  <a:ea typeface="Open Sans"/>
                  <a:cs typeface="Open Sans"/>
                  <a:sym typeface="Open Sans"/>
                </a:rPr>
                <a:t>Interdit</a:t>
              </a:r>
            </a:p>
          </p:txBody>
        </p:sp>
      </p:grpSp>
      <p:grpSp>
        <p:nvGrpSpPr>
          <p:cNvPr id="11" name="Group 11"/>
          <p:cNvGrpSpPr/>
          <p:nvPr/>
        </p:nvGrpSpPr>
        <p:grpSpPr>
          <a:xfrm>
            <a:off x="11991196" y="4279761"/>
            <a:ext cx="4500684" cy="1144762"/>
            <a:chOff x="0" y="0"/>
            <a:chExt cx="6000912" cy="1526350"/>
          </a:xfrm>
        </p:grpSpPr>
        <p:sp>
          <p:nvSpPr>
            <p:cNvPr id="12" name="TextBox 12"/>
            <p:cNvSpPr txBox="1"/>
            <p:nvPr/>
          </p:nvSpPr>
          <p:spPr>
            <a:xfrm>
              <a:off x="0" y="-57150"/>
              <a:ext cx="6000912" cy="698149"/>
            </a:xfrm>
            <a:prstGeom prst="rect">
              <a:avLst/>
            </a:prstGeom>
          </p:spPr>
          <p:txBody>
            <a:bodyPr lIns="0" tIns="0" rIns="0" bIns="0" rtlCol="0" anchor="t">
              <a:spAutoFit/>
            </a:bodyPr>
            <a:lstStyle/>
            <a:p>
              <a:pPr algn="l">
                <a:lnSpc>
                  <a:spcPts val="4480"/>
                </a:lnSpc>
                <a:spcBef>
                  <a:spcPct val="0"/>
                </a:spcBef>
              </a:pPr>
              <a:r>
                <a:rPr lang="en-US" sz="3200" b="1">
                  <a:solidFill>
                    <a:srgbClr val="1E325C"/>
                  </a:solidFill>
                  <a:latin typeface="Open Sans Bold"/>
                  <a:ea typeface="Open Sans Bold"/>
                  <a:cs typeface="Open Sans Bold"/>
                  <a:sym typeface="Open Sans Bold"/>
                </a:rPr>
                <a:t>Risque élevé</a:t>
              </a:r>
            </a:p>
          </p:txBody>
        </p:sp>
        <p:sp>
          <p:nvSpPr>
            <p:cNvPr id="13" name="TextBox 13"/>
            <p:cNvSpPr txBox="1"/>
            <p:nvPr/>
          </p:nvSpPr>
          <p:spPr>
            <a:xfrm>
              <a:off x="0" y="828201"/>
              <a:ext cx="6000912" cy="698149"/>
            </a:xfrm>
            <a:prstGeom prst="rect">
              <a:avLst/>
            </a:prstGeom>
          </p:spPr>
          <p:txBody>
            <a:bodyPr lIns="0" tIns="0" rIns="0" bIns="0" rtlCol="0" anchor="t">
              <a:spAutoFit/>
            </a:bodyPr>
            <a:lstStyle/>
            <a:p>
              <a:pPr algn="l">
                <a:lnSpc>
                  <a:spcPts val="4480"/>
                </a:lnSpc>
                <a:spcBef>
                  <a:spcPct val="0"/>
                </a:spcBef>
              </a:pPr>
              <a:r>
                <a:rPr lang="en-US" sz="3200">
                  <a:solidFill>
                    <a:srgbClr val="1E325C"/>
                  </a:solidFill>
                  <a:latin typeface="Open Sans"/>
                  <a:ea typeface="Open Sans"/>
                  <a:cs typeface="Open Sans"/>
                  <a:sym typeface="Open Sans"/>
                </a:rPr>
                <a:t>Très encadré</a:t>
              </a:r>
            </a:p>
          </p:txBody>
        </p:sp>
      </p:grpSp>
      <p:grpSp>
        <p:nvGrpSpPr>
          <p:cNvPr id="14" name="Group 14"/>
          <p:cNvGrpSpPr/>
          <p:nvPr/>
        </p:nvGrpSpPr>
        <p:grpSpPr>
          <a:xfrm>
            <a:off x="11991196" y="6071400"/>
            <a:ext cx="4847851" cy="1144762"/>
            <a:chOff x="0" y="0"/>
            <a:chExt cx="6463801" cy="1526350"/>
          </a:xfrm>
        </p:grpSpPr>
        <p:sp>
          <p:nvSpPr>
            <p:cNvPr id="15" name="TextBox 15"/>
            <p:cNvSpPr txBox="1"/>
            <p:nvPr/>
          </p:nvSpPr>
          <p:spPr>
            <a:xfrm>
              <a:off x="0" y="-57150"/>
              <a:ext cx="6000912" cy="698149"/>
            </a:xfrm>
            <a:prstGeom prst="rect">
              <a:avLst/>
            </a:prstGeom>
          </p:spPr>
          <p:txBody>
            <a:bodyPr lIns="0" tIns="0" rIns="0" bIns="0" rtlCol="0" anchor="t">
              <a:spAutoFit/>
            </a:bodyPr>
            <a:lstStyle/>
            <a:p>
              <a:pPr algn="l">
                <a:lnSpc>
                  <a:spcPts val="4480"/>
                </a:lnSpc>
                <a:spcBef>
                  <a:spcPct val="0"/>
                </a:spcBef>
              </a:pPr>
              <a:r>
                <a:rPr lang="en-US" sz="3200" b="1">
                  <a:solidFill>
                    <a:srgbClr val="1E325C"/>
                  </a:solidFill>
                  <a:latin typeface="Open Sans Bold"/>
                  <a:ea typeface="Open Sans Bold"/>
                  <a:cs typeface="Open Sans Bold"/>
                  <a:sym typeface="Open Sans Bold"/>
                </a:rPr>
                <a:t>Risque limité</a:t>
              </a:r>
            </a:p>
          </p:txBody>
        </p:sp>
        <p:sp>
          <p:nvSpPr>
            <p:cNvPr id="16" name="TextBox 16"/>
            <p:cNvSpPr txBox="1"/>
            <p:nvPr/>
          </p:nvSpPr>
          <p:spPr>
            <a:xfrm>
              <a:off x="0" y="828201"/>
              <a:ext cx="6463801" cy="698149"/>
            </a:xfrm>
            <a:prstGeom prst="rect">
              <a:avLst/>
            </a:prstGeom>
          </p:spPr>
          <p:txBody>
            <a:bodyPr lIns="0" tIns="0" rIns="0" bIns="0" rtlCol="0" anchor="t">
              <a:spAutoFit/>
            </a:bodyPr>
            <a:lstStyle/>
            <a:p>
              <a:pPr algn="l">
                <a:lnSpc>
                  <a:spcPts val="4480"/>
                </a:lnSpc>
                <a:spcBef>
                  <a:spcPct val="0"/>
                </a:spcBef>
              </a:pPr>
              <a:r>
                <a:rPr lang="en-US" sz="3200">
                  <a:solidFill>
                    <a:srgbClr val="1E325C"/>
                  </a:solidFill>
                  <a:latin typeface="Open Sans"/>
                  <a:ea typeface="Open Sans"/>
                  <a:cs typeface="Open Sans"/>
                  <a:sym typeface="Open Sans"/>
                </a:rPr>
                <a:t>Transparence obligatoire</a:t>
              </a:r>
            </a:p>
          </p:txBody>
        </p:sp>
      </p:grpSp>
      <p:grpSp>
        <p:nvGrpSpPr>
          <p:cNvPr id="17" name="Group 17"/>
          <p:cNvGrpSpPr/>
          <p:nvPr/>
        </p:nvGrpSpPr>
        <p:grpSpPr>
          <a:xfrm>
            <a:off x="11991196" y="7863040"/>
            <a:ext cx="4500684" cy="1144762"/>
            <a:chOff x="0" y="0"/>
            <a:chExt cx="6000912" cy="1526350"/>
          </a:xfrm>
        </p:grpSpPr>
        <p:sp>
          <p:nvSpPr>
            <p:cNvPr id="18" name="TextBox 18"/>
            <p:cNvSpPr txBox="1"/>
            <p:nvPr/>
          </p:nvSpPr>
          <p:spPr>
            <a:xfrm>
              <a:off x="0" y="-57150"/>
              <a:ext cx="6000912" cy="698149"/>
            </a:xfrm>
            <a:prstGeom prst="rect">
              <a:avLst/>
            </a:prstGeom>
          </p:spPr>
          <p:txBody>
            <a:bodyPr lIns="0" tIns="0" rIns="0" bIns="0" rtlCol="0" anchor="t">
              <a:spAutoFit/>
            </a:bodyPr>
            <a:lstStyle/>
            <a:p>
              <a:pPr algn="l">
                <a:lnSpc>
                  <a:spcPts val="4480"/>
                </a:lnSpc>
                <a:spcBef>
                  <a:spcPct val="0"/>
                </a:spcBef>
              </a:pPr>
              <a:r>
                <a:rPr lang="en-US" sz="3200" b="1">
                  <a:solidFill>
                    <a:srgbClr val="1E325C"/>
                  </a:solidFill>
                  <a:latin typeface="Open Sans Bold"/>
                  <a:ea typeface="Open Sans Bold"/>
                  <a:cs typeface="Open Sans Bold"/>
                  <a:sym typeface="Open Sans Bold"/>
                </a:rPr>
                <a:t>Risque minimal</a:t>
              </a:r>
            </a:p>
          </p:txBody>
        </p:sp>
        <p:sp>
          <p:nvSpPr>
            <p:cNvPr id="19" name="TextBox 19"/>
            <p:cNvSpPr txBox="1"/>
            <p:nvPr/>
          </p:nvSpPr>
          <p:spPr>
            <a:xfrm>
              <a:off x="0" y="828201"/>
              <a:ext cx="6000912" cy="698149"/>
            </a:xfrm>
            <a:prstGeom prst="rect">
              <a:avLst/>
            </a:prstGeom>
          </p:spPr>
          <p:txBody>
            <a:bodyPr lIns="0" tIns="0" rIns="0" bIns="0" rtlCol="0" anchor="t">
              <a:spAutoFit/>
            </a:bodyPr>
            <a:lstStyle/>
            <a:p>
              <a:pPr algn="l">
                <a:lnSpc>
                  <a:spcPts val="4480"/>
                </a:lnSpc>
                <a:spcBef>
                  <a:spcPct val="0"/>
                </a:spcBef>
              </a:pPr>
              <a:r>
                <a:rPr lang="en-US" sz="3200">
                  <a:solidFill>
                    <a:srgbClr val="1E325C"/>
                  </a:solidFill>
                  <a:latin typeface="Open Sans"/>
                  <a:ea typeface="Open Sans"/>
                  <a:cs typeface="Open Sans"/>
                  <a:sym typeface="Open Sans"/>
                </a:rPr>
                <a:t>Pas d’obligation</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16523344"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AI Act : 4 niveaux de risque</a:t>
            </a:r>
          </a:p>
        </p:txBody>
      </p:sp>
      <p:sp>
        <p:nvSpPr>
          <p:cNvPr id="3" name="Freeform 3"/>
          <p:cNvSpPr/>
          <p:nvPr/>
        </p:nvSpPr>
        <p:spPr>
          <a:xfrm>
            <a:off x="1815193" y="2259872"/>
            <a:ext cx="7873747" cy="1649642"/>
          </a:xfrm>
          <a:custGeom>
            <a:avLst/>
            <a:gdLst/>
            <a:ahLst/>
            <a:cxnLst/>
            <a:rect l="l" t="t" r="r" b="b"/>
            <a:pathLst>
              <a:path w="7873747" h="1649642">
                <a:moveTo>
                  <a:pt x="0" y="0"/>
                </a:moveTo>
                <a:lnTo>
                  <a:pt x="7873746" y="0"/>
                </a:lnTo>
                <a:lnTo>
                  <a:pt x="7873746" y="1649642"/>
                </a:lnTo>
                <a:lnTo>
                  <a:pt x="0" y="1649642"/>
                </a:lnTo>
                <a:lnTo>
                  <a:pt x="0" y="0"/>
                </a:lnTo>
                <a:close/>
              </a:path>
            </a:pathLst>
          </a:custGeom>
          <a:blipFill>
            <a:blip>
              <a:extLst>
                <a:ext uri="{96DAC541-7B7A-43D3-8B79-37D633B846F1}">
                  <asvg:svgBlip xmlns:asvg="http://schemas.microsoft.com/office/drawing/2016/SVG/main" r:embed="rId2"/>
                </a:ext>
              </a:extLst>
            </a:blip>
            <a:stretch>
              <a:fillRect r="-9" b="-324239"/>
            </a:stretch>
          </a:blipFill>
        </p:spPr>
        <p:txBody>
          <a:bodyPr/>
          <a:lstStyle/>
          <a:p>
            <a:endParaRPr lang="fr-BE"/>
          </a:p>
        </p:txBody>
      </p:sp>
      <p:sp>
        <p:nvSpPr>
          <p:cNvPr id="4" name="AutoShape 4"/>
          <p:cNvSpPr/>
          <p:nvPr/>
        </p:nvSpPr>
        <p:spPr>
          <a:xfrm flipV="1">
            <a:off x="6774932" y="3060502"/>
            <a:ext cx="4847906" cy="0"/>
          </a:xfrm>
          <a:prstGeom prst="line">
            <a:avLst/>
          </a:prstGeom>
          <a:ln w="38100" cap="flat">
            <a:solidFill>
              <a:srgbClr val="E7272D"/>
            </a:solidFill>
            <a:prstDash val="solid"/>
            <a:headEnd type="none" w="sm" len="sm"/>
            <a:tailEnd type="triangle" w="lg" len="med"/>
          </a:ln>
        </p:spPr>
        <p:txBody>
          <a:bodyPr/>
          <a:lstStyle/>
          <a:p>
            <a:endParaRPr lang="fr-BE"/>
          </a:p>
        </p:txBody>
      </p:sp>
      <p:grpSp>
        <p:nvGrpSpPr>
          <p:cNvPr id="5" name="Group 5"/>
          <p:cNvGrpSpPr/>
          <p:nvPr/>
        </p:nvGrpSpPr>
        <p:grpSpPr>
          <a:xfrm>
            <a:off x="11991196" y="2488121"/>
            <a:ext cx="4500684" cy="1144762"/>
            <a:chOff x="0" y="0"/>
            <a:chExt cx="6000912" cy="1526350"/>
          </a:xfrm>
        </p:grpSpPr>
        <p:sp>
          <p:nvSpPr>
            <p:cNvPr id="6" name="TextBox 6"/>
            <p:cNvSpPr txBox="1"/>
            <p:nvPr/>
          </p:nvSpPr>
          <p:spPr>
            <a:xfrm>
              <a:off x="0" y="-57150"/>
              <a:ext cx="6000912" cy="698149"/>
            </a:xfrm>
            <a:prstGeom prst="rect">
              <a:avLst/>
            </a:prstGeom>
          </p:spPr>
          <p:txBody>
            <a:bodyPr lIns="0" tIns="0" rIns="0" bIns="0" rtlCol="0" anchor="t">
              <a:spAutoFit/>
            </a:bodyPr>
            <a:lstStyle/>
            <a:p>
              <a:pPr algn="l">
                <a:lnSpc>
                  <a:spcPts val="4480"/>
                </a:lnSpc>
                <a:spcBef>
                  <a:spcPct val="0"/>
                </a:spcBef>
              </a:pPr>
              <a:r>
                <a:rPr lang="en-US" sz="3200" b="1">
                  <a:solidFill>
                    <a:srgbClr val="1E325C"/>
                  </a:solidFill>
                  <a:latin typeface="Open Sans Bold"/>
                  <a:ea typeface="Open Sans Bold"/>
                  <a:cs typeface="Open Sans Bold"/>
                  <a:sym typeface="Open Sans Bold"/>
                </a:rPr>
                <a:t>Risque inacceptable</a:t>
              </a:r>
            </a:p>
          </p:txBody>
        </p:sp>
        <p:sp>
          <p:nvSpPr>
            <p:cNvPr id="7" name="TextBox 7"/>
            <p:cNvSpPr txBox="1"/>
            <p:nvPr/>
          </p:nvSpPr>
          <p:spPr>
            <a:xfrm>
              <a:off x="0" y="828201"/>
              <a:ext cx="6000912" cy="698149"/>
            </a:xfrm>
            <a:prstGeom prst="rect">
              <a:avLst/>
            </a:prstGeom>
          </p:spPr>
          <p:txBody>
            <a:bodyPr lIns="0" tIns="0" rIns="0" bIns="0" rtlCol="0" anchor="t">
              <a:spAutoFit/>
            </a:bodyPr>
            <a:lstStyle/>
            <a:p>
              <a:pPr algn="l">
                <a:lnSpc>
                  <a:spcPts val="4480"/>
                </a:lnSpc>
                <a:spcBef>
                  <a:spcPct val="0"/>
                </a:spcBef>
              </a:pPr>
              <a:r>
                <a:rPr lang="en-US" sz="3200">
                  <a:solidFill>
                    <a:srgbClr val="1E325C"/>
                  </a:solidFill>
                  <a:latin typeface="Open Sans"/>
                  <a:ea typeface="Open Sans"/>
                  <a:cs typeface="Open Sans"/>
                  <a:sym typeface="Open Sans"/>
                </a:rPr>
                <a:t>Interdit</a:t>
              </a:r>
            </a:p>
          </p:txBody>
        </p:sp>
      </p:grpSp>
      <p:sp>
        <p:nvSpPr>
          <p:cNvPr id="8" name="TextBox 8"/>
          <p:cNvSpPr txBox="1"/>
          <p:nvPr/>
        </p:nvSpPr>
        <p:spPr>
          <a:xfrm>
            <a:off x="1028700" y="5076825"/>
            <a:ext cx="6088408" cy="580363"/>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Open Sans Bold"/>
                <a:ea typeface="Open Sans Bold"/>
                <a:cs typeface="Open Sans Bold"/>
                <a:sym typeface="Open Sans Bold"/>
              </a:rPr>
              <a:t>À quoi ça s’applique ?</a:t>
            </a:r>
          </a:p>
        </p:txBody>
      </p:sp>
      <p:sp>
        <p:nvSpPr>
          <p:cNvPr id="9" name="TextBox 9"/>
          <p:cNvSpPr txBox="1"/>
          <p:nvPr/>
        </p:nvSpPr>
        <p:spPr>
          <a:xfrm>
            <a:off x="1028700" y="5747875"/>
            <a:ext cx="16230600" cy="580363"/>
          </a:xfrm>
          <a:prstGeom prst="rect">
            <a:avLst/>
          </a:prstGeom>
        </p:spPr>
        <p:txBody>
          <a:bodyPr lIns="0" tIns="0" rIns="0" bIns="0" rtlCol="0" anchor="t">
            <a:spAutoFit/>
          </a:bodyPr>
          <a:lstStyle/>
          <a:p>
            <a:pPr algn="l">
              <a:lnSpc>
                <a:spcPts val="4759"/>
              </a:lnSpc>
              <a:spcBef>
                <a:spcPct val="0"/>
              </a:spcBef>
            </a:pPr>
            <a:r>
              <a:rPr lang="en-US" sz="3399" dirty="0">
                <a:solidFill>
                  <a:srgbClr val="000000"/>
                </a:solidFill>
                <a:latin typeface="Open Sans"/>
                <a:ea typeface="Open Sans"/>
                <a:cs typeface="Open Sans"/>
                <a:sym typeface="Open Sans"/>
              </a:rPr>
              <a:t>Usages </a:t>
            </a:r>
            <a:r>
              <a:rPr lang="en-US" sz="3399" dirty="0" err="1">
                <a:solidFill>
                  <a:srgbClr val="000000"/>
                </a:solidFill>
                <a:latin typeface="Open Sans"/>
                <a:ea typeface="Open Sans"/>
                <a:cs typeface="Open Sans"/>
                <a:sym typeface="Open Sans"/>
              </a:rPr>
              <a:t>considérés</a:t>
            </a:r>
            <a:r>
              <a:rPr lang="en-US" sz="3399" dirty="0">
                <a:solidFill>
                  <a:srgbClr val="000000"/>
                </a:solidFill>
                <a:latin typeface="Open Sans"/>
                <a:ea typeface="Open Sans"/>
                <a:cs typeface="Open Sans"/>
                <a:sym typeface="Open Sans"/>
              </a:rPr>
              <a:t> incompatibles avec les droits </a:t>
            </a:r>
            <a:r>
              <a:rPr lang="en-US" sz="3399" dirty="0" err="1">
                <a:solidFill>
                  <a:srgbClr val="000000"/>
                </a:solidFill>
                <a:latin typeface="Open Sans"/>
                <a:ea typeface="Open Sans"/>
                <a:cs typeface="Open Sans"/>
                <a:sym typeface="Open Sans"/>
              </a:rPr>
              <a:t>fondamentaux</a:t>
            </a:r>
            <a:r>
              <a:rPr lang="en-US" sz="3399" dirty="0">
                <a:solidFill>
                  <a:srgbClr val="000000"/>
                </a:solidFill>
                <a:latin typeface="Open Sans"/>
                <a:ea typeface="Open Sans"/>
                <a:cs typeface="Open Sans"/>
                <a:sym typeface="Open Sans"/>
              </a:rPr>
              <a:t>. </a:t>
            </a:r>
          </a:p>
        </p:txBody>
      </p:sp>
      <p:sp>
        <p:nvSpPr>
          <p:cNvPr id="10" name="TextBox 10"/>
          <p:cNvSpPr txBox="1"/>
          <p:nvPr/>
        </p:nvSpPr>
        <p:spPr>
          <a:xfrm>
            <a:off x="1028700" y="7311989"/>
            <a:ext cx="6088408" cy="580363"/>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Open Sans Bold"/>
                <a:ea typeface="Open Sans Bold"/>
                <a:cs typeface="Open Sans Bold"/>
                <a:sym typeface="Open Sans Bold"/>
              </a:rPr>
              <a:t>Exemples</a:t>
            </a:r>
          </a:p>
        </p:txBody>
      </p:sp>
      <p:sp>
        <p:nvSpPr>
          <p:cNvPr id="11" name="TextBox 11"/>
          <p:cNvSpPr txBox="1"/>
          <p:nvPr/>
        </p:nvSpPr>
        <p:spPr>
          <a:xfrm>
            <a:off x="1028700" y="7976100"/>
            <a:ext cx="16230600" cy="1180411"/>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Open Sans"/>
                <a:ea typeface="Open Sans"/>
                <a:cs typeface="Open Sans"/>
                <a:sym typeface="Open Sans"/>
              </a:rPr>
              <a:t>Manipulation subliminale, exploitation de vulnérabilités, social scoring, certaines formes de reconnaissance biométrique en temps réel.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16523344"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AI Act : 4 niveaux de risque</a:t>
            </a:r>
          </a:p>
        </p:txBody>
      </p:sp>
      <p:sp>
        <p:nvSpPr>
          <p:cNvPr id="3" name="TextBox 3"/>
          <p:cNvSpPr txBox="1"/>
          <p:nvPr/>
        </p:nvSpPr>
        <p:spPr>
          <a:xfrm>
            <a:off x="1028700" y="5076825"/>
            <a:ext cx="6088408" cy="580363"/>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Open Sans Bold"/>
                <a:ea typeface="Open Sans Bold"/>
                <a:cs typeface="Open Sans Bold"/>
                <a:sym typeface="Open Sans Bold"/>
              </a:rPr>
              <a:t>À quoi ça s’applique ?</a:t>
            </a:r>
          </a:p>
        </p:txBody>
      </p:sp>
      <p:sp>
        <p:nvSpPr>
          <p:cNvPr id="4" name="TextBox 4"/>
          <p:cNvSpPr txBox="1"/>
          <p:nvPr/>
        </p:nvSpPr>
        <p:spPr>
          <a:xfrm>
            <a:off x="1028700" y="5779283"/>
            <a:ext cx="16230600" cy="1180411"/>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Open Sans"/>
                <a:ea typeface="Open Sans"/>
                <a:cs typeface="Open Sans"/>
                <a:sym typeface="Open Sans"/>
              </a:rPr>
              <a:t>Systèmes utilisés dans des domaines sensibles, pouvant affecter la sécurité, la santé ou les droits fondamentaux.</a:t>
            </a:r>
          </a:p>
        </p:txBody>
      </p:sp>
      <p:sp>
        <p:nvSpPr>
          <p:cNvPr id="5" name="TextBox 5"/>
          <p:cNvSpPr txBox="1"/>
          <p:nvPr/>
        </p:nvSpPr>
        <p:spPr>
          <a:xfrm>
            <a:off x="1028700" y="7311989"/>
            <a:ext cx="6088408" cy="580363"/>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Open Sans Bold"/>
                <a:ea typeface="Open Sans Bold"/>
                <a:cs typeface="Open Sans Bold"/>
                <a:sym typeface="Open Sans Bold"/>
              </a:rPr>
              <a:t>Exemples</a:t>
            </a:r>
          </a:p>
        </p:txBody>
      </p:sp>
      <p:sp>
        <p:nvSpPr>
          <p:cNvPr id="6" name="TextBox 6"/>
          <p:cNvSpPr txBox="1"/>
          <p:nvPr/>
        </p:nvSpPr>
        <p:spPr>
          <a:xfrm>
            <a:off x="1028700" y="7976100"/>
            <a:ext cx="16230600" cy="1180411"/>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Open Sans"/>
                <a:ea typeface="Open Sans"/>
                <a:cs typeface="Open Sans"/>
                <a:sym typeface="Open Sans"/>
              </a:rPr>
              <a:t>Recrutement, éducation, crédit, accès aux services publics, justice, police, migration, dispositifs médicaux.</a:t>
            </a:r>
          </a:p>
        </p:txBody>
      </p:sp>
      <p:grpSp>
        <p:nvGrpSpPr>
          <p:cNvPr id="7" name="Group 7"/>
          <p:cNvGrpSpPr/>
          <p:nvPr/>
        </p:nvGrpSpPr>
        <p:grpSpPr>
          <a:xfrm>
            <a:off x="2504453" y="2401841"/>
            <a:ext cx="14042458" cy="1760989"/>
            <a:chOff x="0" y="0"/>
            <a:chExt cx="18723277" cy="2347985"/>
          </a:xfrm>
        </p:grpSpPr>
        <p:sp>
          <p:nvSpPr>
            <p:cNvPr id="8" name="Freeform 8"/>
            <p:cNvSpPr/>
            <p:nvPr/>
          </p:nvSpPr>
          <p:spPr>
            <a:xfrm>
              <a:off x="0" y="0"/>
              <a:ext cx="9653643" cy="2347985"/>
            </a:xfrm>
            <a:custGeom>
              <a:avLst/>
              <a:gdLst/>
              <a:ahLst/>
              <a:cxnLst/>
              <a:rect l="l" t="t" r="r" b="b"/>
              <a:pathLst>
                <a:path w="9653643" h="2347985">
                  <a:moveTo>
                    <a:pt x="0" y="0"/>
                  </a:moveTo>
                  <a:lnTo>
                    <a:pt x="9653643" y="0"/>
                  </a:lnTo>
                  <a:lnTo>
                    <a:pt x="9653643" y="2347985"/>
                  </a:lnTo>
                  <a:lnTo>
                    <a:pt x="0" y="2347985"/>
                  </a:lnTo>
                  <a:lnTo>
                    <a:pt x="0" y="0"/>
                  </a:lnTo>
                  <a:close/>
                </a:path>
              </a:pathLst>
            </a:custGeom>
            <a:blipFill>
              <a:blip>
                <a:extLst>
                  <a:ext uri="{96DAC541-7B7A-43D3-8B79-37D633B846F1}">
                    <asvg:svgBlip xmlns:asvg="http://schemas.microsoft.com/office/drawing/2016/SVG/main" r:embed="rId2"/>
                  </a:ext>
                </a:extLst>
              </a:blip>
              <a:stretch>
                <a:fillRect l="-8759" t="-97997" b="-199417"/>
              </a:stretch>
            </a:blipFill>
          </p:spPr>
          <p:txBody>
            <a:bodyPr/>
            <a:lstStyle/>
            <a:p>
              <a:endParaRPr lang="fr-BE"/>
            </a:p>
          </p:txBody>
        </p:sp>
        <p:sp>
          <p:nvSpPr>
            <p:cNvPr id="9" name="AutoShape 9"/>
            <p:cNvSpPr/>
            <p:nvPr/>
          </p:nvSpPr>
          <p:spPr>
            <a:xfrm>
              <a:off x="6871960" y="1155393"/>
              <a:ext cx="5359260" cy="0"/>
            </a:xfrm>
            <a:prstGeom prst="line">
              <a:avLst/>
            </a:prstGeom>
            <a:ln w="50800" cap="flat">
              <a:solidFill>
                <a:srgbClr val="FF6201"/>
              </a:solidFill>
              <a:prstDash val="solid"/>
              <a:headEnd type="none" w="sm" len="sm"/>
              <a:tailEnd type="triangle" w="lg" len="med"/>
            </a:ln>
          </p:spPr>
          <p:txBody>
            <a:bodyPr/>
            <a:lstStyle/>
            <a:p>
              <a:endParaRPr lang="fr-BE"/>
            </a:p>
          </p:txBody>
        </p:sp>
        <p:sp>
          <p:nvSpPr>
            <p:cNvPr id="10" name="TextBox 10"/>
            <p:cNvSpPr txBox="1"/>
            <p:nvPr/>
          </p:nvSpPr>
          <p:spPr>
            <a:xfrm>
              <a:off x="12722364" y="335068"/>
              <a:ext cx="6000912" cy="698149"/>
            </a:xfrm>
            <a:prstGeom prst="rect">
              <a:avLst/>
            </a:prstGeom>
          </p:spPr>
          <p:txBody>
            <a:bodyPr lIns="0" tIns="0" rIns="0" bIns="0" rtlCol="0" anchor="t">
              <a:spAutoFit/>
            </a:bodyPr>
            <a:lstStyle/>
            <a:p>
              <a:pPr algn="l">
                <a:lnSpc>
                  <a:spcPts val="4480"/>
                </a:lnSpc>
                <a:spcBef>
                  <a:spcPct val="0"/>
                </a:spcBef>
              </a:pPr>
              <a:r>
                <a:rPr lang="en-US" sz="3200" b="1" dirty="0">
                  <a:solidFill>
                    <a:srgbClr val="1E325C"/>
                  </a:solidFill>
                  <a:latin typeface="Open Sans Bold"/>
                  <a:ea typeface="Open Sans Bold"/>
                  <a:cs typeface="Open Sans Bold"/>
                  <a:sym typeface="Open Sans Bold"/>
                </a:rPr>
                <a:t>Risque </a:t>
              </a:r>
              <a:r>
                <a:rPr lang="en-US" sz="3200" b="1" dirty="0" err="1">
                  <a:solidFill>
                    <a:srgbClr val="1E325C"/>
                  </a:solidFill>
                  <a:latin typeface="Open Sans Bold"/>
                  <a:ea typeface="Open Sans Bold"/>
                  <a:cs typeface="Open Sans Bold"/>
                  <a:sym typeface="Open Sans Bold"/>
                </a:rPr>
                <a:t>élevé</a:t>
              </a:r>
              <a:endParaRPr lang="en-US" sz="3200" b="1" dirty="0">
                <a:solidFill>
                  <a:srgbClr val="1E325C"/>
                </a:solidFill>
                <a:latin typeface="Open Sans Bold"/>
                <a:ea typeface="Open Sans Bold"/>
                <a:cs typeface="Open Sans Bold"/>
                <a:sym typeface="Open Sans Bold"/>
              </a:endParaRPr>
            </a:p>
          </p:txBody>
        </p:sp>
        <p:sp>
          <p:nvSpPr>
            <p:cNvPr id="11" name="TextBox 11"/>
            <p:cNvSpPr txBox="1"/>
            <p:nvPr/>
          </p:nvSpPr>
          <p:spPr>
            <a:xfrm>
              <a:off x="12722364" y="1220419"/>
              <a:ext cx="6000912" cy="698149"/>
            </a:xfrm>
            <a:prstGeom prst="rect">
              <a:avLst/>
            </a:prstGeom>
          </p:spPr>
          <p:txBody>
            <a:bodyPr lIns="0" tIns="0" rIns="0" bIns="0" rtlCol="0" anchor="t">
              <a:spAutoFit/>
            </a:bodyPr>
            <a:lstStyle/>
            <a:p>
              <a:pPr algn="l">
                <a:lnSpc>
                  <a:spcPts val="4480"/>
                </a:lnSpc>
                <a:spcBef>
                  <a:spcPct val="0"/>
                </a:spcBef>
              </a:pPr>
              <a:r>
                <a:rPr lang="en-US" sz="3200">
                  <a:solidFill>
                    <a:srgbClr val="1E325C"/>
                  </a:solidFill>
                  <a:latin typeface="Open Sans"/>
                  <a:ea typeface="Open Sans"/>
                  <a:cs typeface="Open Sans"/>
                  <a:sym typeface="Open Sans"/>
                </a:rPr>
                <a:t>Très encadré</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16523344"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AI Act : 4 niveaux de risque</a:t>
            </a:r>
          </a:p>
        </p:txBody>
      </p:sp>
      <p:sp>
        <p:nvSpPr>
          <p:cNvPr id="3" name="TextBox 3"/>
          <p:cNvSpPr txBox="1"/>
          <p:nvPr/>
        </p:nvSpPr>
        <p:spPr>
          <a:xfrm>
            <a:off x="1028700" y="5076825"/>
            <a:ext cx="6088408" cy="580363"/>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Open Sans Bold"/>
                <a:ea typeface="Open Sans Bold"/>
                <a:cs typeface="Open Sans Bold"/>
                <a:sym typeface="Open Sans Bold"/>
              </a:rPr>
              <a:t>À quoi ça s’applique ?</a:t>
            </a:r>
          </a:p>
        </p:txBody>
      </p:sp>
      <p:sp>
        <p:nvSpPr>
          <p:cNvPr id="4" name="TextBox 4"/>
          <p:cNvSpPr txBox="1"/>
          <p:nvPr/>
        </p:nvSpPr>
        <p:spPr>
          <a:xfrm>
            <a:off x="1028700" y="5779283"/>
            <a:ext cx="16230600" cy="1180411"/>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Open Sans"/>
                <a:ea typeface="Open Sans"/>
                <a:cs typeface="Open Sans"/>
                <a:sym typeface="Open Sans"/>
              </a:rPr>
              <a:t>Systèmes d’IA qui peuvent induire l’utilisateur en erreur s’il ne sait pas qu’il interagit avec une IA.</a:t>
            </a:r>
          </a:p>
        </p:txBody>
      </p:sp>
      <p:sp>
        <p:nvSpPr>
          <p:cNvPr id="5" name="TextBox 5"/>
          <p:cNvSpPr txBox="1"/>
          <p:nvPr/>
        </p:nvSpPr>
        <p:spPr>
          <a:xfrm>
            <a:off x="1028700" y="7311989"/>
            <a:ext cx="6088408" cy="580363"/>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Open Sans Bold"/>
                <a:ea typeface="Open Sans Bold"/>
                <a:cs typeface="Open Sans Bold"/>
                <a:sym typeface="Open Sans Bold"/>
              </a:rPr>
              <a:t>Exemples</a:t>
            </a:r>
          </a:p>
        </p:txBody>
      </p:sp>
      <p:sp>
        <p:nvSpPr>
          <p:cNvPr id="6" name="TextBox 6"/>
          <p:cNvSpPr txBox="1"/>
          <p:nvPr/>
        </p:nvSpPr>
        <p:spPr>
          <a:xfrm>
            <a:off x="1028700" y="7976100"/>
            <a:ext cx="16230600" cy="580363"/>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Open Sans"/>
                <a:ea typeface="Open Sans"/>
                <a:cs typeface="Open Sans"/>
                <a:sym typeface="Open Sans"/>
              </a:rPr>
              <a:t>Chatbots, contenus générés ou manipulés par IA, deepfakes.</a:t>
            </a:r>
          </a:p>
        </p:txBody>
      </p:sp>
      <p:grpSp>
        <p:nvGrpSpPr>
          <p:cNvPr id="7" name="Group 7"/>
          <p:cNvGrpSpPr/>
          <p:nvPr/>
        </p:nvGrpSpPr>
        <p:grpSpPr>
          <a:xfrm>
            <a:off x="1632073" y="2374325"/>
            <a:ext cx="15023854" cy="1816020"/>
            <a:chOff x="0" y="0"/>
            <a:chExt cx="20031805" cy="2421359"/>
          </a:xfrm>
        </p:grpSpPr>
        <p:sp>
          <p:nvSpPr>
            <p:cNvPr id="8" name="Freeform 8"/>
            <p:cNvSpPr/>
            <p:nvPr/>
          </p:nvSpPr>
          <p:spPr>
            <a:xfrm>
              <a:off x="0" y="0"/>
              <a:ext cx="10499282" cy="2421359"/>
            </a:xfrm>
            <a:custGeom>
              <a:avLst/>
              <a:gdLst/>
              <a:ahLst/>
              <a:cxnLst/>
              <a:rect l="l" t="t" r="r" b="b"/>
              <a:pathLst>
                <a:path w="10499282" h="2421359">
                  <a:moveTo>
                    <a:pt x="0" y="0"/>
                  </a:moveTo>
                  <a:lnTo>
                    <a:pt x="10499282" y="0"/>
                  </a:lnTo>
                  <a:lnTo>
                    <a:pt x="10499282" y="2421359"/>
                  </a:lnTo>
                  <a:lnTo>
                    <a:pt x="0" y="2421359"/>
                  </a:lnTo>
                  <a:lnTo>
                    <a:pt x="0" y="0"/>
                  </a:lnTo>
                  <a:close/>
                </a:path>
              </a:pathLst>
            </a:custGeom>
            <a:blipFill>
              <a:blip>
                <a:extLst>
                  <a:ext uri="{96DAC541-7B7A-43D3-8B79-37D633B846F1}">
                    <asvg:svgBlip xmlns:asvg="http://schemas.microsoft.com/office/drawing/2016/SVG/main" r:embed="rId2"/>
                  </a:ext>
                </a:extLst>
              </a:blip>
              <a:stretch>
                <a:fillRect t="-191997" b="-93374"/>
              </a:stretch>
            </a:blipFill>
          </p:spPr>
          <p:txBody>
            <a:bodyPr/>
            <a:lstStyle/>
            <a:p>
              <a:endParaRPr lang="fr-BE"/>
            </a:p>
          </p:txBody>
        </p:sp>
        <p:sp>
          <p:nvSpPr>
            <p:cNvPr id="9" name="AutoShape 9"/>
            <p:cNvSpPr/>
            <p:nvPr/>
          </p:nvSpPr>
          <p:spPr>
            <a:xfrm>
              <a:off x="9130627" y="1196261"/>
              <a:ext cx="3946233" cy="0"/>
            </a:xfrm>
            <a:prstGeom prst="line">
              <a:avLst/>
            </a:prstGeom>
            <a:ln w="50800" cap="flat">
              <a:solidFill>
                <a:srgbClr val="FCD20E"/>
              </a:solidFill>
              <a:prstDash val="solid"/>
              <a:headEnd type="none" w="sm" len="sm"/>
              <a:tailEnd type="triangle" w="lg" len="med"/>
            </a:ln>
          </p:spPr>
          <p:txBody>
            <a:bodyPr/>
            <a:lstStyle/>
            <a:p>
              <a:endParaRPr lang="fr-BE"/>
            </a:p>
          </p:txBody>
        </p:sp>
        <p:sp>
          <p:nvSpPr>
            <p:cNvPr id="10" name="TextBox 10"/>
            <p:cNvSpPr txBox="1"/>
            <p:nvPr/>
          </p:nvSpPr>
          <p:spPr>
            <a:xfrm>
              <a:off x="13568004" y="375936"/>
              <a:ext cx="6000912" cy="698149"/>
            </a:xfrm>
            <a:prstGeom prst="rect">
              <a:avLst/>
            </a:prstGeom>
          </p:spPr>
          <p:txBody>
            <a:bodyPr lIns="0" tIns="0" rIns="0" bIns="0" rtlCol="0" anchor="t">
              <a:spAutoFit/>
            </a:bodyPr>
            <a:lstStyle/>
            <a:p>
              <a:pPr algn="l">
                <a:lnSpc>
                  <a:spcPts val="4480"/>
                </a:lnSpc>
                <a:spcBef>
                  <a:spcPct val="0"/>
                </a:spcBef>
              </a:pPr>
              <a:r>
                <a:rPr lang="en-US" sz="3200" b="1">
                  <a:solidFill>
                    <a:srgbClr val="1E325C"/>
                  </a:solidFill>
                  <a:latin typeface="Open Sans Bold"/>
                  <a:ea typeface="Open Sans Bold"/>
                  <a:cs typeface="Open Sans Bold"/>
                  <a:sym typeface="Open Sans Bold"/>
                </a:rPr>
                <a:t>Risque limité</a:t>
              </a:r>
            </a:p>
          </p:txBody>
        </p:sp>
        <p:sp>
          <p:nvSpPr>
            <p:cNvPr id="11" name="TextBox 11"/>
            <p:cNvSpPr txBox="1"/>
            <p:nvPr/>
          </p:nvSpPr>
          <p:spPr>
            <a:xfrm>
              <a:off x="13568004" y="1261287"/>
              <a:ext cx="6463801" cy="698149"/>
            </a:xfrm>
            <a:prstGeom prst="rect">
              <a:avLst/>
            </a:prstGeom>
          </p:spPr>
          <p:txBody>
            <a:bodyPr lIns="0" tIns="0" rIns="0" bIns="0" rtlCol="0" anchor="t">
              <a:spAutoFit/>
            </a:bodyPr>
            <a:lstStyle/>
            <a:p>
              <a:pPr algn="l">
                <a:lnSpc>
                  <a:spcPts val="4480"/>
                </a:lnSpc>
                <a:spcBef>
                  <a:spcPct val="0"/>
                </a:spcBef>
              </a:pPr>
              <a:r>
                <a:rPr lang="en-US" sz="3200">
                  <a:solidFill>
                    <a:srgbClr val="1E325C"/>
                  </a:solidFill>
                  <a:latin typeface="Open Sans"/>
                  <a:ea typeface="Open Sans"/>
                  <a:cs typeface="Open Sans"/>
                  <a:sym typeface="Open Sans"/>
                </a:rPr>
                <a:t>Transparence obligatoire</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16523344" cy="762054"/>
          </a:xfrm>
          <a:prstGeom prst="rect">
            <a:avLst/>
          </a:prstGeom>
        </p:spPr>
        <p:txBody>
          <a:bodyPr lIns="0" tIns="0" rIns="0" bIns="0" rtlCol="0" anchor="t">
            <a:spAutoFit/>
          </a:bodyPr>
          <a:lstStyle/>
          <a:p>
            <a:pPr algn="l">
              <a:lnSpc>
                <a:spcPts val="6299"/>
              </a:lnSpc>
              <a:spcBef>
                <a:spcPct val="0"/>
              </a:spcBef>
            </a:pPr>
            <a:r>
              <a:rPr lang="en-US" sz="4500">
                <a:solidFill>
                  <a:srgbClr val="000000"/>
                </a:solidFill>
                <a:latin typeface="Open Sans"/>
                <a:ea typeface="Open Sans"/>
                <a:cs typeface="Open Sans"/>
                <a:sym typeface="Open Sans"/>
              </a:rPr>
              <a:t>AI Act : 4 niveaux de risque</a:t>
            </a:r>
          </a:p>
        </p:txBody>
      </p:sp>
      <p:sp>
        <p:nvSpPr>
          <p:cNvPr id="3" name="TextBox 3"/>
          <p:cNvSpPr txBox="1"/>
          <p:nvPr/>
        </p:nvSpPr>
        <p:spPr>
          <a:xfrm>
            <a:off x="1028700" y="5076825"/>
            <a:ext cx="6088408" cy="580363"/>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Open Sans Bold"/>
                <a:ea typeface="Open Sans Bold"/>
                <a:cs typeface="Open Sans Bold"/>
                <a:sym typeface="Open Sans Bold"/>
              </a:rPr>
              <a:t>À quoi ça s’applique ?</a:t>
            </a:r>
          </a:p>
        </p:txBody>
      </p:sp>
      <p:sp>
        <p:nvSpPr>
          <p:cNvPr id="4" name="TextBox 4"/>
          <p:cNvSpPr txBox="1"/>
          <p:nvPr/>
        </p:nvSpPr>
        <p:spPr>
          <a:xfrm>
            <a:off x="1028700" y="5779283"/>
            <a:ext cx="16230600" cy="1180411"/>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Open Sans"/>
                <a:ea typeface="Open Sans"/>
                <a:cs typeface="Open Sans"/>
                <a:sym typeface="Open Sans"/>
              </a:rPr>
              <a:t>Tous les usages d’IA qui ne relèvent pas des catégories interdites, à haut risque ou à transparence obligatoire.</a:t>
            </a:r>
          </a:p>
        </p:txBody>
      </p:sp>
      <p:sp>
        <p:nvSpPr>
          <p:cNvPr id="5" name="TextBox 5"/>
          <p:cNvSpPr txBox="1"/>
          <p:nvPr/>
        </p:nvSpPr>
        <p:spPr>
          <a:xfrm>
            <a:off x="1028700" y="7311989"/>
            <a:ext cx="6088408" cy="580363"/>
          </a:xfrm>
          <a:prstGeom prst="rect">
            <a:avLst/>
          </a:prstGeom>
        </p:spPr>
        <p:txBody>
          <a:bodyPr lIns="0" tIns="0" rIns="0" bIns="0" rtlCol="0" anchor="t">
            <a:spAutoFit/>
          </a:bodyPr>
          <a:lstStyle/>
          <a:p>
            <a:pPr algn="l">
              <a:lnSpc>
                <a:spcPts val="4759"/>
              </a:lnSpc>
              <a:spcBef>
                <a:spcPct val="0"/>
              </a:spcBef>
            </a:pPr>
            <a:r>
              <a:rPr lang="en-US" sz="3399" b="1">
                <a:solidFill>
                  <a:srgbClr val="000000"/>
                </a:solidFill>
                <a:latin typeface="Open Sans Bold"/>
                <a:ea typeface="Open Sans Bold"/>
                <a:cs typeface="Open Sans Bold"/>
                <a:sym typeface="Open Sans Bold"/>
              </a:rPr>
              <a:t>Exemples</a:t>
            </a:r>
          </a:p>
        </p:txBody>
      </p:sp>
      <p:sp>
        <p:nvSpPr>
          <p:cNvPr id="6" name="TextBox 6"/>
          <p:cNvSpPr txBox="1"/>
          <p:nvPr/>
        </p:nvSpPr>
        <p:spPr>
          <a:xfrm>
            <a:off x="1028700" y="7976100"/>
            <a:ext cx="16230600" cy="1180411"/>
          </a:xfrm>
          <a:prstGeom prst="rect">
            <a:avLst/>
          </a:prstGeom>
        </p:spPr>
        <p:txBody>
          <a:bodyPr lIns="0" tIns="0" rIns="0" bIns="0" rtlCol="0" anchor="t">
            <a:spAutoFit/>
          </a:bodyPr>
          <a:lstStyle/>
          <a:p>
            <a:pPr algn="l">
              <a:lnSpc>
                <a:spcPts val="4759"/>
              </a:lnSpc>
              <a:spcBef>
                <a:spcPct val="0"/>
              </a:spcBef>
            </a:pPr>
            <a:r>
              <a:rPr lang="en-US" sz="3399">
                <a:solidFill>
                  <a:srgbClr val="000000"/>
                </a:solidFill>
                <a:latin typeface="Open Sans"/>
                <a:ea typeface="Open Sans"/>
                <a:cs typeface="Open Sans"/>
                <a:sym typeface="Open Sans"/>
              </a:rPr>
              <a:t>Filtres anti-spam, recommandations de playlists ou de films, IA dans les jeux vidéo, correction automatique simple.</a:t>
            </a:r>
          </a:p>
        </p:txBody>
      </p:sp>
      <p:grpSp>
        <p:nvGrpSpPr>
          <p:cNvPr id="7" name="Group 7"/>
          <p:cNvGrpSpPr/>
          <p:nvPr/>
        </p:nvGrpSpPr>
        <p:grpSpPr>
          <a:xfrm>
            <a:off x="1805656" y="2462003"/>
            <a:ext cx="14676687" cy="1640664"/>
            <a:chOff x="0" y="0"/>
            <a:chExt cx="19568916" cy="2187552"/>
          </a:xfrm>
        </p:grpSpPr>
        <p:sp>
          <p:nvSpPr>
            <p:cNvPr id="8" name="Freeform 8"/>
            <p:cNvSpPr/>
            <p:nvPr/>
          </p:nvSpPr>
          <p:spPr>
            <a:xfrm>
              <a:off x="0" y="0"/>
              <a:ext cx="10499282" cy="2187552"/>
            </a:xfrm>
            <a:custGeom>
              <a:avLst/>
              <a:gdLst/>
              <a:ahLst/>
              <a:cxnLst/>
              <a:rect l="l" t="t" r="r" b="b"/>
              <a:pathLst>
                <a:path w="10499282" h="2187552">
                  <a:moveTo>
                    <a:pt x="0" y="0"/>
                  </a:moveTo>
                  <a:lnTo>
                    <a:pt x="10499282" y="0"/>
                  </a:lnTo>
                  <a:lnTo>
                    <a:pt x="10499282" y="2187552"/>
                  </a:lnTo>
                  <a:lnTo>
                    <a:pt x="0" y="2187552"/>
                  </a:lnTo>
                  <a:lnTo>
                    <a:pt x="0" y="0"/>
                  </a:lnTo>
                  <a:close/>
                </a:path>
              </a:pathLst>
            </a:custGeom>
            <a:blipFill>
              <a:blip>
                <a:extLst>
                  <a:ext uri="{96DAC541-7B7A-43D3-8B79-37D633B846F1}">
                    <asvg:svgBlip xmlns:asvg="http://schemas.microsoft.com/office/drawing/2016/SVG/main" r:embed="rId2"/>
                  </a:ext>
                </a:extLst>
              </a:blip>
              <a:stretch>
                <a:fillRect t="-326560"/>
              </a:stretch>
            </a:blipFill>
          </p:spPr>
          <p:txBody>
            <a:bodyPr/>
            <a:lstStyle/>
            <a:p>
              <a:endParaRPr lang="fr-BE"/>
            </a:p>
          </p:txBody>
        </p:sp>
        <p:sp>
          <p:nvSpPr>
            <p:cNvPr id="9" name="AutoShape 9"/>
            <p:cNvSpPr/>
            <p:nvPr/>
          </p:nvSpPr>
          <p:spPr>
            <a:xfrm>
              <a:off x="10499282" y="1090380"/>
              <a:ext cx="2577578" cy="0"/>
            </a:xfrm>
            <a:prstGeom prst="line">
              <a:avLst/>
            </a:prstGeom>
            <a:ln w="50800" cap="flat">
              <a:solidFill>
                <a:srgbClr val="3CBB08"/>
              </a:solidFill>
              <a:prstDash val="solid"/>
              <a:headEnd type="none" w="sm" len="sm"/>
              <a:tailEnd type="triangle" w="lg" len="med"/>
            </a:ln>
          </p:spPr>
          <p:txBody>
            <a:bodyPr/>
            <a:lstStyle/>
            <a:p>
              <a:endParaRPr lang="fr-BE"/>
            </a:p>
          </p:txBody>
        </p:sp>
        <p:sp>
          <p:nvSpPr>
            <p:cNvPr id="10" name="TextBox 10"/>
            <p:cNvSpPr txBox="1"/>
            <p:nvPr/>
          </p:nvSpPr>
          <p:spPr>
            <a:xfrm>
              <a:off x="13568004" y="270055"/>
              <a:ext cx="6000912" cy="698149"/>
            </a:xfrm>
            <a:prstGeom prst="rect">
              <a:avLst/>
            </a:prstGeom>
          </p:spPr>
          <p:txBody>
            <a:bodyPr lIns="0" tIns="0" rIns="0" bIns="0" rtlCol="0" anchor="t">
              <a:spAutoFit/>
            </a:bodyPr>
            <a:lstStyle/>
            <a:p>
              <a:pPr algn="l">
                <a:lnSpc>
                  <a:spcPts val="4480"/>
                </a:lnSpc>
                <a:spcBef>
                  <a:spcPct val="0"/>
                </a:spcBef>
              </a:pPr>
              <a:r>
                <a:rPr lang="en-US" sz="3200" b="1">
                  <a:solidFill>
                    <a:srgbClr val="1E325C"/>
                  </a:solidFill>
                  <a:latin typeface="Open Sans Bold"/>
                  <a:ea typeface="Open Sans Bold"/>
                  <a:cs typeface="Open Sans Bold"/>
                  <a:sym typeface="Open Sans Bold"/>
                </a:rPr>
                <a:t>Risque minimal</a:t>
              </a:r>
            </a:p>
          </p:txBody>
        </p:sp>
        <p:sp>
          <p:nvSpPr>
            <p:cNvPr id="11" name="TextBox 11"/>
            <p:cNvSpPr txBox="1"/>
            <p:nvPr/>
          </p:nvSpPr>
          <p:spPr>
            <a:xfrm>
              <a:off x="13568004" y="1155406"/>
              <a:ext cx="6000912" cy="698149"/>
            </a:xfrm>
            <a:prstGeom prst="rect">
              <a:avLst/>
            </a:prstGeom>
          </p:spPr>
          <p:txBody>
            <a:bodyPr lIns="0" tIns="0" rIns="0" bIns="0" rtlCol="0" anchor="t">
              <a:spAutoFit/>
            </a:bodyPr>
            <a:lstStyle/>
            <a:p>
              <a:pPr algn="l">
                <a:lnSpc>
                  <a:spcPts val="4480"/>
                </a:lnSpc>
                <a:spcBef>
                  <a:spcPct val="0"/>
                </a:spcBef>
              </a:pPr>
              <a:r>
                <a:rPr lang="en-US" sz="3200">
                  <a:solidFill>
                    <a:srgbClr val="1E325C"/>
                  </a:solidFill>
                  <a:latin typeface="Open Sans"/>
                  <a:ea typeface="Open Sans"/>
                  <a:cs typeface="Open Sans"/>
                  <a:sym typeface="Open Sans"/>
                </a:rPr>
                <a:t>Pas d’obligation</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16523344" cy="762054"/>
          </a:xfrm>
          <a:prstGeom prst="rect">
            <a:avLst/>
          </a:prstGeom>
        </p:spPr>
        <p:txBody>
          <a:bodyPr lIns="0" tIns="0" rIns="0" bIns="0" rtlCol="0" anchor="t">
            <a:spAutoFit/>
          </a:bodyPr>
          <a:lstStyle/>
          <a:p>
            <a:pPr algn="l">
              <a:lnSpc>
                <a:spcPts val="6299"/>
              </a:lnSpc>
              <a:spcBef>
                <a:spcPct val="0"/>
              </a:spcBef>
            </a:pPr>
            <a:r>
              <a:rPr lang="en-US" sz="4500" dirty="0">
                <a:solidFill>
                  <a:srgbClr val="000000"/>
                </a:solidFill>
                <a:latin typeface="Open Sans"/>
                <a:ea typeface="Open Sans"/>
                <a:cs typeface="Open Sans"/>
                <a:sym typeface="Open Sans"/>
              </a:rPr>
              <a:t>AI Act : obligations </a:t>
            </a:r>
            <a:r>
              <a:rPr lang="en-US" sz="4500" dirty="0" err="1">
                <a:solidFill>
                  <a:srgbClr val="000000"/>
                </a:solidFill>
                <a:latin typeface="Open Sans"/>
                <a:ea typeface="Open Sans"/>
                <a:cs typeface="Open Sans"/>
                <a:sym typeface="Open Sans"/>
              </a:rPr>
              <a:t>spécifiques</a:t>
            </a:r>
            <a:r>
              <a:rPr lang="en-US" sz="4500" dirty="0">
                <a:solidFill>
                  <a:srgbClr val="000000"/>
                </a:solidFill>
                <a:latin typeface="Open Sans"/>
                <a:ea typeface="Open Sans"/>
                <a:cs typeface="Open Sans"/>
                <a:sym typeface="Open Sans"/>
              </a:rPr>
              <a:t> pour les </a:t>
            </a:r>
            <a:r>
              <a:rPr lang="en-US" sz="4500" dirty="0" err="1">
                <a:solidFill>
                  <a:srgbClr val="000000"/>
                </a:solidFill>
                <a:latin typeface="Open Sans"/>
                <a:ea typeface="Open Sans"/>
                <a:cs typeface="Open Sans"/>
                <a:sym typeface="Open Sans"/>
              </a:rPr>
              <a:t>modèles</a:t>
            </a:r>
            <a:r>
              <a:rPr lang="en-US" sz="4500" dirty="0">
                <a:solidFill>
                  <a:srgbClr val="000000"/>
                </a:solidFill>
                <a:latin typeface="Open Sans"/>
                <a:ea typeface="Open Sans"/>
                <a:cs typeface="Open Sans"/>
                <a:sym typeface="Open Sans"/>
              </a:rPr>
              <a:t> GPAI</a:t>
            </a:r>
          </a:p>
        </p:txBody>
      </p:sp>
      <p:sp>
        <p:nvSpPr>
          <p:cNvPr id="3" name="TextBox 3"/>
          <p:cNvSpPr txBox="1"/>
          <p:nvPr/>
        </p:nvSpPr>
        <p:spPr>
          <a:xfrm>
            <a:off x="1706043" y="2159149"/>
            <a:ext cx="15553257" cy="2267352"/>
          </a:xfrm>
          <a:prstGeom prst="rect">
            <a:avLst/>
          </a:prstGeom>
        </p:spPr>
        <p:txBody>
          <a:bodyPr lIns="0" tIns="0" rIns="0" bIns="0" rtlCol="0" anchor="t">
            <a:spAutoFit/>
          </a:bodyPr>
          <a:lstStyle/>
          <a:p>
            <a:pPr algn="l">
              <a:lnSpc>
                <a:spcPts val="4480"/>
              </a:lnSpc>
            </a:pPr>
            <a:r>
              <a:rPr lang="en-US" sz="3200" b="1" dirty="0">
                <a:solidFill>
                  <a:srgbClr val="1E325C"/>
                </a:solidFill>
                <a:latin typeface="Open Sans Bold"/>
                <a:ea typeface="Open Sans Bold"/>
                <a:cs typeface="Open Sans Bold"/>
                <a:sym typeface="Open Sans Bold"/>
              </a:rPr>
              <a:t>General purpose AI (GPAI)</a:t>
            </a:r>
            <a:r>
              <a:rPr lang="en-US" sz="3200" dirty="0">
                <a:solidFill>
                  <a:srgbClr val="1E325C"/>
                </a:solidFill>
                <a:latin typeface="Open Sans"/>
                <a:ea typeface="Open Sans"/>
                <a:cs typeface="Open Sans"/>
                <a:sym typeface="Open Sans"/>
              </a:rPr>
              <a:t>: </a:t>
            </a:r>
            <a:r>
              <a:rPr lang="fr-FR" sz="3200" dirty="0">
                <a:solidFill>
                  <a:srgbClr val="1E325C"/>
                </a:solidFill>
                <a:latin typeface="Open Sans"/>
                <a:ea typeface="Open Sans"/>
                <a:cs typeface="Open Sans"/>
                <a:sym typeface="Open Sans"/>
              </a:rPr>
              <a:t>modèle polyvalent, entraîné à grande échelle, pouvant être intégré dans de nombreuses applications d’IA.</a:t>
            </a:r>
          </a:p>
          <a:p>
            <a:pPr algn="l">
              <a:lnSpc>
                <a:spcPts val="4480"/>
              </a:lnSpc>
            </a:pPr>
            <a:endParaRPr lang="en-US" sz="3200" dirty="0">
              <a:solidFill>
                <a:srgbClr val="1E325C"/>
              </a:solidFill>
              <a:latin typeface="Open Sans"/>
              <a:ea typeface="Open Sans"/>
              <a:cs typeface="Open Sans"/>
              <a:sym typeface="Open Sans"/>
            </a:endParaRPr>
          </a:p>
          <a:p>
            <a:pPr>
              <a:lnSpc>
                <a:spcPts val="4480"/>
              </a:lnSpc>
              <a:spcBef>
                <a:spcPct val="0"/>
              </a:spcBef>
            </a:pP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Exemples</a:t>
            </a:r>
            <a:r>
              <a:rPr lang="en-US" sz="3200" dirty="0">
                <a:solidFill>
                  <a:srgbClr val="1E325C"/>
                </a:solidFill>
                <a:latin typeface="Open Sans"/>
                <a:ea typeface="Open Sans"/>
                <a:cs typeface="Open Sans"/>
                <a:sym typeface="Open Sans"/>
              </a:rPr>
              <a:t> : LLMs, </a:t>
            </a:r>
            <a:r>
              <a:rPr lang="en-US" sz="3200" dirty="0" err="1">
                <a:solidFill>
                  <a:srgbClr val="1E325C"/>
                </a:solidFill>
                <a:latin typeface="Open Sans"/>
                <a:ea typeface="Open Sans"/>
                <a:cs typeface="Open Sans"/>
                <a:sym typeface="Open Sans"/>
              </a:rPr>
              <a:t>modèles</a:t>
            </a:r>
            <a:r>
              <a:rPr lang="en-US" sz="3200" dirty="0">
                <a:solidFill>
                  <a:srgbClr val="1E325C"/>
                </a:solidFill>
                <a:latin typeface="Open Sans"/>
                <a:ea typeface="Open Sans"/>
                <a:cs typeface="Open Sans"/>
                <a:sym typeface="Open Sans"/>
              </a:rPr>
              <a:t> </a:t>
            </a:r>
            <a:r>
              <a:rPr lang="fr-FR" sz="3200" dirty="0">
                <a:solidFill>
                  <a:srgbClr val="1E325C"/>
                </a:solidFill>
                <a:latin typeface="Open Sans"/>
                <a:ea typeface="Open Sans"/>
                <a:cs typeface="Open Sans"/>
                <a:sym typeface="Open Sans"/>
              </a:rPr>
              <a:t>génératifs de texte, d’images, de code ou de</a:t>
            </a:r>
            <a:r>
              <a:rPr lang="en-US" sz="3200" dirty="0">
                <a:solidFill>
                  <a:srgbClr val="1E325C"/>
                </a:solidFill>
                <a:latin typeface="Open Sans"/>
                <a:ea typeface="Open Sans"/>
                <a:cs typeface="Open Sans"/>
                <a:sym typeface="Open Sans"/>
              </a:rPr>
              <a:t> son.</a:t>
            </a:r>
          </a:p>
        </p:txBody>
      </p:sp>
      <p:sp>
        <p:nvSpPr>
          <p:cNvPr id="4" name="TextBox 4"/>
          <p:cNvSpPr txBox="1"/>
          <p:nvPr/>
        </p:nvSpPr>
        <p:spPr>
          <a:xfrm>
            <a:off x="1706043" y="5420795"/>
            <a:ext cx="15553257" cy="3988015"/>
          </a:xfrm>
          <a:prstGeom prst="rect">
            <a:avLst/>
          </a:prstGeom>
        </p:spPr>
        <p:txBody>
          <a:bodyPr lIns="0" tIns="0" rIns="0" bIns="0" rtlCol="0" anchor="t">
            <a:spAutoFit/>
          </a:bodyPr>
          <a:lstStyle/>
          <a:p>
            <a:pPr algn="l">
              <a:lnSpc>
                <a:spcPts val="4480"/>
              </a:lnSpc>
            </a:pPr>
            <a:r>
              <a:rPr lang="en-US" sz="3200" b="1" dirty="0" err="1">
                <a:solidFill>
                  <a:srgbClr val="1E325C"/>
                </a:solidFill>
                <a:latin typeface="Open Sans Bold"/>
                <a:ea typeface="Open Sans Bold"/>
                <a:cs typeface="Open Sans Bold"/>
                <a:sym typeface="Open Sans Bold"/>
              </a:rPr>
              <a:t>Règles</a:t>
            </a:r>
            <a:r>
              <a:rPr lang="en-US" sz="3200" b="1" dirty="0">
                <a:solidFill>
                  <a:srgbClr val="1E325C"/>
                </a:solidFill>
                <a:latin typeface="Open Sans Bold"/>
                <a:ea typeface="Open Sans Bold"/>
                <a:cs typeface="Open Sans Bold"/>
                <a:sym typeface="Open Sans Bold"/>
              </a:rPr>
              <a:t> pour les </a:t>
            </a:r>
            <a:r>
              <a:rPr lang="en-US" sz="3200" b="1" dirty="0" err="1">
                <a:solidFill>
                  <a:srgbClr val="1E325C"/>
                </a:solidFill>
                <a:latin typeface="Open Sans Bold"/>
                <a:ea typeface="Open Sans Bold"/>
                <a:cs typeface="Open Sans Bold"/>
                <a:sym typeface="Open Sans Bold"/>
              </a:rPr>
              <a:t>fournisseurs</a:t>
            </a:r>
            <a:r>
              <a:rPr lang="en-US" sz="3200" b="1" dirty="0">
                <a:solidFill>
                  <a:srgbClr val="1E325C"/>
                </a:solidFill>
                <a:latin typeface="Open Sans Bold"/>
                <a:ea typeface="Open Sans Bold"/>
                <a:cs typeface="Open Sans Bold"/>
                <a:sym typeface="Open Sans Bold"/>
              </a:rPr>
              <a:t> de GPAI :</a:t>
            </a:r>
          </a:p>
          <a:p>
            <a:pPr marL="457200" indent="-457200" algn="l">
              <a:lnSpc>
                <a:spcPts val="4480"/>
              </a:lnSpc>
              <a:spcBef>
                <a:spcPct val="0"/>
              </a:spcBef>
              <a:buFont typeface="Arial" panose="020B0604020202020204" pitchFamily="34" charset="0"/>
              <a:buChar char="•"/>
            </a:pPr>
            <a:r>
              <a:rPr lang="fr-FR" sz="2800" dirty="0">
                <a:solidFill>
                  <a:srgbClr val="1E325C"/>
                </a:solidFill>
                <a:latin typeface="Open Sans"/>
                <a:ea typeface="Open Sans"/>
                <a:cs typeface="Open Sans"/>
                <a:sym typeface="Open Sans"/>
              </a:rPr>
              <a:t>Documenter le modèle.</a:t>
            </a:r>
          </a:p>
          <a:p>
            <a:pPr marL="457200" indent="-457200" algn="l">
              <a:lnSpc>
                <a:spcPts val="4480"/>
              </a:lnSpc>
              <a:spcBef>
                <a:spcPct val="0"/>
              </a:spcBef>
              <a:buFont typeface="Arial" panose="020B0604020202020204" pitchFamily="34" charset="0"/>
              <a:buChar char="•"/>
            </a:pPr>
            <a:r>
              <a:rPr lang="fr-FR" sz="2800" dirty="0">
                <a:solidFill>
                  <a:srgbClr val="1E325C"/>
                </a:solidFill>
                <a:latin typeface="Open Sans"/>
                <a:ea typeface="Open Sans"/>
                <a:cs typeface="Open Sans"/>
                <a:sym typeface="Open Sans"/>
              </a:rPr>
              <a:t>Informer les acteurs qui l’intègrent.</a:t>
            </a:r>
          </a:p>
          <a:p>
            <a:pPr marL="457200" indent="-457200" algn="l">
              <a:lnSpc>
                <a:spcPts val="4480"/>
              </a:lnSpc>
              <a:spcBef>
                <a:spcPct val="0"/>
              </a:spcBef>
              <a:buFont typeface="Arial" panose="020B0604020202020204" pitchFamily="34" charset="0"/>
              <a:buChar char="•"/>
            </a:pPr>
            <a:r>
              <a:rPr lang="fr-FR" sz="2800" dirty="0">
                <a:solidFill>
                  <a:srgbClr val="1E325C"/>
                </a:solidFill>
                <a:latin typeface="Open Sans"/>
                <a:ea typeface="Open Sans"/>
                <a:cs typeface="Open Sans"/>
                <a:sym typeface="Open Sans"/>
              </a:rPr>
              <a:t>Respecter le droit d’auteur.</a:t>
            </a:r>
          </a:p>
          <a:p>
            <a:pPr marL="457200" indent="-457200" algn="l">
              <a:lnSpc>
                <a:spcPts val="4480"/>
              </a:lnSpc>
              <a:spcBef>
                <a:spcPct val="0"/>
              </a:spcBef>
              <a:buFont typeface="Arial" panose="020B0604020202020204" pitchFamily="34" charset="0"/>
              <a:buChar char="•"/>
            </a:pPr>
            <a:r>
              <a:rPr lang="fr-FR" sz="2800" dirty="0">
                <a:solidFill>
                  <a:srgbClr val="1E325C"/>
                </a:solidFill>
                <a:latin typeface="Open Sans"/>
                <a:ea typeface="Open Sans"/>
                <a:cs typeface="Open Sans"/>
                <a:sym typeface="Open Sans"/>
              </a:rPr>
              <a:t>Publier un résumé des données d’entraînement.</a:t>
            </a:r>
          </a:p>
          <a:p>
            <a:pPr marL="457200" indent="-457200" algn="l">
              <a:lnSpc>
                <a:spcPts val="4480"/>
              </a:lnSpc>
              <a:spcBef>
                <a:spcPct val="0"/>
              </a:spcBef>
              <a:buFont typeface="Arial" panose="020B0604020202020204" pitchFamily="34" charset="0"/>
              <a:buChar char="•"/>
            </a:pPr>
            <a:r>
              <a:rPr lang="fr-FR" sz="2800" dirty="0">
                <a:solidFill>
                  <a:srgbClr val="1E325C"/>
                </a:solidFill>
                <a:latin typeface="Open Sans"/>
                <a:ea typeface="Open Sans"/>
                <a:cs typeface="Open Sans"/>
                <a:sym typeface="Open Sans"/>
              </a:rPr>
              <a:t>Pour les GPAI les plus puissants : tests renforcés, gestion des risques, cybersécurité et signalement des incidents.</a:t>
            </a:r>
            <a:endParaRPr lang="en-US" sz="2800" dirty="0">
              <a:solidFill>
                <a:srgbClr val="1E325C"/>
              </a:solidFill>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E325C"/>
        </a:solidFill>
        <a:effectLst/>
      </p:bgPr>
    </p:bg>
    <p:spTree>
      <p:nvGrpSpPr>
        <p:cNvPr id="1" name=""/>
        <p:cNvGrpSpPr/>
        <p:nvPr/>
      </p:nvGrpSpPr>
      <p:grpSpPr>
        <a:xfrm>
          <a:off x="0" y="0"/>
          <a:ext cx="0" cy="0"/>
          <a:chOff x="0" y="0"/>
          <a:chExt cx="0" cy="0"/>
        </a:xfrm>
      </p:grpSpPr>
      <p:sp>
        <p:nvSpPr>
          <p:cNvPr id="2" name="TextBox 2"/>
          <p:cNvSpPr txBox="1"/>
          <p:nvPr/>
        </p:nvSpPr>
        <p:spPr>
          <a:xfrm>
            <a:off x="4699106" y="4486937"/>
            <a:ext cx="8889789" cy="1170251"/>
          </a:xfrm>
          <a:prstGeom prst="rect">
            <a:avLst/>
          </a:prstGeom>
        </p:spPr>
        <p:txBody>
          <a:bodyPr lIns="0" tIns="0" rIns="0" bIns="0" rtlCol="0" anchor="t">
            <a:spAutoFit/>
          </a:bodyPr>
          <a:lstStyle/>
          <a:p>
            <a:pPr algn="ctr">
              <a:lnSpc>
                <a:spcPts val="9520"/>
              </a:lnSpc>
              <a:spcBef>
                <a:spcPct val="0"/>
              </a:spcBef>
            </a:pPr>
            <a:r>
              <a:rPr lang="en-US" sz="6800" b="1" dirty="0" err="1">
                <a:solidFill>
                  <a:srgbClr val="FFFFFF"/>
                </a:solidFill>
                <a:latin typeface="Open Sans Bold"/>
                <a:ea typeface="Open Sans Bold"/>
                <a:cs typeface="Open Sans Bold"/>
                <a:sym typeface="Open Sans Bold"/>
              </a:rPr>
              <a:t>Gouvernance</a:t>
            </a:r>
            <a:r>
              <a:rPr lang="en-US" sz="6800" b="1" dirty="0">
                <a:solidFill>
                  <a:srgbClr val="FFFFFF"/>
                </a:solidFill>
                <a:latin typeface="Open Sans Bold"/>
                <a:ea typeface="Open Sans Bold"/>
                <a:cs typeface="Open Sans Bold"/>
                <a:sym typeface="Open Sans Bold"/>
              </a:rPr>
              <a:t> de </a:t>
            </a:r>
            <a:r>
              <a:rPr lang="en-US" sz="6800" b="1" dirty="0" err="1">
                <a:solidFill>
                  <a:srgbClr val="FFFFFF"/>
                </a:solidFill>
                <a:latin typeface="Open Sans Bold"/>
                <a:ea typeface="Open Sans Bold"/>
                <a:cs typeface="Open Sans Bold"/>
                <a:sym typeface="Open Sans Bold"/>
              </a:rPr>
              <a:t>l’IA</a:t>
            </a:r>
            <a:endParaRPr lang="en-US" sz="6800" b="1" dirty="0">
              <a:solidFill>
                <a:srgbClr val="FFFFFF"/>
              </a:solidFill>
              <a:latin typeface="Open Sans Bold"/>
              <a:ea typeface="Open Sans Bold"/>
              <a:cs typeface="Open Sans Bold"/>
              <a:sym typeface="Open Sans Bo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05612" y="2045184"/>
            <a:ext cx="6688683" cy="7433240"/>
            <a:chOff x="0" y="0"/>
            <a:chExt cx="1761628" cy="1957726"/>
          </a:xfrm>
        </p:grpSpPr>
        <p:sp>
          <p:nvSpPr>
            <p:cNvPr id="3" name="Freeform 3"/>
            <p:cNvSpPr/>
            <p:nvPr/>
          </p:nvSpPr>
          <p:spPr>
            <a:xfrm>
              <a:off x="0" y="0"/>
              <a:ext cx="1761629" cy="1957726"/>
            </a:xfrm>
            <a:custGeom>
              <a:avLst/>
              <a:gdLst/>
              <a:ahLst/>
              <a:cxnLst/>
              <a:rect l="l" t="t" r="r" b="b"/>
              <a:pathLst>
                <a:path w="1761629" h="1957726">
                  <a:moveTo>
                    <a:pt x="59031" y="0"/>
                  </a:moveTo>
                  <a:lnTo>
                    <a:pt x="1702598" y="0"/>
                  </a:lnTo>
                  <a:cubicBezTo>
                    <a:pt x="1718254" y="0"/>
                    <a:pt x="1733268" y="6219"/>
                    <a:pt x="1744339" y="17290"/>
                  </a:cubicBezTo>
                  <a:cubicBezTo>
                    <a:pt x="1755409" y="28360"/>
                    <a:pt x="1761629" y="43375"/>
                    <a:pt x="1761629" y="59031"/>
                  </a:cubicBezTo>
                  <a:lnTo>
                    <a:pt x="1761629" y="1898695"/>
                  </a:lnTo>
                  <a:cubicBezTo>
                    <a:pt x="1761629" y="1914351"/>
                    <a:pt x="1755409" y="1929366"/>
                    <a:pt x="1744339" y="1940436"/>
                  </a:cubicBezTo>
                  <a:cubicBezTo>
                    <a:pt x="1733268" y="1951507"/>
                    <a:pt x="1718254" y="1957726"/>
                    <a:pt x="1702598" y="1957726"/>
                  </a:cubicBezTo>
                  <a:lnTo>
                    <a:pt x="59031" y="1957726"/>
                  </a:lnTo>
                  <a:cubicBezTo>
                    <a:pt x="43375" y="1957726"/>
                    <a:pt x="28360" y="1951507"/>
                    <a:pt x="17290" y="1940436"/>
                  </a:cubicBezTo>
                  <a:cubicBezTo>
                    <a:pt x="6219" y="1929366"/>
                    <a:pt x="0" y="1914351"/>
                    <a:pt x="0" y="1898695"/>
                  </a:cubicBezTo>
                  <a:lnTo>
                    <a:pt x="0" y="59031"/>
                  </a:lnTo>
                  <a:cubicBezTo>
                    <a:pt x="0" y="43375"/>
                    <a:pt x="6219" y="28360"/>
                    <a:pt x="17290" y="17290"/>
                  </a:cubicBezTo>
                  <a:cubicBezTo>
                    <a:pt x="28360" y="6219"/>
                    <a:pt x="43375" y="0"/>
                    <a:pt x="59031" y="0"/>
                  </a:cubicBezTo>
                  <a:close/>
                </a:path>
              </a:pathLst>
            </a:custGeom>
            <a:solidFill>
              <a:srgbClr val="EAF3FF"/>
            </a:solidFill>
            <a:ln w="38100" cap="rnd">
              <a:solidFill>
                <a:srgbClr val="000000"/>
              </a:solidFill>
              <a:prstDash val="solid"/>
              <a:round/>
            </a:ln>
          </p:spPr>
          <p:txBody>
            <a:bodyPr/>
            <a:lstStyle/>
            <a:p>
              <a:endParaRPr lang="fr-BE"/>
            </a:p>
          </p:txBody>
        </p:sp>
        <p:sp>
          <p:nvSpPr>
            <p:cNvPr id="4" name="TextBox 4"/>
            <p:cNvSpPr txBox="1"/>
            <p:nvPr/>
          </p:nvSpPr>
          <p:spPr>
            <a:xfrm>
              <a:off x="0" y="-38100"/>
              <a:ext cx="1761628" cy="1995826"/>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159674" y="4936340"/>
            <a:ext cx="5580560" cy="4216131"/>
            <a:chOff x="0" y="0"/>
            <a:chExt cx="1469777" cy="1110421"/>
          </a:xfrm>
        </p:grpSpPr>
        <p:sp>
          <p:nvSpPr>
            <p:cNvPr id="6" name="Freeform 6"/>
            <p:cNvSpPr/>
            <p:nvPr/>
          </p:nvSpPr>
          <p:spPr>
            <a:xfrm>
              <a:off x="0" y="0"/>
              <a:ext cx="1469777" cy="1110421"/>
            </a:xfrm>
            <a:custGeom>
              <a:avLst/>
              <a:gdLst/>
              <a:ahLst/>
              <a:cxnLst/>
              <a:rect l="l" t="t" r="r" b="b"/>
              <a:pathLst>
                <a:path w="1469777" h="1110421">
                  <a:moveTo>
                    <a:pt x="70752" y="0"/>
                  </a:moveTo>
                  <a:lnTo>
                    <a:pt x="1399025" y="0"/>
                  </a:lnTo>
                  <a:cubicBezTo>
                    <a:pt x="1417790" y="0"/>
                    <a:pt x="1435786" y="7454"/>
                    <a:pt x="1449054" y="20723"/>
                  </a:cubicBezTo>
                  <a:cubicBezTo>
                    <a:pt x="1462323" y="33992"/>
                    <a:pt x="1469777" y="51988"/>
                    <a:pt x="1469777" y="70752"/>
                  </a:cubicBezTo>
                  <a:lnTo>
                    <a:pt x="1469777" y="1039669"/>
                  </a:lnTo>
                  <a:cubicBezTo>
                    <a:pt x="1469777" y="1058434"/>
                    <a:pt x="1462323" y="1076430"/>
                    <a:pt x="1449054" y="1089699"/>
                  </a:cubicBezTo>
                  <a:cubicBezTo>
                    <a:pt x="1435786" y="1102967"/>
                    <a:pt x="1417790" y="1110421"/>
                    <a:pt x="1399025" y="1110421"/>
                  </a:cubicBezTo>
                  <a:lnTo>
                    <a:pt x="70752" y="1110421"/>
                  </a:lnTo>
                  <a:cubicBezTo>
                    <a:pt x="51988" y="1110421"/>
                    <a:pt x="33992" y="1102967"/>
                    <a:pt x="20723" y="1089699"/>
                  </a:cubicBezTo>
                  <a:cubicBezTo>
                    <a:pt x="7454" y="1076430"/>
                    <a:pt x="0" y="1058434"/>
                    <a:pt x="0" y="1039669"/>
                  </a:cubicBezTo>
                  <a:lnTo>
                    <a:pt x="0" y="70752"/>
                  </a:lnTo>
                  <a:cubicBezTo>
                    <a:pt x="0" y="51988"/>
                    <a:pt x="7454" y="33992"/>
                    <a:pt x="20723" y="20723"/>
                  </a:cubicBezTo>
                  <a:cubicBezTo>
                    <a:pt x="33992" y="7454"/>
                    <a:pt x="51988" y="0"/>
                    <a:pt x="70752" y="0"/>
                  </a:cubicBezTo>
                  <a:close/>
                </a:path>
              </a:pathLst>
            </a:custGeom>
            <a:solidFill>
              <a:srgbClr val="FFFFFF"/>
            </a:solidFill>
            <a:ln cap="rnd">
              <a:noFill/>
              <a:prstDash val="solid"/>
              <a:round/>
            </a:ln>
          </p:spPr>
          <p:txBody>
            <a:bodyPr/>
            <a:lstStyle/>
            <a:p>
              <a:endParaRPr lang="fr-BE"/>
            </a:p>
          </p:txBody>
        </p:sp>
        <p:sp>
          <p:nvSpPr>
            <p:cNvPr id="7" name="TextBox 7"/>
            <p:cNvSpPr txBox="1"/>
            <p:nvPr/>
          </p:nvSpPr>
          <p:spPr>
            <a:xfrm>
              <a:off x="0" y="-38100"/>
              <a:ext cx="1469777" cy="1148521"/>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2159674" y="2325835"/>
            <a:ext cx="1482056" cy="1482056"/>
          </a:xfrm>
          <a:custGeom>
            <a:avLst/>
            <a:gdLst/>
            <a:ahLst/>
            <a:cxnLst/>
            <a:rect l="l" t="t" r="r" b="b"/>
            <a:pathLst>
              <a:path w="1482056" h="1482056">
                <a:moveTo>
                  <a:pt x="0" y="0"/>
                </a:moveTo>
                <a:lnTo>
                  <a:pt x="1482055" y="0"/>
                </a:lnTo>
                <a:lnTo>
                  <a:pt x="1482055" y="1482056"/>
                </a:lnTo>
                <a:lnTo>
                  <a:pt x="0" y="148205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fr-BE"/>
          </a:p>
        </p:txBody>
      </p:sp>
      <p:grpSp>
        <p:nvGrpSpPr>
          <p:cNvPr id="9" name="Group 9"/>
          <p:cNvGrpSpPr/>
          <p:nvPr/>
        </p:nvGrpSpPr>
        <p:grpSpPr>
          <a:xfrm>
            <a:off x="10040162" y="2045184"/>
            <a:ext cx="6688683" cy="7433240"/>
            <a:chOff x="0" y="0"/>
            <a:chExt cx="1761628" cy="1957726"/>
          </a:xfrm>
        </p:grpSpPr>
        <p:sp>
          <p:nvSpPr>
            <p:cNvPr id="10" name="Freeform 10"/>
            <p:cNvSpPr/>
            <p:nvPr/>
          </p:nvSpPr>
          <p:spPr>
            <a:xfrm>
              <a:off x="0" y="0"/>
              <a:ext cx="1761629" cy="1957726"/>
            </a:xfrm>
            <a:custGeom>
              <a:avLst/>
              <a:gdLst/>
              <a:ahLst/>
              <a:cxnLst/>
              <a:rect l="l" t="t" r="r" b="b"/>
              <a:pathLst>
                <a:path w="1761629" h="1957726">
                  <a:moveTo>
                    <a:pt x="59031" y="0"/>
                  </a:moveTo>
                  <a:lnTo>
                    <a:pt x="1702598" y="0"/>
                  </a:lnTo>
                  <a:cubicBezTo>
                    <a:pt x="1718254" y="0"/>
                    <a:pt x="1733268" y="6219"/>
                    <a:pt x="1744339" y="17290"/>
                  </a:cubicBezTo>
                  <a:cubicBezTo>
                    <a:pt x="1755409" y="28360"/>
                    <a:pt x="1761629" y="43375"/>
                    <a:pt x="1761629" y="59031"/>
                  </a:cubicBezTo>
                  <a:lnTo>
                    <a:pt x="1761629" y="1898695"/>
                  </a:lnTo>
                  <a:cubicBezTo>
                    <a:pt x="1761629" y="1914351"/>
                    <a:pt x="1755409" y="1929366"/>
                    <a:pt x="1744339" y="1940436"/>
                  </a:cubicBezTo>
                  <a:cubicBezTo>
                    <a:pt x="1733268" y="1951507"/>
                    <a:pt x="1718254" y="1957726"/>
                    <a:pt x="1702598" y="1957726"/>
                  </a:cubicBezTo>
                  <a:lnTo>
                    <a:pt x="59031" y="1957726"/>
                  </a:lnTo>
                  <a:cubicBezTo>
                    <a:pt x="43375" y="1957726"/>
                    <a:pt x="28360" y="1951507"/>
                    <a:pt x="17290" y="1940436"/>
                  </a:cubicBezTo>
                  <a:cubicBezTo>
                    <a:pt x="6219" y="1929366"/>
                    <a:pt x="0" y="1914351"/>
                    <a:pt x="0" y="1898695"/>
                  </a:cubicBezTo>
                  <a:lnTo>
                    <a:pt x="0" y="59031"/>
                  </a:lnTo>
                  <a:cubicBezTo>
                    <a:pt x="0" y="43375"/>
                    <a:pt x="6219" y="28360"/>
                    <a:pt x="17290" y="17290"/>
                  </a:cubicBezTo>
                  <a:cubicBezTo>
                    <a:pt x="28360" y="6219"/>
                    <a:pt x="43375" y="0"/>
                    <a:pt x="59031" y="0"/>
                  </a:cubicBezTo>
                  <a:close/>
                </a:path>
              </a:pathLst>
            </a:custGeom>
            <a:solidFill>
              <a:srgbClr val="EAF3FF"/>
            </a:solidFill>
            <a:ln w="38100" cap="rnd">
              <a:solidFill>
                <a:srgbClr val="000000"/>
              </a:solidFill>
              <a:prstDash val="solid"/>
              <a:round/>
            </a:ln>
          </p:spPr>
          <p:txBody>
            <a:bodyPr/>
            <a:lstStyle/>
            <a:p>
              <a:endParaRPr lang="fr-BE"/>
            </a:p>
          </p:txBody>
        </p:sp>
        <p:sp>
          <p:nvSpPr>
            <p:cNvPr id="11" name="TextBox 11"/>
            <p:cNvSpPr txBox="1"/>
            <p:nvPr/>
          </p:nvSpPr>
          <p:spPr>
            <a:xfrm>
              <a:off x="0" y="-38100"/>
              <a:ext cx="1761628" cy="1995826"/>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594223" y="2363895"/>
            <a:ext cx="1323390" cy="1323390"/>
          </a:xfrm>
          <a:custGeom>
            <a:avLst/>
            <a:gdLst/>
            <a:ahLst/>
            <a:cxnLst/>
            <a:rect l="l" t="t" r="r" b="b"/>
            <a:pathLst>
              <a:path w="1323390" h="1323390">
                <a:moveTo>
                  <a:pt x="0" y="0"/>
                </a:moveTo>
                <a:lnTo>
                  <a:pt x="1323390" y="0"/>
                </a:lnTo>
                <a:lnTo>
                  <a:pt x="1323390" y="1323390"/>
                </a:lnTo>
                <a:lnTo>
                  <a:pt x="0" y="132339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fr-BE"/>
          </a:p>
        </p:txBody>
      </p:sp>
      <p:sp>
        <p:nvSpPr>
          <p:cNvPr id="13" name="TextBox 13"/>
          <p:cNvSpPr txBox="1"/>
          <p:nvPr/>
        </p:nvSpPr>
        <p:spPr>
          <a:xfrm>
            <a:off x="735956" y="659116"/>
            <a:ext cx="16523344" cy="762054"/>
          </a:xfrm>
          <a:prstGeom prst="rect">
            <a:avLst/>
          </a:prstGeom>
        </p:spPr>
        <p:txBody>
          <a:bodyPr lIns="0" tIns="0" rIns="0" bIns="0" rtlCol="0" anchor="t">
            <a:spAutoFit/>
          </a:bodyPr>
          <a:lstStyle/>
          <a:p>
            <a:pPr algn="l">
              <a:lnSpc>
                <a:spcPts val="6299"/>
              </a:lnSpc>
              <a:spcBef>
                <a:spcPct val="0"/>
              </a:spcBef>
            </a:pPr>
            <a:r>
              <a:rPr lang="en-US" sz="4500" dirty="0" err="1">
                <a:solidFill>
                  <a:srgbClr val="000000"/>
                </a:solidFill>
                <a:latin typeface="Open Sans"/>
                <a:ea typeface="Open Sans"/>
                <a:cs typeface="Open Sans"/>
                <a:sym typeface="Open Sans"/>
              </a:rPr>
              <a:t>Gouvernance</a:t>
            </a:r>
            <a:r>
              <a:rPr lang="en-US" sz="4500" dirty="0">
                <a:solidFill>
                  <a:srgbClr val="000000"/>
                </a:solidFill>
                <a:latin typeface="Open Sans"/>
                <a:ea typeface="Open Sans"/>
                <a:cs typeface="Open Sans"/>
                <a:sym typeface="Open Sans"/>
              </a:rPr>
              <a:t> de </a:t>
            </a:r>
            <a:r>
              <a:rPr lang="en-US" sz="4500" dirty="0" err="1">
                <a:solidFill>
                  <a:srgbClr val="000000"/>
                </a:solidFill>
                <a:latin typeface="Open Sans"/>
                <a:ea typeface="Open Sans"/>
                <a:cs typeface="Open Sans"/>
                <a:sym typeface="Open Sans"/>
              </a:rPr>
              <a:t>l’IA</a:t>
            </a:r>
            <a:r>
              <a:rPr lang="en-US" sz="4500" dirty="0">
                <a:solidFill>
                  <a:srgbClr val="000000"/>
                </a:solidFill>
                <a:latin typeface="Open Sans"/>
                <a:ea typeface="Open Sans"/>
                <a:cs typeface="Open Sans"/>
                <a:sym typeface="Open Sans"/>
              </a:rPr>
              <a:t> : Qui est responsible de quoi ?</a:t>
            </a:r>
          </a:p>
        </p:txBody>
      </p:sp>
      <p:sp>
        <p:nvSpPr>
          <p:cNvPr id="14" name="TextBox 14"/>
          <p:cNvSpPr txBox="1"/>
          <p:nvPr/>
        </p:nvSpPr>
        <p:spPr>
          <a:xfrm>
            <a:off x="3705102" y="2705548"/>
            <a:ext cx="2489704" cy="646430"/>
          </a:xfrm>
          <a:prstGeom prst="rect">
            <a:avLst/>
          </a:prstGeom>
        </p:spPr>
        <p:txBody>
          <a:bodyPr lIns="0" tIns="0" rIns="0" bIns="0" rtlCol="0" anchor="t">
            <a:spAutoFit/>
          </a:bodyPr>
          <a:lstStyle/>
          <a:p>
            <a:pPr algn="ctr">
              <a:lnSpc>
                <a:spcPts val="5320"/>
              </a:lnSpc>
              <a:spcBef>
                <a:spcPct val="0"/>
              </a:spcBef>
            </a:pPr>
            <a:r>
              <a:rPr lang="en-US" sz="3800" b="1">
                <a:solidFill>
                  <a:srgbClr val="1E325C"/>
                </a:solidFill>
                <a:latin typeface="Open Sans Bold"/>
                <a:ea typeface="Open Sans Bold"/>
                <a:cs typeface="Open Sans Bold"/>
                <a:sym typeface="Open Sans Bold"/>
              </a:rPr>
              <a:t>Provider</a:t>
            </a:r>
          </a:p>
        </p:txBody>
      </p:sp>
      <p:sp>
        <p:nvSpPr>
          <p:cNvPr id="15" name="TextBox 15"/>
          <p:cNvSpPr txBox="1"/>
          <p:nvPr/>
        </p:nvSpPr>
        <p:spPr>
          <a:xfrm>
            <a:off x="1826802" y="4074591"/>
            <a:ext cx="6246304" cy="537899"/>
          </a:xfrm>
          <a:prstGeom prst="rect">
            <a:avLst/>
          </a:prstGeom>
        </p:spPr>
        <p:txBody>
          <a:bodyPr lIns="0" tIns="0" rIns="0" bIns="0" rtlCol="0" anchor="t">
            <a:spAutoFit/>
          </a:bodyPr>
          <a:lstStyle/>
          <a:p>
            <a:pPr algn="ctr">
              <a:lnSpc>
                <a:spcPts val="4479"/>
              </a:lnSpc>
              <a:spcBef>
                <a:spcPct val="0"/>
              </a:spcBef>
            </a:pPr>
            <a:r>
              <a:rPr lang="en-US" sz="3199">
                <a:solidFill>
                  <a:srgbClr val="000000"/>
                </a:solidFill>
                <a:latin typeface="Open Sans"/>
                <a:ea typeface="Open Sans"/>
                <a:cs typeface="Open Sans"/>
                <a:sym typeface="Open Sans"/>
              </a:rPr>
              <a:t>Conçoit et met sur le marché l’IA</a:t>
            </a:r>
          </a:p>
        </p:txBody>
      </p:sp>
      <p:grpSp>
        <p:nvGrpSpPr>
          <p:cNvPr id="16" name="Group 16"/>
          <p:cNvGrpSpPr/>
          <p:nvPr/>
        </p:nvGrpSpPr>
        <p:grpSpPr>
          <a:xfrm>
            <a:off x="2418384" y="5291819"/>
            <a:ext cx="5063139" cy="3048000"/>
            <a:chOff x="0" y="0"/>
            <a:chExt cx="6750853" cy="4064000"/>
          </a:xfrm>
        </p:grpSpPr>
        <p:sp>
          <p:nvSpPr>
            <p:cNvPr id="17" name="TextBox 17"/>
            <p:cNvSpPr txBox="1"/>
            <p:nvPr/>
          </p:nvSpPr>
          <p:spPr>
            <a:xfrm>
              <a:off x="0" y="1656648"/>
              <a:ext cx="6750853" cy="2407352"/>
            </a:xfrm>
            <a:prstGeom prst="rect">
              <a:avLst/>
            </a:prstGeom>
          </p:spPr>
          <p:txBody>
            <a:bodyPr lIns="0" tIns="0" rIns="0" bIns="0" rtlCol="0" anchor="t">
              <a:spAutoFit/>
            </a:bodyPr>
            <a:lstStyle/>
            <a:p>
              <a:pPr algn="l">
                <a:lnSpc>
                  <a:spcPts val="3640"/>
                </a:lnSpc>
                <a:spcBef>
                  <a:spcPct val="0"/>
                </a:spcBef>
              </a:pPr>
              <a:r>
                <a:rPr lang="en-US" sz="2600">
                  <a:solidFill>
                    <a:srgbClr val="000000"/>
                  </a:solidFill>
                  <a:latin typeface="Open Sans"/>
                  <a:ea typeface="Open Sans"/>
                  <a:cs typeface="Open Sans"/>
                  <a:sym typeface="Open Sans"/>
                </a:rPr>
                <a:t>évaluation des risques, qualité des données, documentation technique, tests, transparence, suivi après mise sur le marché</a:t>
              </a:r>
            </a:p>
          </p:txBody>
        </p:sp>
        <p:sp>
          <p:nvSpPr>
            <p:cNvPr id="18" name="TextBox 18"/>
            <p:cNvSpPr txBox="1"/>
            <p:nvPr/>
          </p:nvSpPr>
          <p:spPr>
            <a:xfrm>
              <a:off x="0" y="-57150"/>
              <a:ext cx="5099926" cy="698149"/>
            </a:xfrm>
            <a:prstGeom prst="rect">
              <a:avLst/>
            </a:prstGeom>
          </p:spPr>
          <p:txBody>
            <a:bodyPr lIns="0" tIns="0" rIns="0" bIns="0" rtlCol="0" anchor="t">
              <a:spAutoFit/>
            </a:bodyPr>
            <a:lstStyle/>
            <a:p>
              <a:pPr algn="l">
                <a:lnSpc>
                  <a:spcPts val="4479"/>
                </a:lnSpc>
                <a:spcBef>
                  <a:spcPct val="0"/>
                </a:spcBef>
              </a:pPr>
              <a:r>
                <a:rPr lang="en-US" sz="3199" b="1">
                  <a:solidFill>
                    <a:srgbClr val="000000"/>
                  </a:solidFill>
                  <a:latin typeface="Open Sans Bold"/>
                  <a:ea typeface="Open Sans Bold"/>
                  <a:cs typeface="Open Sans Bold"/>
                  <a:sym typeface="Open Sans Bold"/>
                </a:rPr>
                <a:t>Responsable de </a:t>
              </a:r>
            </a:p>
          </p:txBody>
        </p:sp>
        <p:sp>
          <p:nvSpPr>
            <p:cNvPr id="19" name="TextBox 19"/>
            <p:cNvSpPr txBox="1"/>
            <p:nvPr/>
          </p:nvSpPr>
          <p:spPr>
            <a:xfrm>
              <a:off x="0" y="583849"/>
              <a:ext cx="6750853" cy="698149"/>
            </a:xfrm>
            <a:prstGeom prst="rect">
              <a:avLst/>
            </a:prstGeom>
          </p:spPr>
          <p:txBody>
            <a:bodyPr lIns="0" tIns="0" rIns="0" bIns="0" rtlCol="0" anchor="t">
              <a:spAutoFit/>
            </a:bodyPr>
            <a:lstStyle/>
            <a:p>
              <a:pPr algn="l">
                <a:lnSpc>
                  <a:spcPts val="4480"/>
                </a:lnSpc>
                <a:spcBef>
                  <a:spcPct val="0"/>
                </a:spcBef>
              </a:pPr>
              <a:r>
                <a:rPr lang="en-US" sz="3200">
                  <a:solidFill>
                    <a:srgbClr val="000000"/>
                  </a:solidFill>
                  <a:latin typeface="Open Sans"/>
                  <a:ea typeface="Open Sans"/>
                  <a:cs typeface="Open Sans"/>
                  <a:sym typeface="Open Sans"/>
                </a:rPr>
                <a:t>la conformité du système :</a:t>
              </a:r>
            </a:p>
          </p:txBody>
        </p:sp>
      </p:grpSp>
      <p:sp>
        <p:nvSpPr>
          <p:cNvPr id="20" name="TextBox 20"/>
          <p:cNvSpPr txBox="1"/>
          <p:nvPr/>
        </p:nvSpPr>
        <p:spPr>
          <a:xfrm>
            <a:off x="12139651" y="2705548"/>
            <a:ext cx="2489704" cy="646430"/>
          </a:xfrm>
          <a:prstGeom prst="rect">
            <a:avLst/>
          </a:prstGeom>
        </p:spPr>
        <p:txBody>
          <a:bodyPr lIns="0" tIns="0" rIns="0" bIns="0" rtlCol="0" anchor="t">
            <a:spAutoFit/>
          </a:bodyPr>
          <a:lstStyle/>
          <a:p>
            <a:pPr algn="ctr">
              <a:lnSpc>
                <a:spcPts val="5320"/>
              </a:lnSpc>
              <a:spcBef>
                <a:spcPct val="0"/>
              </a:spcBef>
            </a:pPr>
            <a:r>
              <a:rPr lang="en-US" sz="3800" b="1">
                <a:solidFill>
                  <a:srgbClr val="1E325C"/>
                </a:solidFill>
                <a:latin typeface="Open Sans Bold"/>
                <a:ea typeface="Open Sans Bold"/>
                <a:cs typeface="Open Sans Bold"/>
                <a:sym typeface="Open Sans Bold"/>
              </a:rPr>
              <a:t>Deployer</a:t>
            </a:r>
          </a:p>
        </p:txBody>
      </p:sp>
      <p:sp>
        <p:nvSpPr>
          <p:cNvPr id="21" name="TextBox 21"/>
          <p:cNvSpPr txBox="1"/>
          <p:nvPr/>
        </p:nvSpPr>
        <p:spPr>
          <a:xfrm>
            <a:off x="10261352" y="4074591"/>
            <a:ext cx="6246304" cy="537899"/>
          </a:xfrm>
          <a:prstGeom prst="rect">
            <a:avLst/>
          </a:prstGeom>
        </p:spPr>
        <p:txBody>
          <a:bodyPr lIns="0" tIns="0" rIns="0" bIns="0" rtlCol="0" anchor="t">
            <a:spAutoFit/>
          </a:bodyPr>
          <a:lstStyle/>
          <a:p>
            <a:pPr algn="ctr">
              <a:lnSpc>
                <a:spcPts val="4479"/>
              </a:lnSpc>
              <a:spcBef>
                <a:spcPct val="0"/>
              </a:spcBef>
            </a:pPr>
            <a:r>
              <a:rPr lang="en-US" sz="3199">
                <a:solidFill>
                  <a:srgbClr val="000000"/>
                </a:solidFill>
                <a:latin typeface="Open Sans"/>
                <a:ea typeface="Open Sans"/>
                <a:cs typeface="Open Sans"/>
                <a:sym typeface="Open Sans"/>
              </a:rPr>
              <a:t>Utilise l’IA dans ses activités</a:t>
            </a:r>
          </a:p>
        </p:txBody>
      </p:sp>
      <p:grpSp>
        <p:nvGrpSpPr>
          <p:cNvPr id="22" name="Group 22"/>
          <p:cNvGrpSpPr/>
          <p:nvPr/>
        </p:nvGrpSpPr>
        <p:grpSpPr>
          <a:xfrm>
            <a:off x="10500687" y="4936340"/>
            <a:ext cx="5767633" cy="4216131"/>
            <a:chOff x="0" y="0"/>
            <a:chExt cx="7690177" cy="5621508"/>
          </a:xfrm>
        </p:grpSpPr>
        <p:grpSp>
          <p:nvGrpSpPr>
            <p:cNvPr id="23" name="Group 23"/>
            <p:cNvGrpSpPr/>
            <p:nvPr/>
          </p:nvGrpSpPr>
          <p:grpSpPr>
            <a:xfrm>
              <a:off x="0" y="0"/>
              <a:ext cx="7690177" cy="5621508"/>
              <a:chOff x="0" y="0"/>
              <a:chExt cx="1519047" cy="1110421"/>
            </a:xfrm>
          </p:grpSpPr>
          <p:sp>
            <p:nvSpPr>
              <p:cNvPr id="24" name="Freeform 24"/>
              <p:cNvSpPr/>
              <p:nvPr/>
            </p:nvSpPr>
            <p:spPr>
              <a:xfrm>
                <a:off x="0" y="0"/>
                <a:ext cx="1519047" cy="1110421"/>
              </a:xfrm>
              <a:custGeom>
                <a:avLst/>
                <a:gdLst/>
                <a:ahLst/>
                <a:cxnLst/>
                <a:rect l="l" t="t" r="r" b="b"/>
                <a:pathLst>
                  <a:path w="1519047" h="1110421">
                    <a:moveTo>
                      <a:pt x="68458" y="0"/>
                    </a:moveTo>
                    <a:lnTo>
                      <a:pt x="1450590" y="0"/>
                    </a:lnTo>
                    <a:cubicBezTo>
                      <a:pt x="1488398" y="0"/>
                      <a:pt x="1519047" y="30649"/>
                      <a:pt x="1519047" y="68458"/>
                    </a:cubicBezTo>
                    <a:lnTo>
                      <a:pt x="1519047" y="1041964"/>
                    </a:lnTo>
                    <a:cubicBezTo>
                      <a:pt x="1519047" y="1079772"/>
                      <a:pt x="1488398" y="1110421"/>
                      <a:pt x="1450590" y="1110421"/>
                    </a:cubicBezTo>
                    <a:lnTo>
                      <a:pt x="68458" y="1110421"/>
                    </a:lnTo>
                    <a:cubicBezTo>
                      <a:pt x="30649" y="1110421"/>
                      <a:pt x="0" y="1079772"/>
                      <a:pt x="0" y="1041964"/>
                    </a:cubicBezTo>
                    <a:lnTo>
                      <a:pt x="0" y="68458"/>
                    </a:lnTo>
                    <a:cubicBezTo>
                      <a:pt x="0" y="30649"/>
                      <a:pt x="30649" y="0"/>
                      <a:pt x="68458" y="0"/>
                    </a:cubicBezTo>
                    <a:close/>
                  </a:path>
                </a:pathLst>
              </a:custGeom>
              <a:solidFill>
                <a:srgbClr val="FFFFFF"/>
              </a:solidFill>
              <a:ln cap="rnd">
                <a:noFill/>
                <a:prstDash val="solid"/>
                <a:round/>
              </a:ln>
            </p:spPr>
            <p:txBody>
              <a:bodyPr/>
              <a:lstStyle/>
              <a:p>
                <a:endParaRPr lang="fr-BE"/>
              </a:p>
            </p:txBody>
          </p:sp>
          <p:sp>
            <p:nvSpPr>
              <p:cNvPr id="25" name="TextBox 25"/>
              <p:cNvSpPr txBox="1"/>
              <p:nvPr/>
            </p:nvSpPr>
            <p:spPr>
              <a:xfrm>
                <a:off x="0" y="-38100"/>
                <a:ext cx="1519047" cy="1148521"/>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p:cNvSpPr txBox="1"/>
            <p:nvPr/>
          </p:nvSpPr>
          <p:spPr>
            <a:xfrm>
              <a:off x="392597" y="2130620"/>
              <a:ext cx="6750853" cy="3016916"/>
            </a:xfrm>
            <a:prstGeom prst="rect">
              <a:avLst/>
            </a:prstGeom>
          </p:spPr>
          <p:txBody>
            <a:bodyPr lIns="0" tIns="0" rIns="0" bIns="0" rtlCol="0" anchor="t">
              <a:spAutoFit/>
            </a:bodyPr>
            <a:lstStyle/>
            <a:p>
              <a:pPr algn="l">
                <a:lnSpc>
                  <a:spcPts val="3640"/>
                </a:lnSpc>
                <a:spcBef>
                  <a:spcPct val="0"/>
                </a:spcBef>
              </a:pPr>
              <a:r>
                <a:rPr lang="en-US" sz="2600">
                  <a:solidFill>
                    <a:srgbClr val="000000"/>
                  </a:solidFill>
                  <a:latin typeface="Open Sans"/>
                  <a:ea typeface="Open Sans"/>
                  <a:cs typeface="Open Sans"/>
                  <a:sym typeface="Open Sans"/>
                </a:rPr>
                <a:t>supervision humaine, qualité des données d’entrée, respect des instructions, suivi des résultats et information des personnes concernées.</a:t>
              </a:r>
            </a:p>
          </p:txBody>
        </p:sp>
        <p:sp>
          <p:nvSpPr>
            <p:cNvPr id="27" name="TextBox 27"/>
            <p:cNvSpPr txBox="1"/>
            <p:nvPr/>
          </p:nvSpPr>
          <p:spPr>
            <a:xfrm>
              <a:off x="392597" y="416822"/>
              <a:ext cx="5099926" cy="698149"/>
            </a:xfrm>
            <a:prstGeom prst="rect">
              <a:avLst/>
            </a:prstGeom>
          </p:spPr>
          <p:txBody>
            <a:bodyPr lIns="0" tIns="0" rIns="0" bIns="0" rtlCol="0" anchor="t">
              <a:spAutoFit/>
            </a:bodyPr>
            <a:lstStyle/>
            <a:p>
              <a:pPr algn="l">
                <a:lnSpc>
                  <a:spcPts val="4479"/>
                </a:lnSpc>
                <a:spcBef>
                  <a:spcPct val="0"/>
                </a:spcBef>
              </a:pPr>
              <a:r>
                <a:rPr lang="en-US" sz="3199" b="1">
                  <a:solidFill>
                    <a:srgbClr val="000000"/>
                  </a:solidFill>
                  <a:latin typeface="Open Sans Bold"/>
                  <a:ea typeface="Open Sans Bold"/>
                  <a:cs typeface="Open Sans Bold"/>
                  <a:sym typeface="Open Sans Bold"/>
                </a:rPr>
                <a:t>Responsable de </a:t>
              </a:r>
            </a:p>
          </p:txBody>
        </p:sp>
        <p:sp>
          <p:nvSpPr>
            <p:cNvPr id="28" name="TextBox 28"/>
            <p:cNvSpPr txBox="1"/>
            <p:nvPr/>
          </p:nvSpPr>
          <p:spPr>
            <a:xfrm>
              <a:off x="392597" y="1057821"/>
              <a:ext cx="7154412" cy="698149"/>
            </a:xfrm>
            <a:prstGeom prst="rect">
              <a:avLst/>
            </a:prstGeom>
          </p:spPr>
          <p:txBody>
            <a:bodyPr lIns="0" tIns="0" rIns="0" bIns="0" rtlCol="0" anchor="t">
              <a:spAutoFit/>
            </a:bodyPr>
            <a:lstStyle/>
            <a:p>
              <a:pPr algn="l">
                <a:lnSpc>
                  <a:spcPts val="4480"/>
                </a:lnSpc>
                <a:spcBef>
                  <a:spcPct val="0"/>
                </a:spcBef>
              </a:pPr>
              <a:r>
                <a:rPr lang="en-US" sz="3200">
                  <a:solidFill>
                    <a:srgbClr val="000000"/>
                  </a:solidFill>
                  <a:latin typeface="Open Sans"/>
                  <a:ea typeface="Open Sans"/>
                  <a:cs typeface="Open Sans"/>
                  <a:sym typeface="Open Sans"/>
                </a:rPr>
                <a:t>l’usage concret du système :</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35956" y="659116"/>
            <a:ext cx="16523344" cy="762054"/>
          </a:xfrm>
          <a:prstGeom prst="rect">
            <a:avLst/>
          </a:prstGeom>
        </p:spPr>
        <p:txBody>
          <a:bodyPr lIns="0" tIns="0" rIns="0" bIns="0" rtlCol="0" anchor="t">
            <a:spAutoFit/>
          </a:bodyPr>
          <a:lstStyle/>
          <a:p>
            <a:pPr algn="l">
              <a:lnSpc>
                <a:spcPts val="6299"/>
              </a:lnSpc>
              <a:spcBef>
                <a:spcPct val="0"/>
              </a:spcBef>
            </a:pPr>
            <a:r>
              <a:rPr lang="en-US" sz="4500" dirty="0">
                <a:solidFill>
                  <a:srgbClr val="000000"/>
                </a:solidFill>
                <a:latin typeface="Open Sans"/>
                <a:ea typeface="Open Sans"/>
                <a:cs typeface="Open Sans"/>
                <a:sym typeface="Open Sans"/>
              </a:rPr>
              <a:t>Agir à </a:t>
            </a:r>
            <a:r>
              <a:rPr lang="en-US" sz="4500" dirty="0" err="1">
                <a:solidFill>
                  <a:srgbClr val="000000"/>
                </a:solidFill>
                <a:latin typeface="Open Sans"/>
                <a:ea typeface="Open Sans"/>
                <a:cs typeface="Open Sans"/>
                <a:sym typeface="Open Sans"/>
              </a:rPr>
              <a:t>chaque</a:t>
            </a:r>
            <a:r>
              <a:rPr lang="en-US" sz="4500" dirty="0">
                <a:solidFill>
                  <a:srgbClr val="000000"/>
                </a:solidFill>
                <a:latin typeface="Open Sans"/>
                <a:ea typeface="Open Sans"/>
                <a:cs typeface="Open Sans"/>
                <a:sym typeface="Open Sans"/>
              </a:rPr>
              <a:t> étape du cycle de vie</a:t>
            </a:r>
          </a:p>
        </p:txBody>
      </p:sp>
      <p:sp>
        <p:nvSpPr>
          <p:cNvPr id="3" name="TextBox 3"/>
          <p:cNvSpPr txBox="1"/>
          <p:nvPr/>
        </p:nvSpPr>
        <p:spPr>
          <a:xfrm>
            <a:off x="735956" y="1581949"/>
            <a:ext cx="16523344" cy="646430"/>
          </a:xfrm>
          <a:prstGeom prst="rect">
            <a:avLst/>
          </a:prstGeom>
        </p:spPr>
        <p:txBody>
          <a:bodyPr lIns="0" tIns="0" rIns="0" bIns="0" rtlCol="0" anchor="t">
            <a:spAutoFit/>
          </a:bodyPr>
          <a:lstStyle/>
          <a:p>
            <a:pPr algn="l">
              <a:lnSpc>
                <a:spcPts val="5320"/>
              </a:lnSpc>
              <a:spcBef>
                <a:spcPct val="0"/>
              </a:spcBef>
            </a:pPr>
            <a:r>
              <a:rPr lang="en-US" sz="3800" dirty="0">
                <a:solidFill>
                  <a:srgbClr val="479DD3"/>
                </a:solidFill>
                <a:latin typeface="Open Sans"/>
                <a:ea typeface="Open Sans"/>
                <a:cs typeface="Open Sans"/>
                <a:sym typeface="Open Sans"/>
              </a:rPr>
              <a:t>La </a:t>
            </a:r>
            <a:r>
              <a:rPr lang="en-US" sz="3800" dirty="0" err="1">
                <a:solidFill>
                  <a:srgbClr val="479DD3"/>
                </a:solidFill>
                <a:latin typeface="Open Sans"/>
                <a:ea typeface="Open Sans"/>
                <a:cs typeface="Open Sans"/>
                <a:sym typeface="Open Sans"/>
              </a:rPr>
              <a:t>gouvernance</a:t>
            </a:r>
            <a:r>
              <a:rPr lang="en-US" sz="3800" dirty="0">
                <a:solidFill>
                  <a:srgbClr val="479DD3"/>
                </a:solidFill>
                <a:latin typeface="Open Sans"/>
                <a:ea typeface="Open Sans"/>
                <a:cs typeface="Open Sans"/>
                <a:sym typeface="Open Sans"/>
              </a:rPr>
              <a:t> de </a:t>
            </a:r>
            <a:r>
              <a:rPr lang="en-US" sz="3800" dirty="0" err="1">
                <a:solidFill>
                  <a:srgbClr val="479DD3"/>
                </a:solidFill>
                <a:latin typeface="Open Sans"/>
                <a:ea typeface="Open Sans"/>
                <a:cs typeface="Open Sans"/>
                <a:sym typeface="Open Sans"/>
              </a:rPr>
              <a:t>l’IA</a:t>
            </a:r>
            <a:r>
              <a:rPr lang="en-US" sz="3800" dirty="0">
                <a:solidFill>
                  <a:srgbClr val="479DD3"/>
                </a:solidFill>
                <a:latin typeface="Open Sans"/>
                <a:ea typeface="Open Sans"/>
                <a:cs typeface="Open Sans"/>
                <a:sym typeface="Open Sans"/>
              </a:rPr>
              <a:t> est un processus </a:t>
            </a:r>
            <a:r>
              <a:rPr lang="en-US" sz="3800" dirty="0" err="1">
                <a:solidFill>
                  <a:srgbClr val="479DD3"/>
                </a:solidFill>
                <a:latin typeface="Open Sans"/>
                <a:ea typeface="Open Sans"/>
                <a:cs typeface="Open Sans"/>
                <a:sym typeface="Open Sans"/>
              </a:rPr>
              <a:t>continu</a:t>
            </a:r>
            <a:endParaRPr lang="en-US" sz="3800" dirty="0">
              <a:solidFill>
                <a:srgbClr val="479DD3"/>
              </a:solidFill>
              <a:latin typeface="Open Sans"/>
              <a:ea typeface="Open Sans"/>
              <a:cs typeface="Open Sans"/>
              <a:sym typeface="Open Sans"/>
            </a:endParaRPr>
          </a:p>
        </p:txBody>
      </p:sp>
      <p:grpSp>
        <p:nvGrpSpPr>
          <p:cNvPr id="4" name="Group 4"/>
          <p:cNvGrpSpPr/>
          <p:nvPr/>
        </p:nvGrpSpPr>
        <p:grpSpPr>
          <a:xfrm>
            <a:off x="990230" y="3160203"/>
            <a:ext cx="1396678" cy="1396678"/>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3B8F"/>
            </a:solidFill>
          </p:spPr>
          <p:txBody>
            <a:bodyPr/>
            <a:lstStyle/>
            <a:p>
              <a:endParaRPr lang="fr-BE"/>
            </a:p>
          </p:txBody>
        </p:sp>
        <p:sp>
          <p:nvSpPr>
            <p:cNvPr id="6" name="TextBox 6"/>
            <p:cNvSpPr txBox="1"/>
            <p:nvPr/>
          </p:nvSpPr>
          <p:spPr>
            <a:xfrm>
              <a:off x="76200" y="0"/>
              <a:ext cx="660400" cy="736600"/>
            </a:xfrm>
            <a:prstGeom prst="rect">
              <a:avLst/>
            </a:prstGeom>
          </p:spPr>
          <p:txBody>
            <a:bodyPr lIns="50800" tIns="50800" rIns="50800" bIns="50800" rtlCol="0" anchor="ctr"/>
            <a:lstStyle/>
            <a:p>
              <a:pPr algn="ctr">
                <a:lnSpc>
                  <a:spcPts val="6299"/>
                </a:lnSpc>
              </a:pPr>
              <a:r>
                <a:rPr lang="en-US" sz="4500" b="1" dirty="0">
                  <a:solidFill>
                    <a:srgbClr val="FFFFFF"/>
                  </a:solidFill>
                  <a:latin typeface="Open Sans Bold"/>
                  <a:ea typeface="Open Sans Bold"/>
                  <a:cs typeface="Open Sans Bold"/>
                  <a:sym typeface="Open Sans Bold"/>
                </a:rPr>
                <a:t>1</a:t>
              </a:r>
            </a:p>
          </p:txBody>
        </p:sp>
      </p:grpSp>
      <p:grpSp>
        <p:nvGrpSpPr>
          <p:cNvPr id="7" name="Group 7"/>
          <p:cNvGrpSpPr/>
          <p:nvPr/>
        </p:nvGrpSpPr>
        <p:grpSpPr>
          <a:xfrm>
            <a:off x="334883" y="5044367"/>
            <a:ext cx="2707373" cy="3221733"/>
            <a:chOff x="0" y="0"/>
            <a:chExt cx="713053" cy="848522"/>
          </a:xfrm>
        </p:grpSpPr>
        <p:sp>
          <p:nvSpPr>
            <p:cNvPr id="8" name="Freeform 8"/>
            <p:cNvSpPr/>
            <p:nvPr/>
          </p:nvSpPr>
          <p:spPr>
            <a:xfrm>
              <a:off x="0" y="0"/>
              <a:ext cx="713053" cy="848522"/>
            </a:xfrm>
            <a:custGeom>
              <a:avLst/>
              <a:gdLst/>
              <a:ahLst/>
              <a:cxnLst/>
              <a:rect l="l" t="t" r="r" b="b"/>
              <a:pathLst>
                <a:path w="713053" h="848522">
                  <a:moveTo>
                    <a:pt x="145838" y="0"/>
                  </a:moveTo>
                  <a:lnTo>
                    <a:pt x="567215" y="0"/>
                  </a:lnTo>
                  <a:cubicBezTo>
                    <a:pt x="647759" y="0"/>
                    <a:pt x="713053" y="65294"/>
                    <a:pt x="713053" y="145838"/>
                  </a:cubicBezTo>
                  <a:lnTo>
                    <a:pt x="713053" y="702684"/>
                  </a:lnTo>
                  <a:cubicBezTo>
                    <a:pt x="713053" y="741363"/>
                    <a:pt x="697688" y="778457"/>
                    <a:pt x="670338" y="805807"/>
                  </a:cubicBezTo>
                  <a:cubicBezTo>
                    <a:pt x="642988" y="833157"/>
                    <a:pt x="605893" y="848522"/>
                    <a:pt x="567215" y="848522"/>
                  </a:cubicBezTo>
                  <a:lnTo>
                    <a:pt x="145838" y="848522"/>
                  </a:lnTo>
                  <a:cubicBezTo>
                    <a:pt x="65294" y="848522"/>
                    <a:pt x="0" y="783228"/>
                    <a:pt x="0" y="702684"/>
                  </a:cubicBezTo>
                  <a:lnTo>
                    <a:pt x="0" y="145838"/>
                  </a:lnTo>
                  <a:cubicBezTo>
                    <a:pt x="0" y="65294"/>
                    <a:pt x="65294" y="0"/>
                    <a:pt x="145838" y="0"/>
                  </a:cubicBezTo>
                  <a:close/>
                </a:path>
              </a:pathLst>
            </a:custGeom>
            <a:solidFill>
              <a:srgbClr val="EAF3FF"/>
            </a:solidFill>
            <a:ln w="38100" cap="rnd">
              <a:solidFill>
                <a:srgbClr val="2B3B8F"/>
              </a:solidFill>
              <a:prstDash val="solid"/>
              <a:round/>
            </a:ln>
          </p:spPr>
          <p:txBody>
            <a:bodyPr/>
            <a:lstStyle/>
            <a:p>
              <a:endParaRPr lang="fr-BE"/>
            </a:p>
          </p:txBody>
        </p:sp>
        <p:sp>
          <p:nvSpPr>
            <p:cNvPr id="9" name="TextBox 9"/>
            <p:cNvSpPr txBox="1"/>
            <p:nvPr/>
          </p:nvSpPr>
          <p:spPr>
            <a:xfrm>
              <a:off x="0" y="-38100"/>
              <a:ext cx="713053" cy="886622"/>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555071" y="5224313"/>
            <a:ext cx="2266996" cy="481357"/>
          </a:xfrm>
          <a:prstGeom prst="rect">
            <a:avLst/>
          </a:prstGeom>
        </p:spPr>
        <p:txBody>
          <a:bodyPr lIns="0" tIns="0" rIns="0" bIns="0" rtlCol="0" anchor="t">
            <a:spAutoFit/>
          </a:bodyPr>
          <a:lstStyle/>
          <a:p>
            <a:pPr algn="ctr">
              <a:lnSpc>
                <a:spcPts val="3919"/>
              </a:lnSpc>
              <a:spcBef>
                <a:spcPct val="0"/>
              </a:spcBef>
            </a:pPr>
            <a:r>
              <a:rPr lang="en-US" sz="2799" b="1">
                <a:solidFill>
                  <a:srgbClr val="2B3B8F"/>
                </a:solidFill>
                <a:latin typeface="Open Sans Bold"/>
                <a:ea typeface="Open Sans Bold"/>
                <a:cs typeface="Open Sans Bold"/>
                <a:sym typeface="Open Sans Bold"/>
              </a:rPr>
              <a:t>Objectif</a:t>
            </a:r>
          </a:p>
        </p:txBody>
      </p:sp>
      <p:sp>
        <p:nvSpPr>
          <p:cNvPr id="11" name="TextBox 11"/>
          <p:cNvSpPr txBox="1"/>
          <p:nvPr/>
        </p:nvSpPr>
        <p:spPr>
          <a:xfrm>
            <a:off x="555071" y="6042193"/>
            <a:ext cx="2266996" cy="1406633"/>
          </a:xfrm>
          <a:prstGeom prst="rect">
            <a:avLst/>
          </a:prstGeom>
        </p:spPr>
        <p:txBody>
          <a:bodyPr lIns="0" tIns="0" rIns="0" bIns="0" rtlCol="0" anchor="t">
            <a:spAutoFit/>
          </a:bodyPr>
          <a:lstStyle/>
          <a:p>
            <a:pPr algn="ctr">
              <a:lnSpc>
                <a:spcPts val="2800"/>
              </a:lnSpc>
            </a:pPr>
            <a:r>
              <a:rPr lang="en-US" sz="2000" dirty="0" err="1">
                <a:solidFill>
                  <a:srgbClr val="2B3B8F"/>
                </a:solidFill>
                <a:latin typeface="Open Sans"/>
                <a:ea typeface="Open Sans"/>
                <a:cs typeface="Open Sans"/>
                <a:sym typeface="Open Sans"/>
              </a:rPr>
              <a:t>Définir</a:t>
            </a:r>
            <a:r>
              <a:rPr lang="en-US" sz="2000" dirty="0">
                <a:solidFill>
                  <a:srgbClr val="2B3B8F"/>
                </a:solidFill>
                <a:latin typeface="Open Sans"/>
                <a:ea typeface="Open Sans"/>
                <a:cs typeface="Open Sans"/>
                <a:sym typeface="Open Sans"/>
              </a:rPr>
              <a:t> </a:t>
            </a:r>
            <a:r>
              <a:rPr lang="en-US" sz="2000" dirty="0" err="1">
                <a:solidFill>
                  <a:srgbClr val="2B3B8F"/>
                </a:solidFill>
                <a:latin typeface="Open Sans"/>
                <a:ea typeface="Open Sans"/>
                <a:cs typeface="Open Sans"/>
                <a:sym typeface="Open Sans"/>
              </a:rPr>
              <a:t>l’usage</a:t>
            </a:r>
            <a:r>
              <a:rPr lang="en-US" sz="2000" dirty="0">
                <a:solidFill>
                  <a:srgbClr val="2B3B8F"/>
                </a:solidFill>
                <a:latin typeface="Open Sans"/>
                <a:ea typeface="Open Sans"/>
                <a:cs typeface="Open Sans"/>
                <a:sym typeface="Open Sans"/>
              </a:rPr>
              <a:t>, </a:t>
            </a:r>
          </a:p>
          <a:p>
            <a:pPr algn="ctr">
              <a:lnSpc>
                <a:spcPts val="2800"/>
              </a:lnSpc>
            </a:pPr>
            <a:r>
              <a:rPr lang="en-US" sz="2000" dirty="0">
                <a:solidFill>
                  <a:srgbClr val="2B3B8F"/>
                </a:solidFill>
                <a:latin typeface="Open Sans"/>
                <a:ea typeface="Open Sans"/>
                <a:cs typeface="Open Sans"/>
                <a:sym typeface="Open Sans"/>
              </a:rPr>
              <a:t>les </a:t>
            </a:r>
            <a:r>
              <a:rPr lang="en-US" sz="2000" dirty="0" err="1">
                <a:solidFill>
                  <a:srgbClr val="2B3B8F"/>
                </a:solidFill>
                <a:latin typeface="Open Sans"/>
                <a:ea typeface="Open Sans"/>
                <a:cs typeface="Open Sans"/>
                <a:sym typeface="Open Sans"/>
              </a:rPr>
              <a:t>risques</a:t>
            </a:r>
            <a:r>
              <a:rPr lang="en-US" sz="2000" dirty="0">
                <a:solidFill>
                  <a:srgbClr val="2B3B8F"/>
                </a:solidFill>
                <a:latin typeface="Open Sans"/>
                <a:ea typeface="Open Sans"/>
                <a:cs typeface="Open Sans"/>
                <a:sym typeface="Open Sans"/>
              </a:rPr>
              <a:t>, </a:t>
            </a:r>
          </a:p>
          <a:p>
            <a:pPr algn="ctr">
              <a:lnSpc>
                <a:spcPts val="2800"/>
              </a:lnSpc>
              <a:spcBef>
                <a:spcPct val="0"/>
              </a:spcBef>
            </a:pPr>
            <a:r>
              <a:rPr lang="en-US" sz="2000" dirty="0">
                <a:solidFill>
                  <a:srgbClr val="2B3B8F"/>
                </a:solidFill>
                <a:latin typeface="Open Sans"/>
                <a:ea typeface="Open Sans"/>
                <a:cs typeface="Open Sans"/>
                <a:sym typeface="Open Sans"/>
              </a:rPr>
              <a:t>les parties </a:t>
            </a:r>
            <a:r>
              <a:rPr lang="en-US" sz="2000" dirty="0" err="1">
                <a:solidFill>
                  <a:srgbClr val="2B3B8F"/>
                </a:solidFill>
                <a:latin typeface="Open Sans"/>
                <a:ea typeface="Open Sans"/>
                <a:cs typeface="Open Sans"/>
                <a:sym typeface="Open Sans"/>
              </a:rPr>
              <a:t>prenantes</a:t>
            </a:r>
            <a:r>
              <a:rPr lang="en-US" sz="2000" dirty="0">
                <a:solidFill>
                  <a:srgbClr val="2B3B8F"/>
                </a:solidFill>
                <a:latin typeface="Open Sans"/>
                <a:ea typeface="Open Sans"/>
                <a:cs typeface="Open Sans"/>
                <a:sym typeface="Open Sans"/>
              </a:rPr>
              <a:t>.</a:t>
            </a:r>
          </a:p>
        </p:txBody>
      </p:sp>
      <p:grpSp>
        <p:nvGrpSpPr>
          <p:cNvPr id="12" name="Group 12"/>
          <p:cNvGrpSpPr/>
          <p:nvPr/>
        </p:nvGrpSpPr>
        <p:grpSpPr>
          <a:xfrm>
            <a:off x="3942124" y="3160203"/>
            <a:ext cx="1396678" cy="1396678"/>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3B8F"/>
            </a:solidFill>
          </p:spPr>
          <p:txBody>
            <a:bodyPr/>
            <a:lstStyle/>
            <a:p>
              <a:endParaRPr lang="fr-BE"/>
            </a:p>
          </p:txBody>
        </p:sp>
        <p:sp>
          <p:nvSpPr>
            <p:cNvPr id="14" name="TextBox 14"/>
            <p:cNvSpPr txBox="1"/>
            <p:nvPr/>
          </p:nvSpPr>
          <p:spPr>
            <a:xfrm>
              <a:off x="76200" y="0"/>
              <a:ext cx="660400" cy="736600"/>
            </a:xfrm>
            <a:prstGeom prst="rect">
              <a:avLst/>
            </a:prstGeom>
          </p:spPr>
          <p:txBody>
            <a:bodyPr lIns="50800" tIns="50800" rIns="50800" bIns="50800" rtlCol="0" anchor="ctr"/>
            <a:lstStyle/>
            <a:p>
              <a:pPr algn="ctr">
                <a:lnSpc>
                  <a:spcPts val="6299"/>
                </a:lnSpc>
              </a:pPr>
              <a:r>
                <a:rPr lang="en-US" sz="4500" b="1" dirty="0">
                  <a:solidFill>
                    <a:srgbClr val="FFFFFF"/>
                  </a:solidFill>
                  <a:latin typeface="Open Sans Bold"/>
                  <a:ea typeface="Open Sans Bold"/>
                  <a:cs typeface="Open Sans Bold"/>
                  <a:sym typeface="Open Sans Bold"/>
                </a:rPr>
                <a:t>2</a:t>
              </a:r>
            </a:p>
          </p:txBody>
        </p:sp>
      </p:grpSp>
      <p:grpSp>
        <p:nvGrpSpPr>
          <p:cNvPr id="15" name="Group 15"/>
          <p:cNvGrpSpPr/>
          <p:nvPr/>
        </p:nvGrpSpPr>
        <p:grpSpPr>
          <a:xfrm>
            <a:off x="3286777" y="5044367"/>
            <a:ext cx="2707373" cy="3221733"/>
            <a:chOff x="0" y="0"/>
            <a:chExt cx="713053" cy="848522"/>
          </a:xfrm>
        </p:grpSpPr>
        <p:sp>
          <p:nvSpPr>
            <p:cNvPr id="16" name="Freeform 16"/>
            <p:cNvSpPr/>
            <p:nvPr/>
          </p:nvSpPr>
          <p:spPr>
            <a:xfrm>
              <a:off x="0" y="0"/>
              <a:ext cx="713053" cy="848522"/>
            </a:xfrm>
            <a:custGeom>
              <a:avLst/>
              <a:gdLst/>
              <a:ahLst/>
              <a:cxnLst/>
              <a:rect l="l" t="t" r="r" b="b"/>
              <a:pathLst>
                <a:path w="713053" h="848522">
                  <a:moveTo>
                    <a:pt x="145838" y="0"/>
                  </a:moveTo>
                  <a:lnTo>
                    <a:pt x="567215" y="0"/>
                  </a:lnTo>
                  <a:cubicBezTo>
                    <a:pt x="647759" y="0"/>
                    <a:pt x="713053" y="65294"/>
                    <a:pt x="713053" y="145838"/>
                  </a:cubicBezTo>
                  <a:lnTo>
                    <a:pt x="713053" y="702684"/>
                  </a:lnTo>
                  <a:cubicBezTo>
                    <a:pt x="713053" y="741363"/>
                    <a:pt x="697688" y="778457"/>
                    <a:pt x="670338" y="805807"/>
                  </a:cubicBezTo>
                  <a:cubicBezTo>
                    <a:pt x="642988" y="833157"/>
                    <a:pt x="605893" y="848522"/>
                    <a:pt x="567215" y="848522"/>
                  </a:cubicBezTo>
                  <a:lnTo>
                    <a:pt x="145838" y="848522"/>
                  </a:lnTo>
                  <a:cubicBezTo>
                    <a:pt x="65294" y="848522"/>
                    <a:pt x="0" y="783228"/>
                    <a:pt x="0" y="702684"/>
                  </a:cubicBezTo>
                  <a:lnTo>
                    <a:pt x="0" y="145838"/>
                  </a:lnTo>
                  <a:cubicBezTo>
                    <a:pt x="0" y="65294"/>
                    <a:pt x="65294" y="0"/>
                    <a:pt x="145838" y="0"/>
                  </a:cubicBezTo>
                  <a:close/>
                </a:path>
              </a:pathLst>
            </a:custGeom>
            <a:solidFill>
              <a:srgbClr val="EAF3FF"/>
            </a:solidFill>
            <a:ln w="38100" cap="rnd">
              <a:solidFill>
                <a:srgbClr val="2B3B8F"/>
              </a:solidFill>
              <a:prstDash val="solid"/>
              <a:round/>
            </a:ln>
          </p:spPr>
          <p:txBody>
            <a:bodyPr/>
            <a:lstStyle/>
            <a:p>
              <a:endParaRPr lang="fr-BE"/>
            </a:p>
          </p:txBody>
        </p:sp>
        <p:sp>
          <p:nvSpPr>
            <p:cNvPr id="17" name="TextBox 17"/>
            <p:cNvSpPr txBox="1"/>
            <p:nvPr/>
          </p:nvSpPr>
          <p:spPr>
            <a:xfrm>
              <a:off x="0" y="-38100"/>
              <a:ext cx="713053" cy="886622"/>
            </a:xfrm>
            <a:prstGeom prst="rect">
              <a:avLst/>
            </a:prstGeom>
          </p:spPr>
          <p:txBody>
            <a:bodyPr lIns="50800" tIns="50800" rIns="50800" bIns="50800" rtlCol="0" anchor="ctr"/>
            <a:lstStyle/>
            <a:p>
              <a:pPr algn="ctr">
                <a:lnSpc>
                  <a:spcPts val="2659"/>
                </a:lnSpc>
                <a:spcBef>
                  <a:spcPct val="0"/>
                </a:spcBef>
              </a:pPr>
              <a:endParaRPr/>
            </a:p>
          </p:txBody>
        </p:sp>
      </p:grpSp>
      <p:sp>
        <p:nvSpPr>
          <p:cNvPr id="18" name="TextBox 18"/>
          <p:cNvSpPr txBox="1"/>
          <p:nvPr/>
        </p:nvSpPr>
        <p:spPr>
          <a:xfrm>
            <a:off x="3506965" y="5224313"/>
            <a:ext cx="2266996" cy="481357"/>
          </a:xfrm>
          <a:prstGeom prst="rect">
            <a:avLst/>
          </a:prstGeom>
        </p:spPr>
        <p:txBody>
          <a:bodyPr lIns="0" tIns="0" rIns="0" bIns="0" rtlCol="0" anchor="t">
            <a:spAutoFit/>
          </a:bodyPr>
          <a:lstStyle/>
          <a:p>
            <a:pPr algn="ctr">
              <a:lnSpc>
                <a:spcPts val="3919"/>
              </a:lnSpc>
              <a:spcBef>
                <a:spcPct val="0"/>
              </a:spcBef>
            </a:pPr>
            <a:r>
              <a:rPr lang="en-US" sz="2799" b="1">
                <a:solidFill>
                  <a:srgbClr val="2B3B8F"/>
                </a:solidFill>
                <a:latin typeface="Open Sans Bold"/>
                <a:ea typeface="Open Sans Bold"/>
                <a:cs typeface="Open Sans Bold"/>
                <a:sym typeface="Open Sans Bold"/>
              </a:rPr>
              <a:t>Données</a:t>
            </a:r>
          </a:p>
        </p:txBody>
      </p:sp>
      <p:sp>
        <p:nvSpPr>
          <p:cNvPr id="19" name="TextBox 19"/>
          <p:cNvSpPr txBox="1"/>
          <p:nvPr/>
        </p:nvSpPr>
        <p:spPr>
          <a:xfrm>
            <a:off x="3506965" y="6042193"/>
            <a:ext cx="2266996" cy="1406633"/>
          </a:xfrm>
          <a:prstGeom prst="rect">
            <a:avLst/>
          </a:prstGeom>
        </p:spPr>
        <p:txBody>
          <a:bodyPr lIns="0" tIns="0" rIns="0" bIns="0" rtlCol="0" anchor="t">
            <a:spAutoFit/>
          </a:bodyPr>
          <a:lstStyle/>
          <a:p>
            <a:pPr algn="ctr">
              <a:lnSpc>
                <a:spcPts val="2800"/>
              </a:lnSpc>
            </a:pPr>
            <a:r>
              <a:rPr lang="en-US" sz="2000" dirty="0" err="1">
                <a:solidFill>
                  <a:srgbClr val="2B3B8F"/>
                </a:solidFill>
                <a:latin typeface="Open Sans"/>
                <a:ea typeface="Open Sans"/>
                <a:cs typeface="Open Sans"/>
                <a:sym typeface="Open Sans"/>
              </a:rPr>
              <a:t>Vérifier</a:t>
            </a:r>
            <a:r>
              <a:rPr lang="en-US" sz="2000" dirty="0">
                <a:solidFill>
                  <a:srgbClr val="2B3B8F"/>
                </a:solidFill>
                <a:latin typeface="Open Sans"/>
                <a:ea typeface="Open Sans"/>
                <a:cs typeface="Open Sans"/>
                <a:sym typeface="Open Sans"/>
              </a:rPr>
              <a:t> la </a:t>
            </a:r>
            <a:r>
              <a:rPr lang="en-US" sz="2000" dirty="0" err="1">
                <a:solidFill>
                  <a:srgbClr val="2B3B8F"/>
                </a:solidFill>
                <a:latin typeface="Open Sans"/>
                <a:ea typeface="Open Sans"/>
                <a:cs typeface="Open Sans"/>
                <a:sym typeface="Open Sans"/>
              </a:rPr>
              <a:t>qualité</a:t>
            </a:r>
            <a:r>
              <a:rPr lang="en-US" sz="2000" dirty="0">
                <a:solidFill>
                  <a:srgbClr val="2B3B8F"/>
                </a:solidFill>
                <a:latin typeface="Open Sans"/>
                <a:ea typeface="Open Sans"/>
                <a:cs typeface="Open Sans"/>
                <a:sym typeface="Open Sans"/>
              </a:rPr>
              <a:t>, les </a:t>
            </a:r>
            <a:r>
              <a:rPr lang="en-US" sz="2000" dirty="0" err="1">
                <a:solidFill>
                  <a:srgbClr val="2B3B8F"/>
                </a:solidFill>
                <a:latin typeface="Open Sans"/>
                <a:ea typeface="Open Sans"/>
                <a:cs typeface="Open Sans"/>
                <a:sym typeface="Open Sans"/>
              </a:rPr>
              <a:t>biais</a:t>
            </a:r>
            <a:r>
              <a:rPr lang="en-US" sz="2000" dirty="0">
                <a:solidFill>
                  <a:srgbClr val="2B3B8F"/>
                </a:solidFill>
                <a:latin typeface="Open Sans"/>
                <a:ea typeface="Open Sans"/>
                <a:cs typeface="Open Sans"/>
                <a:sym typeface="Open Sans"/>
              </a:rPr>
              <a:t>, </a:t>
            </a:r>
          </a:p>
          <a:p>
            <a:pPr algn="ctr">
              <a:lnSpc>
                <a:spcPts val="2800"/>
              </a:lnSpc>
              <a:spcBef>
                <a:spcPct val="0"/>
              </a:spcBef>
            </a:pPr>
            <a:r>
              <a:rPr lang="en-US" sz="2000" dirty="0">
                <a:solidFill>
                  <a:srgbClr val="2B3B8F"/>
                </a:solidFill>
                <a:latin typeface="Open Sans"/>
                <a:ea typeface="Open Sans"/>
                <a:cs typeface="Open Sans"/>
                <a:sym typeface="Open Sans"/>
              </a:rPr>
              <a:t>la </a:t>
            </a:r>
            <a:r>
              <a:rPr lang="en-US" sz="2000" dirty="0" err="1">
                <a:solidFill>
                  <a:srgbClr val="2B3B8F"/>
                </a:solidFill>
                <a:latin typeface="Open Sans"/>
                <a:ea typeface="Open Sans"/>
                <a:cs typeface="Open Sans"/>
                <a:sym typeface="Open Sans"/>
              </a:rPr>
              <a:t>représentativité</a:t>
            </a:r>
            <a:r>
              <a:rPr lang="en-US" sz="2000" dirty="0">
                <a:solidFill>
                  <a:srgbClr val="2B3B8F"/>
                </a:solidFill>
                <a:latin typeface="Open Sans"/>
                <a:ea typeface="Open Sans"/>
                <a:cs typeface="Open Sans"/>
                <a:sym typeface="Open Sans"/>
              </a:rPr>
              <a:t>, le RGPD.</a:t>
            </a:r>
          </a:p>
        </p:txBody>
      </p:sp>
      <p:grpSp>
        <p:nvGrpSpPr>
          <p:cNvPr id="20" name="Group 20"/>
          <p:cNvGrpSpPr/>
          <p:nvPr/>
        </p:nvGrpSpPr>
        <p:grpSpPr>
          <a:xfrm>
            <a:off x="6894018" y="3160203"/>
            <a:ext cx="1396678" cy="1396678"/>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3B8F"/>
            </a:solidFill>
          </p:spPr>
          <p:txBody>
            <a:bodyPr/>
            <a:lstStyle/>
            <a:p>
              <a:endParaRPr lang="fr-BE"/>
            </a:p>
          </p:txBody>
        </p:sp>
        <p:sp>
          <p:nvSpPr>
            <p:cNvPr id="22" name="TextBox 22"/>
            <p:cNvSpPr txBox="1"/>
            <p:nvPr/>
          </p:nvSpPr>
          <p:spPr>
            <a:xfrm>
              <a:off x="76200" y="0"/>
              <a:ext cx="660400" cy="736600"/>
            </a:xfrm>
            <a:prstGeom prst="rect">
              <a:avLst/>
            </a:prstGeom>
          </p:spPr>
          <p:txBody>
            <a:bodyPr lIns="50800" tIns="50800" rIns="50800" bIns="50800" rtlCol="0" anchor="ctr"/>
            <a:lstStyle/>
            <a:p>
              <a:pPr algn="ctr">
                <a:lnSpc>
                  <a:spcPts val="6299"/>
                </a:lnSpc>
              </a:pPr>
              <a:r>
                <a:rPr lang="en-US" sz="4500" b="1" dirty="0">
                  <a:solidFill>
                    <a:srgbClr val="FFFFFF"/>
                  </a:solidFill>
                  <a:latin typeface="Open Sans Bold"/>
                  <a:ea typeface="Open Sans Bold"/>
                  <a:cs typeface="Open Sans Bold"/>
                  <a:sym typeface="Open Sans Bold"/>
                </a:rPr>
                <a:t>3</a:t>
              </a:r>
            </a:p>
          </p:txBody>
        </p:sp>
      </p:grpSp>
      <p:grpSp>
        <p:nvGrpSpPr>
          <p:cNvPr id="23" name="Group 23"/>
          <p:cNvGrpSpPr/>
          <p:nvPr/>
        </p:nvGrpSpPr>
        <p:grpSpPr>
          <a:xfrm>
            <a:off x="6238671" y="5044367"/>
            <a:ext cx="2707373" cy="3221733"/>
            <a:chOff x="0" y="0"/>
            <a:chExt cx="713053" cy="848522"/>
          </a:xfrm>
        </p:grpSpPr>
        <p:sp>
          <p:nvSpPr>
            <p:cNvPr id="24" name="Freeform 24"/>
            <p:cNvSpPr/>
            <p:nvPr/>
          </p:nvSpPr>
          <p:spPr>
            <a:xfrm>
              <a:off x="0" y="0"/>
              <a:ext cx="713053" cy="848522"/>
            </a:xfrm>
            <a:custGeom>
              <a:avLst/>
              <a:gdLst/>
              <a:ahLst/>
              <a:cxnLst/>
              <a:rect l="l" t="t" r="r" b="b"/>
              <a:pathLst>
                <a:path w="713053" h="848522">
                  <a:moveTo>
                    <a:pt x="145838" y="0"/>
                  </a:moveTo>
                  <a:lnTo>
                    <a:pt x="567215" y="0"/>
                  </a:lnTo>
                  <a:cubicBezTo>
                    <a:pt x="647759" y="0"/>
                    <a:pt x="713053" y="65294"/>
                    <a:pt x="713053" y="145838"/>
                  </a:cubicBezTo>
                  <a:lnTo>
                    <a:pt x="713053" y="702684"/>
                  </a:lnTo>
                  <a:cubicBezTo>
                    <a:pt x="713053" y="741363"/>
                    <a:pt x="697688" y="778457"/>
                    <a:pt x="670338" y="805807"/>
                  </a:cubicBezTo>
                  <a:cubicBezTo>
                    <a:pt x="642988" y="833157"/>
                    <a:pt x="605893" y="848522"/>
                    <a:pt x="567215" y="848522"/>
                  </a:cubicBezTo>
                  <a:lnTo>
                    <a:pt x="145838" y="848522"/>
                  </a:lnTo>
                  <a:cubicBezTo>
                    <a:pt x="65294" y="848522"/>
                    <a:pt x="0" y="783228"/>
                    <a:pt x="0" y="702684"/>
                  </a:cubicBezTo>
                  <a:lnTo>
                    <a:pt x="0" y="145838"/>
                  </a:lnTo>
                  <a:cubicBezTo>
                    <a:pt x="0" y="65294"/>
                    <a:pt x="65294" y="0"/>
                    <a:pt x="145838" y="0"/>
                  </a:cubicBezTo>
                  <a:close/>
                </a:path>
              </a:pathLst>
            </a:custGeom>
            <a:solidFill>
              <a:srgbClr val="EAF3FF"/>
            </a:solidFill>
            <a:ln w="38100" cap="rnd">
              <a:solidFill>
                <a:srgbClr val="2B3B8F"/>
              </a:solidFill>
              <a:prstDash val="solid"/>
              <a:round/>
            </a:ln>
          </p:spPr>
          <p:txBody>
            <a:bodyPr/>
            <a:lstStyle/>
            <a:p>
              <a:endParaRPr lang="fr-BE"/>
            </a:p>
          </p:txBody>
        </p:sp>
        <p:sp>
          <p:nvSpPr>
            <p:cNvPr id="25" name="TextBox 25"/>
            <p:cNvSpPr txBox="1"/>
            <p:nvPr/>
          </p:nvSpPr>
          <p:spPr>
            <a:xfrm>
              <a:off x="0" y="-38100"/>
              <a:ext cx="713053" cy="886622"/>
            </a:xfrm>
            <a:prstGeom prst="rect">
              <a:avLst/>
            </a:prstGeom>
          </p:spPr>
          <p:txBody>
            <a:bodyPr lIns="50800" tIns="50800" rIns="50800" bIns="50800" rtlCol="0" anchor="ctr"/>
            <a:lstStyle/>
            <a:p>
              <a:pPr algn="ctr">
                <a:lnSpc>
                  <a:spcPts val="2659"/>
                </a:lnSpc>
                <a:spcBef>
                  <a:spcPct val="0"/>
                </a:spcBef>
              </a:pPr>
              <a:endParaRPr/>
            </a:p>
          </p:txBody>
        </p:sp>
      </p:grpSp>
      <p:sp>
        <p:nvSpPr>
          <p:cNvPr id="26" name="TextBox 26"/>
          <p:cNvSpPr txBox="1"/>
          <p:nvPr/>
        </p:nvSpPr>
        <p:spPr>
          <a:xfrm>
            <a:off x="6337010" y="5224313"/>
            <a:ext cx="2510695" cy="481356"/>
          </a:xfrm>
          <a:prstGeom prst="rect">
            <a:avLst/>
          </a:prstGeom>
        </p:spPr>
        <p:txBody>
          <a:bodyPr lIns="0" tIns="0" rIns="0" bIns="0" rtlCol="0" anchor="t">
            <a:spAutoFit/>
          </a:bodyPr>
          <a:lstStyle/>
          <a:p>
            <a:pPr algn="ctr">
              <a:lnSpc>
                <a:spcPts val="3920"/>
              </a:lnSpc>
              <a:spcBef>
                <a:spcPct val="0"/>
              </a:spcBef>
            </a:pPr>
            <a:r>
              <a:rPr lang="en-US" sz="2800" b="1">
                <a:solidFill>
                  <a:srgbClr val="2B3B8F"/>
                </a:solidFill>
                <a:latin typeface="Open Sans Bold"/>
                <a:ea typeface="Open Sans Bold"/>
                <a:cs typeface="Open Sans Bold"/>
                <a:sym typeface="Open Sans Bold"/>
              </a:rPr>
              <a:t>Entraînement</a:t>
            </a:r>
          </a:p>
        </p:txBody>
      </p:sp>
      <p:sp>
        <p:nvSpPr>
          <p:cNvPr id="27" name="TextBox 27"/>
          <p:cNvSpPr txBox="1"/>
          <p:nvPr/>
        </p:nvSpPr>
        <p:spPr>
          <a:xfrm>
            <a:off x="6458859" y="6042193"/>
            <a:ext cx="2266996" cy="1406633"/>
          </a:xfrm>
          <a:prstGeom prst="rect">
            <a:avLst/>
          </a:prstGeom>
        </p:spPr>
        <p:txBody>
          <a:bodyPr lIns="0" tIns="0" rIns="0" bIns="0" rtlCol="0" anchor="t">
            <a:spAutoFit/>
          </a:bodyPr>
          <a:lstStyle/>
          <a:p>
            <a:pPr algn="ctr">
              <a:lnSpc>
                <a:spcPts val="2800"/>
              </a:lnSpc>
            </a:pPr>
            <a:r>
              <a:rPr lang="en-US" sz="2000">
                <a:solidFill>
                  <a:srgbClr val="2B3B8F"/>
                </a:solidFill>
                <a:latin typeface="Open Sans"/>
                <a:ea typeface="Open Sans"/>
                <a:cs typeface="Open Sans"/>
                <a:sym typeface="Open Sans"/>
              </a:rPr>
              <a:t>Documenter les choix, </a:t>
            </a:r>
          </a:p>
          <a:p>
            <a:pPr algn="ctr">
              <a:lnSpc>
                <a:spcPts val="2800"/>
              </a:lnSpc>
              <a:spcBef>
                <a:spcPct val="0"/>
              </a:spcBef>
            </a:pPr>
            <a:r>
              <a:rPr lang="en-US" sz="2000">
                <a:solidFill>
                  <a:srgbClr val="2B3B8F"/>
                </a:solidFill>
                <a:latin typeface="Open Sans"/>
                <a:ea typeface="Open Sans"/>
                <a:cs typeface="Open Sans"/>
                <a:sym typeface="Open Sans"/>
              </a:rPr>
              <a:t>tester plusieurs modèles.</a:t>
            </a:r>
          </a:p>
        </p:txBody>
      </p:sp>
      <p:grpSp>
        <p:nvGrpSpPr>
          <p:cNvPr id="28" name="Group 28"/>
          <p:cNvGrpSpPr/>
          <p:nvPr/>
        </p:nvGrpSpPr>
        <p:grpSpPr>
          <a:xfrm>
            <a:off x="9845912" y="3160203"/>
            <a:ext cx="1396678" cy="1396678"/>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3B8F"/>
            </a:solidFill>
          </p:spPr>
          <p:txBody>
            <a:bodyPr/>
            <a:lstStyle/>
            <a:p>
              <a:endParaRPr lang="fr-BE"/>
            </a:p>
          </p:txBody>
        </p:sp>
        <p:sp>
          <p:nvSpPr>
            <p:cNvPr id="30" name="TextBox 30"/>
            <p:cNvSpPr txBox="1"/>
            <p:nvPr/>
          </p:nvSpPr>
          <p:spPr>
            <a:xfrm>
              <a:off x="76200" y="0"/>
              <a:ext cx="660400" cy="736600"/>
            </a:xfrm>
            <a:prstGeom prst="rect">
              <a:avLst/>
            </a:prstGeom>
          </p:spPr>
          <p:txBody>
            <a:bodyPr lIns="50800" tIns="50800" rIns="50800" bIns="50800" rtlCol="0" anchor="ctr"/>
            <a:lstStyle/>
            <a:p>
              <a:pPr algn="ctr">
                <a:lnSpc>
                  <a:spcPts val="6299"/>
                </a:lnSpc>
              </a:pPr>
              <a:r>
                <a:rPr lang="en-US" sz="4500" b="1">
                  <a:solidFill>
                    <a:srgbClr val="FFFFFF"/>
                  </a:solidFill>
                  <a:latin typeface="Open Sans Bold"/>
                  <a:ea typeface="Open Sans Bold"/>
                  <a:cs typeface="Open Sans Bold"/>
                  <a:sym typeface="Open Sans Bold"/>
                </a:rPr>
                <a:t>4</a:t>
              </a:r>
            </a:p>
          </p:txBody>
        </p:sp>
      </p:grpSp>
      <p:grpSp>
        <p:nvGrpSpPr>
          <p:cNvPr id="31" name="Group 31"/>
          <p:cNvGrpSpPr/>
          <p:nvPr/>
        </p:nvGrpSpPr>
        <p:grpSpPr>
          <a:xfrm>
            <a:off x="9190565" y="5044367"/>
            <a:ext cx="2707373" cy="3221733"/>
            <a:chOff x="0" y="0"/>
            <a:chExt cx="713053" cy="848522"/>
          </a:xfrm>
        </p:grpSpPr>
        <p:sp>
          <p:nvSpPr>
            <p:cNvPr id="32" name="Freeform 32"/>
            <p:cNvSpPr/>
            <p:nvPr/>
          </p:nvSpPr>
          <p:spPr>
            <a:xfrm>
              <a:off x="0" y="0"/>
              <a:ext cx="713053" cy="848522"/>
            </a:xfrm>
            <a:custGeom>
              <a:avLst/>
              <a:gdLst/>
              <a:ahLst/>
              <a:cxnLst/>
              <a:rect l="l" t="t" r="r" b="b"/>
              <a:pathLst>
                <a:path w="713053" h="848522">
                  <a:moveTo>
                    <a:pt x="145838" y="0"/>
                  </a:moveTo>
                  <a:lnTo>
                    <a:pt x="567215" y="0"/>
                  </a:lnTo>
                  <a:cubicBezTo>
                    <a:pt x="647759" y="0"/>
                    <a:pt x="713053" y="65294"/>
                    <a:pt x="713053" y="145838"/>
                  </a:cubicBezTo>
                  <a:lnTo>
                    <a:pt x="713053" y="702684"/>
                  </a:lnTo>
                  <a:cubicBezTo>
                    <a:pt x="713053" y="741363"/>
                    <a:pt x="697688" y="778457"/>
                    <a:pt x="670338" y="805807"/>
                  </a:cubicBezTo>
                  <a:cubicBezTo>
                    <a:pt x="642988" y="833157"/>
                    <a:pt x="605893" y="848522"/>
                    <a:pt x="567215" y="848522"/>
                  </a:cubicBezTo>
                  <a:lnTo>
                    <a:pt x="145838" y="848522"/>
                  </a:lnTo>
                  <a:cubicBezTo>
                    <a:pt x="65294" y="848522"/>
                    <a:pt x="0" y="783228"/>
                    <a:pt x="0" y="702684"/>
                  </a:cubicBezTo>
                  <a:lnTo>
                    <a:pt x="0" y="145838"/>
                  </a:lnTo>
                  <a:cubicBezTo>
                    <a:pt x="0" y="65294"/>
                    <a:pt x="65294" y="0"/>
                    <a:pt x="145838" y="0"/>
                  </a:cubicBezTo>
                  <a:close/>
                </a:path>
              </a:pathLst>
            </a:custGeom>
            <a:solidFill>
              <a:srgbClr val="EAF3FF"/>
            </a:solidFill>
            <a:ln w="38100" cap="rnd">
              <a:solidFill>
                <a:srgbClr val="2B3B8F"/>
              </a:solidFill>
              <a:prstDash val="solid"/>
              <a:round/>
            </a:ln>
          </p:spPr>
          <p:txBody>
            <a:bodyPr/>
            <a:lstStyle/>
            <a:p>
              <a:endParaRPr lang="fr-BE"/>
            </a:p>
          </p:txBody>
        </p:sp>
        <p:sp>
          <p:nvSpPr>
            <p:cNvPr id="33" name="TextBox 33"/>
            <p:cNvSpPr txBox="1"/>
            <p:nvPr/>
          </p:nvSpPr>
          <p:spPr>
            <a:xfrm>
              <a:off x="0" y="-38100"/>
              <a:ext cx="713053" cy="886622"/>
            </a:xfrm>
            <a:prstGeom prst="rect">
              <a:avLst/>
            </a:prstGeom>
          </p:spPr>
          <p:txBody>
            <a:bodyPr lIns="50800" tIns="50800" rIns="50800" bIns="50800" rtlCol="0" anchor="ctr"/>
            <a:lstStyle/>
            <a:p>
              <a:pPr algn="ctr">
                <a:lnSpc>
                  <a:spcPts val="2659"/>
                </a:lnSpc>
                <a:spcBef>
                  <a:spcPct val="0"/>
                </a:spcBef>
              </a:pPr>
              <a:endParaRPr/>
            </a:p>
          </p:txBody>
        </p:sp>
      </p:grpSp>
      <p:sp>
        <p:nvSpPr>
          <p:cNvPr id="34" name="TextBox 34"/>
          <p:cNvSpPr txBox="1"/>
          <p:nvPr/>
        </p:nvSpPr>
        <p:spPr>
          <a:xfrm>
            <a:off x="9288904" y="5224313"/>
            <a:ext cx="2510695" cy="481356"/>
          </a:xfrm>
          <a:prstGeom prst="rect">
            <a:avLst/>
          </a:prstGeom>
        </p:spPr>
        <p:txBody>
          <a:bodyPr lIns="0" tIns="0" rIns="0" bIns="0" rtlCol="0" anchor="t">
            <a:spAutoFit/>
          </a:bodyPr>
          <a:lstStyle/>
          <a:p>
            <a:pPr algn="ctr">
              <a:lnSpc>
                <a:spcPts val="3920"/>
              </a:lnSpc>
              <a:spcBef>
                <a:spcPct val="0"/>
              </a:spcBef>
            </a:pPr>
            <a:r>
              <a:rPr lang="en-US" sz="2800" b="1" dirty="0">
                <a:solidFill>
                  <a:srgbClr val="2B3B8F"/>
                </a:solidFill>
                <a:latin typeface="Open Sans Bold"/>
                <a:ea typeface="Open Sans Bold"/>
                <a:cs typeface="Open Sans Bold"/>
                <a:sym typeface="Open Sans Bold"/>
              </a:rPr>
              <a:t>Evaluation</a:t>
            </a:r>
          </a:p>
        </p:txBody>
      </p:sp>
      <p:sp>
        <p:nvSpPr>
          <p:cNvPr id="35" name="TextBox 35"/>
          <p:cNvSpPr txBox="1"/>
          <p:nvPr/>
        </p:nvSpPr>
        <p:spPr>
          <a:xfrm>
            <a:off x="9410753" y="6042193"/>
            <a:ext cx="2266996" cy="1759085"/>
          </a:xfrm>
          <a:prstGeom prst="rect">
            <a:avLst/>
          </a:prstGeom>
        </p:spPr>
        <p:txBody>
          <a:bodyPr lIns="0" tIns="0" rIns="0" bIns="0" rtlCol="0" anchor="t">
            <a:spAutoFit/>
          </a:bodyPr>
          <a:lstStyle/>
          <a:p>
            <a:pPr algn="ctr">
              <a:lnSpc>
                <a:spcPts val="2800"/>
              </a:lnSpc>
            </a:pPr>
            <a:r>
              <a:rPr lang="en-US" sz="2000">
                <a:solidFill>
                  <a:srgbClr val="2B3B8F"/>
                </a:solidFill>
                <a:latin typeface="Open Sans"/>
                <a:ea typeface="Open Sans"/>
                <a:cs typeface="Open Sans"/>
                <a:sym typeface="Open Sans"/>
              </a:rPr>
              <a:t>Mesurer la performance, </a:t>
            </a:r>
          </a:p>
          <a:p>
            <a:pPr algn="ctr">
              <a:lnSpc>
                <a:spcPts val="2800"/>
              </a:lnSpc>
            </a:pPr>
            <a:r>
              <a:rPr lang="en-US" sz="2000">
                <a:solidFill>
                  <a:srgbClr val="2B3B8F"/>
                </a:solidFill>
                <a:latin typeface="Open Sans"/>
                <a:ea typeface="Open Sans"/>
                <a:cs typeface="Open Sans"/>
                <a:sym typeface="Open Sans"/>
              </a:rPr>
              <a:t>les biais, </a:t>
            </a:r>
          </a:p>
          <a:p>
            <a:pPr algn="ctr">
              <a:lnSpc>
                <a:spcPts val="2800"/>
              </a:lnSpc>
              <a:spcBef>
                <a:spcPct val="0"/>
              </a:spcBef>
            </a:pPr>
            <a:r>
              <a:rPr lang="en-US" sz="2000">
                <a:solidFill>
                  <a:srgbClr val="2B3B8F"/>
                </a:solidFill>
                <a:latin typeface="Open Sans"/>
                <a:ea typeface="Open Sans"/>
                <a:cs typeface="Open Sans"/>
                <a:sym typeface="Open Sans"/>
              </a:rPr>
              <a:t>la robustesse, l’explicabilité.</a:t>
            </a:r>
          </a:p>
        </p:txBody>
      </p:sp>
      <p:grpSp>
        <p:nvGrpSpPr>
          <p:cNvPr id="36" name="Group 36"/>
          <p:cNvGrpSpPr/>
          <p:nvPr/>
        </p:nvGrpSpPr>
        <p:grpSpPr>
          <a:xfrm>
            <a:off x="12797806" y="3160203"/>
            <a:ext cx="1396678" cy="1396678"/>
            <a:chOff x="0" y="0"/>
            <a:chExt cx="812800" cy="812800"/>
          </a:xfrm>
        </p:grpSpPr>
        <p:sp>
          <p:nvSpPr>
            <p:cNvPr id="37" name="Freeform 3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3B8F"/>
            </a:solidFill>
          </p:spPr>
          <p:txBody>
            <a:bodyPr/>
            <a:lstStyle/>
            <a:p>
              <a:endParaRPr lang="fr-BE"/>
            </a:p>
          </p:txBody>
        </p:sp>
        <p:sp>
          <p:nvSpPr>
            <p:cNvPr id="38" name="TextBox 38"/>
            <p:cNvSpPr txBox="1"/>
            <p:nvPr/>
          </p:nvSpPr>
          <p:spPr>
            <a:xfrm>
              <a:off x="76200" y="0"/>
              <a:ext cx="660400" cy="736600"/>
            </a:xfrm>
            <a:prstGeom prst="rect">
              <a:avLst/>
            </a:prstGeom>
          </p:spPr>
          <p:txBody>
            <a:bodyPr lIns="50800" tIns="50800" rIns="50800" bIns="50800" rtlCol="0" anchor="ctr"/>
            <a:lstStyle/>
            <a:p>
              <a:pPr algn="ctr">
                <a:lnSpc>
                  <a:spcPts val="6299"/>
                </a:lnSpc>
              </a:pPr>
              <a:r>
                <a:rPr lang="en-US" sz="4500" b="1">
                  <a:solidFill>
                    <a:srgbClr val="FFFFFF"/>
                  </a:solidFill>
                  <a:latin typeface="Open Sans Bold"/>
                  <a:ea typeface="Open Sans Bold"/>
                  <a:cs typeface="Open Sans Bold"/>
                  <a:sym typeface="Open Sans Bold"/>
                </a:rPr>
                <a:t>5</a:t>
              </a:r>
            </a:p>
          </p:txBody>
        </p:sp>
      </p:grpSp>
      <p:grpSp>
        <p:nvGrpSpPr>
          <p:cNvPr id="39" name="Group 39"/>
          <p:cNvGrpSpPr/>
          <p:nvPr/>
        </p:nvGrpSpPr>
        <p:grpSpPr>
          <a:xfrm>
            <a:off x="12142459" y="5044367"/>
            <a:ext cx="2707373" cy="3221733"/>
            <a:chOff x="0" y="0"/>
            <a:chExt cx="713053" cy="848522"/>
          </a:xfrm>
        </p:grpSpPr>
        <p:sp>
          <p:nvSpPr>
            <p:cNvPr id="40" name="Freeform 40"/>
            <p:cNvSpPr/>
            <p:nvPr/>
          </p:nvSpPr>
          <p:spPr>
            <a:xfrm>
              <a:off x="0" y="0"/>
              <a:ext cx="713053" cy="848522"/>
            </a:xfrm>
            <a:custGeom>
              <a:avLst/>
              <a:gdLst/>
              <a:ahLst/>
              <a:cxnLst/>
              <a:rect l="l" t="t" r="r" b="b"/>
              <a:pathLst>
                <a:path w="713053" h="848522">
                  <a:moveTo>
                    <a:pt x="145838" y="0"/>
                  </a:moveTo>
                  <a:lnTo>
                    <a:pt x="567215" y="0"/>
                  </a:lnTo>
                  <a:cubicBezTo>
                    <a:pt x="647759" y="0"/>
                    <a:pt x="713053" y="65294"/>
                    <a:pt x="713053" y="145838"/>
                  </a:cubicBezTo>
                  <a:lnTo>
                    <a:pt x="713053" y="702684"/>
                  </a:lnTo>
                  <a:cubicBezTo>
                    <a:pt x="713053" y="741363"/>
                    <a:pt x="697688" y="778457"/>
                    <a:pt x="670338" y="805807"/>
                  </a:cubicBezTo>
                  <a:cubicBezTo>
                    <a:pt x="642988" y="833157"/>
                    <a:pt x="605893" y="848522"/>
                    <a:pt x="567215" y="848522"/>
                  </a:cubicBezTo>
                  <a:lnTo>
                    <a:pt x="145838" y="848522"/>
                  </a:lnTo>
                  <a:cubicBezTo>
                    <a:pt x="65294" y="848522"/>
                    <a:pt x="0" y="783228"/>
                    <a:pt x="0" y="702684"/>
                  </a:cubicBezTo>
                  <a:lnTo>
                    <a:pt x="0" y="145838"/>
                  </a:lnTo>
                  <a:cubicBezTo>
                    <a:pt x="0" y="65294"/>
                    <a:pt x="65294" y="0"/>
                    <a:pt x="145838" y="0"/>
                  </a:cubicBezTo>
                  <a:close/>
                </a:path>
              </a:pathLst>
            </a:custGeom>
            <a:solidFill>
              <a:srgbClr val="EAF3FF"/>
            </a:solidFill>
            <a:ln w="38100" cap="rnd">
              <a:solidFill>
                <a:srgbClr val="2B3B8F"/>
              </a:solidFill>
              <a:prstDash val="solid"/>
              <a:round/>
            </a:ln>
          </p:spPr>
          <p:txBody>
            <a:bodyPr/>
            <a:lstStyle/>
            <a:p>
              <a:endParaRPr lang="fr-BE"/>
            </a:p>
          </p:txBody>
        </p:sp>
        <p:sp>
          <p:nvSpPr>
            <p:cNvPr id="41" name="TextBox 41"/>
            <p:cNvSpPr txBox="1"/>
            <p:nvPr/>
          </p:nvSpPr>
          <p:spPr>
            <a:xfrm>
              <a:off x="0" y="-38100"/>
              <a:ext cx="713053" cy="886622"/>
            </a:xfrm>
            <a:prstGeom prst="rect">
              <a:avLst/>
            </a:prstGeom>
          </p:spPr>
          <p:txBody>
            <a:bodyPr lIns="50800" tIns="50800" rIns="50800" bIns="50800" rtlCol="0" anchor="ctr"/>
            <a:lstStyle/>
            <a:p>
              <a:pPr algn="ctr">
                <a:lnSpc>
                  <a:spcPts val="2659"/>
                </a:lnSpc>
                <a:spcBef>
                  <a:spcPct val="0"/>
                </a:spcBef>
              </a:pPr>
              <a:endParaRPr/>
            </a:p>
          </p:txBody>
        </p:sp>
      </p:grpSp>
      <p:sp>
        <p:nvSpPr>
          <p:cNvPr id="42" name="TextBox 42"/>
          <p:cNvSpPr txBox="1"/>
          <p:nvPr/>
        </p:nvSpPr>
        <p:spPr>
          <a:xfrm>
            <a:off x="12240798" y="5224313"/>
            <a:ext cx="2510695" cy="481356"/>
          </a:xfrm>
          <a:prstGeom prst="rect">
            <a:avLst/>
          </a:prstGeom>
        </p:spPr>
        <p:txBody>
          <a:bodyPr lIns="0" tIns="0" rIns="0" bIns="0" rtlCol="0" anchor="t">
            <a:spAutoFit/>
          </a:bodyPr>
          <a:lstStyle/>
          <a:p>
            <a:pPr algn="ctr">
              <a:lnSpc>
                <a:spcPts val="3920"/>
              </a:lnSpc>
              <a:spcBef>
                <a:spcPct val="0"/>
              </a:spcBef>
            </a:pPr>
            <a:r>
              <a:rPr lang="en-US" sz="2800" b="1">
                <a:solidFill>
                  <a:srgbClr val="2B3B8F"/>
                </a:solidFill>
                <a:latin typeface="Open Sans Bold"/>
                <a:ea typeface="Open Sans Bold"/>
                <a:cs typeface="Open Sans Bold"/>
                <a:sym typeface="Open Sans Bold"/>
              </a:rPr>
              <a:t>Déploiement</a:t>
            </a:r>
          </a:p>
        </p:txBody>
      </p:sp>
      <p:sp>
        <p:nvSpPr>
          <p:cNvPr id="43" name="TextBox 43"/>
          <p:cNvSpPr txBox="1"/>
          <p:nvPr/>
        </p:nvSpPr>
        <p:spPr>
          <a:xfrm>
            <a:off x="12362647" y="6042193"/>
            <a:ext cx="2266996" cy="1759085"/>
          </a:xfrm>
          <a:prstGeom prst="rect">
            <a:avLst/>
          </a:prstGeom>
        </p:spPr>
        <p:txBody>
          <a:bodyPr lIns="0" tIns="0" rIns="0" bIns="0" rtlCol="0" anchor="t">
            <a:spAutoFit/>
          </a:bodyPr>
          <a:lstStyle/>
          <a:p>
            <a:pPr algn="ctr">
              <a:lnSpc>
                <a:spcPts val="2800"/>
              </a:lnSpc>
              <a:spcBef>
                <a:spcPct val="0"/>
              </a:spcBef>
            </a:pPr>
            <a:r>
              <a:rPr lang="en-US" sz="2000">
                <a:solidFill>
                  <a:srgbClr val="2B3B8F"/>
                </a:solidFill>
                <a:latin typeface="Open Sans"/>
                <a:ea typeface="Open Sans"/>
                <a:cs typeface="Open Sans"/>
                <a:sym typeface="Open Sans"/>
              </a:rPr>
              <a:t>Former les utilisateurs, informer les personnes concernées.</a:t>
            </a:r>
          </a:p>
        </p:txBody>
      </p:sp>
      <p:grpSp>
        <p:nvGrpSpPr>
          <p:cNvPr id="44" name="Group 44"/>
          <p:cNvGrpSpPr/>
          <p:nvPr/>
        </p:nvGrpSpPr>
        <p:grpSpPr>
          <a:xfrm>
            <a:off x="15749700" y="3160203"/>
            <a:ext cx="1396678" cy="1396678"/>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3B8F"/>
            </a:solidFill>
          </p:spPr>
          <p:txBody>
            <a:bodyPr/>
            <a:lstStyle/>
            <a:p>
              <a:endParaRPr lang="fr-BE"/>
            </a:p>
          </p:txBody>
        </p:sp>
        <p:sp>
          <p:nvSpPr>
            <p:cNvPr id="46" name="TextBox 46"/>
            <p:cNvSpPr txBox="1"/>
            <p:nvPr/>
          </p:nvSpPr>
          <p:spPr>
            <a:xfrm>
              <a:off x="76200" y="0"/>
              <a:ext cx="660400" cy="736600"/>
            </a:xfrm>
            <a:prstGeom prst="rect">
              <a:avLst/>
            </a:prstGeom>
          </p:spPr>
          <p:txBody>
            <a:bodyPr lIns="50800" tIns="50800" rIns="50800" bIns="50800" rtlCol="0" anchor="ctr"/>
            <a:lstStyle/>
            <a:p>
              <a:pPr algn="ctr">
                <a:lnSpc>
                  <a:spcPts val="6299"/>
                </a:lnSpc>
              </a:pPr>
              <a:r>
                <a:rPr lang="en-US" sz="4500" b="1">
                  <a:solidFill>
                    <a:srgbClr val="FFFFFF"/>
                  </a:solidFill>
                  <a:latin typeface="Open Sans Bold"/>
                  <a:ea typeface="Open Sans Bold"/>
                  <a:cs typeface="Open Sans Bold"/>
                  <a:sym typeface="Open Sans Bold"/>
                </a:rPr>
                <a:t>6</a:t>
              </a:r>
            </a:p>
          </p:txBody>
        </p:sp>
      </p:grpSp>
      <p:grpSp>
        <p:nvGrpSpPr>
          <p:cNvPr id="47" name="Group 47"/>
          <p:cNvGrpSpPr/>
          <p:nvPr/>
        </p:nvGrpSpPr>
        <p:grpSpPr>
          <a:xfrm>
            <a:off x="15094352" y="5044367"/>
            <a:ext cx="2707373" cy="3221733"/>
            <a:chOff x="0" y="0"/>
            <a:chExt cx="713053" cy="848522"/>
          </a:xfrm>
        </p:grpSpPr>
        <p:sp>
          <p:nvSpPr>
            <p:cNvPr id="48" name="Freeform 48"/>
            <p:cNvSpPr/>
            <p:nvPr/>
          </p:nvSpPr>
          <p:spPr>
            <a:xfrm>
              <a:off x="0" y="0"/>
              <a:ext cx="713053" cy="848522"/>
            </a:xfrm>
            <a:custGeom>
              <a:avLst/>
              <a:gdLst/>
              <a:ahLst/>
              <a:cxnLst/>
              <a:rect l="l" t="t" r="r" b="b"/>
              <a:pathLst>
                <a:path w="713053" h="848522">
                  <a:moveTo>
                    <a:pt x="145838" y="0"/>
                  </a:moveTo>
                  <a:lnTo>
                    <a:pt x="567215" y="0"/>
                  </a:lnTo>
                  <a:cubicBezTo>
                    <a:pt x="647759" y="0"/>
                    <a:pt x="713053" y="65294"/>
                    <a:pt x="713053" y="145838"/>
                  </a:cubicBezTo>
                  <a:lnTo>
                    <a:pt x="713053" y="702684"/>
                  </a:lnTo>
                  <a:cubicBezTo>
                    <a:pt x="713053" y="741363"/>
                    <a:pt x="697688" y="778457"/>
                    <a:pt x="670338" y="805807"/>
                  </a:cubicBezTo>
                  <a:cubicBezTo>
                    <a:pt x="642988" y="833157"/>
                    <a:pt x="605893" y="848522"/>
                    <a:pt x="567215" y="848522"/>
                  </a:cubicBezTo>
                  <a:lnTo>
                    <a:pt x="145838" y="848522"/>
                  </a:lnTo>
                  <a:cubicBezTo>
                    <a:pt x="65294" y="848522"/>
                    <a:pt x="0" y="783228"/>
                    <a:pt x="0" y="702684"/>
                  </a:cubicBezTo>
                  <a:lnTo>
                    <a:pt x="0" y="145838"/>
                  </a:lnTo>
                  <a:cubicBezTo>
                    <a:pt x="0" y="65294"/>
                    <a:pt x="65294" y="0"/>
                    <a:pt x="145838" y="0"/>
                  </a:cubicBezTo>
                  <a:close/>
                </a:path>
              </a:pathLst>
            </a:custGeom>
            <a:solidFill>
              <a:srgbClr val="EAF3FF"/>
            </a:solidFill>
            <a:ln w="38100" cap="rnd">
              <a:solidFill>
                <a:srgbClr val="2B3B8F"/>
              </a:solidFill>
              <a:prstDash val="solid"/>
              <a:round/>
            </a:ln>
          </p:spPr>
          <p:txBody>
            <a:bodyPr/>
            <a:lstStyle/>
            <a:p>
              <a:endParaRPr lang="fr-BE"/>
            </a:p>
          </p:txBody>
        </p:sp>
        <p:sp>
          <p:nvSpPr>
            <p:cNvPr id="49" name="TextBox 49"/>
            <p:cNvSpPr txBox="1"/>
            <p:nvPr/>
          </p:nvSpPr>
          <p:spPr>
            <a:xfrm>
              <a:off x="0" y="-38100"/>
              <a:ext cx="713053" cy="886622"/>
            </a:xfrm>
            <a:prstGeom prst="rect">
              <a:avLst/>
            </a:prstGeom>
          </p:spPr>
          <p:txBody>
            <a:bodyPr lIns="50800" tIns="50800" rIns="50800" bIns="50800" rtlCol="0" anchor="ctr"/>
            <a:lstStyle/>
            <a:p>
              <a:pPr algn="ctr">
                <a:lnSpc>
                  <a:spcPts val="2659"/>
                </a:lnSpc>
                <a:spcBef>
                  <a:spcPct val="0"/>
                </a:spcBef>
              </a:pPr>
              <a:endParaRPr/>
            </a:p>
          </p:txBody>
        </p:sp>
      </p:grpSp>
      <p:sp>
        <p:nvSpPr>
          <p:cNvPr id="50" name="TextBox 50"/>
          <p:cNvSpPr txBox="1"/>
          <p:nvPr/>
        </p:nvSpPr>
        <p:spPr>
          <a:xfrm>
            <a:off x="15192692" y="5224313"/>
            <a:ext cx="2510695" cy="481356"/>
          </a:xfrm>
          <a:prstGeom prst="rect">
            <a:avLst/>
          </a:prstGeom>
        </p:spPr>
        <p:txBody>
          <a:bodyPr lIns="0" tIns="0" rIns="0" bIns="0" rtlCol="0" anchor="t">
            <a:spAutoFit/>
          </a:bodyPr>
          <a:lstStyle/>
          <a:p>
            <a:pPr algn="ctr">
              <a:lnSpc>
                <a:spcPts val="3920"/>
              </a:lnSpc>
              <a:spcBef>
                <a:spcPct val="0"/>
              </a:spcBef>
            </a:pPr>
            <a:r>
              <a:rPr lang="en-US" sz="2800" b="1" dirty="0" err="1">
                <a:solidFill>
                  <a:srgbClr val="2B3B8F"/>
                </a:solidFill>
                <a:latin typeface="Open Sans Bold"/>
                <a:ea typeface="Open Sans Bold"/>
                <a:cs typeface="Open Sans Bold"/>
                <a:sym typeface="Open Sans Bold"/>
              </a:rPr>
              <a:t>Suivi</a:t>
            </a:r>
            <a:endParaRPr lang="en-US" sz="2800" b="1" dirty="0">
              <a:solidFill>
                <a:srgbClr val="2B3B8F"/>
              </a:solidFill>
              <a:latin typeface="Open Sans Bold"/>
              <a:ea typeface="Open Sans Bold"/>
              <a:cs typeface="Open Sans Bold"/>
              <a:sym typeface="Open Sans Bold"/>
            </a:endParaRPr>
          </a:p>
        </p:txBody>
      </p:sp>
      <p:sp>
        <p:nvSpPr>
          <p:cNvPr id="51" name="TextBox 51"/>
          <p:cNvSpPr txBox="1"/>
          <p:nvPr/>
        </p:nvSpPr>
        <p:spPr>
          <a:xfrm>
            <a:off x="15314541" y="6042193"/>
            <a:ext cx="2266996" cy="1406633"/>
          </a:xfrm>
          <a:prstGeom prst="rect">
            <a:avLst/>
          </a:prstGeom>
        </p:spPr>
        <p:txBody>
          <a:bodyPr lIns="0" tIns="0" rIns="0" bIns="0" rtlCol="0" anchor="t">
            <a:spAutoFit/>
          </a:bodyPr>
          <a:lstStyle/>
          <a:p>
            <a:pPr algn="ctr">
              <a:lnSpc>
                <a:spcPts val="2800"/>
              </a:lnSpc>
              <a:spcBef>
                <a:spcPct val="0"/>
              </a:spcBef>
            </a:pPr>
            <a:r>
              <a:rPr lang="en-US" sz="2000" dirty="0" err="1">
                <a:solidFill>
                  <a:srgbClr val="2B3B8F"/>
                </a:solidFill>
                <a:latin typeface="Open Sans"/>
                <a:ea typeface="Open Sans"/>
                <a:cs typeface="Open Sans"/>
                <a:sym typeface="Open Sans"/>
              </a:rPr>
              <a:t>Surveiller</a:t>
            </a:r>
            <a:r>
              <a:rPr lang="en-US" sz="2000" dirty="0">
                <a:solidFill>
                  <a:srgbClr val="2B3B8F"/>
                </a:solidFill>
                <a:latin typeface="Open Sans"/>
                <a:ea typeface="Open Sans"/>
                <a:cs typeface="Open Sans"/>
                <a:sym typeface="Open Sans"/>
              </a:rPr>
              <a:t> les </a:t>
            </a:r>
            <a:r>
              <a:rPr lang="en-US" sz="2000" dirty="0" err="1">
                <a:solidFill>
                  <a:srgbClr val="2B3B8F"/>
                </a:solidFill>
                <a:latin typeface="Open Sans"/>
                <a:ea typeface="Open Sans"/>
                <a:cs typeface="Open Sans"/>
                <a:sym typeface="Open Sans"/>
              </a:rPr>
              <a:t>erreurs</a:t>
            </a:r>
            <a:r>
              <a:rPr lang="en-US" sz="2000" dirty="0">
                <a:solidFill>
                  <a:srgbClr val="2B3B8F"/>
                </a:solidFill>
                <a:latin typeface="Open Sans"/>
                <a:ea typeface="Open Sans"/>
                <a:cs typeface="Open Sans"/>
                <a:sym typeface="Open Sans"/>
              </a:rPr>
              <a:t>, </a:t>
            </a:r>
            <a:r>
              <a:rPr lang="en-US" sz="2000" dirty="0" err="1">
                <a:solidFill>
                  <a:srgbClr val="2B3B8F"/>
                </a:solidFill>
                <a:latin typeface="Open Sans"/>
                <a:ea typeface="Open Sans"/>
                <a:cs typeface="Open Sans"/>
                <a:sym typeface="Open Sans"/>
              </a:rPr>
              <a:t>dérives</a:t>
            </a:r>
            <a:r>
              <a:rPr lang="en-US" sz="2000" dirty="0">
                <a:solidFill>
                  <a:srgbClr val="2B3B8F"/>
                </a:solidFill>
                <a:latin typeface="Open Sans"/>
                <a:ea typeface="Open Sans"/>
                <a:cs typeface="Open Sans"/>
                <a:sym typeface="Open Sans"/>
              </a:rPr>
              <a:t>, incidents, impacts, </a:t>
            </a:r>
            <a:r>
              <a:rPr lang="en-US" sz="2000" dirty="0" err="1">
                <a:solidFill>
                  <a:srgbClr val="2B3B8F"/>
                </a:solidFill>
                <a:latin typeface="Open Sans"/>
                <a:ea typeface="Open Sans"/>
                <a:cs typeface="Open Sans"/>
                <a:sym typeface="Open Sans"/>
              </a:rPr>
              <a:t>l’utilisation</a:t>
            </a:r>
            <a:r>
              <a:rPr lang="en-US" sz="2000" dirty="0">
                <a:solidFill>
                  <a:srgbClr val="2B3B8F"/>
                </a:solidFill>
                <a:latin typeface="Open Sans"/>
                <a:ea typeface="Open Sans"/>
                <a:cs typeface="Open Sans"/>
                <a:sym typeface="Open Sans"/>
              </a:rPr>
              <a:t> </a:t>
            </a:r>
            <a:r>
              <a:rPr lang="en-US" sz="2000" dirty="0" err="1">
                <a:solidFill>
                  <a:srgbClr val="2B3B8F"/>
                </a:solidFill>
                <a:latin typeface="Open Sans"/>
                <a:ea typeface="Open Sans"/>
                <a:cs typeface="Open Sans"/>
                <a:sym typeface="Open Sans"/>
              </a:rPr>
              <a:t>réelle</a:t>
            </a:r>
            <a:r>
              <a:rPr lang="en-US" sz="2000" dirty="0">
                <a:solidFill>
                  <a:srgbClr val="2B3B8F"/>
                </a:solidFill>
                <a:latin typeface="Open Sans"/>
                <a:ea typeface="Open Sans"/>
                <a:cs typeface="Open Sans"/>
                <a:sym typeface="Open Sans"/>
              </a:rPr>
              <a:t>.</a:t>
            </a:r>
          </a:p>
        </p:txBody>
      </p:sp>
      <p:sp>
        <p:nvSpPr>
          <p:cNvPr id="52" name="AutoShape 52"/>
          <p:cNvSpPr/>
          <p:nvPr/>
        </p:nvSpPr>
        <p:spPr>
          <a:xfrm>
            <a:off x="2386908" y="3858539"/>
            <a:ext cx="1555215" cy="0"/>
          </a:xfrm>
          <a:prstGeom prst="line">
            <a:avLst/>
          </a:prstGeom>
          <a:ln w="76200" cap="flat">
            <a:solidFill>
              <a:srgbClr val="2B3B8F"/>
            </a:solidFill>
            <a:prstDash val="solid"/>
            <a:headEnd type="none" w="sm" len="sm"/>
            <a:tailEnd type="triangle" w="lg" len="med"/>
          </a:ln>
        </p:spPr>
        <p:txBody>
          <a:bodyPr/>
          <a:lstStyle/>
          <a:p>
            <a:endParaRPr lang="fr-BE"/>
          </a:p>
        </p:txBody>
      </p:sp>
      <p:sp>
        <p:nvSpPr>
          <p:cNvPr id="53" name="AutoShape 53"/>
          <p:cNvSpPr/>
          <p:nvPr/>
        </p:nvSpPr>
        <p:spPr>
          <a:xfrm flipV="1">
            <a:off x="5338802" y="3858538"/>
            <a:ext cx="1555215" cy="2"/>
          </a:xfrm>
          <a:prstGeom prst="line">
            <a:avLst/>
          </a:prstGeom>
          <a:ln w="76200" cap="flat">
            <a:solidFill>
              <a:srgbClr val="2B3B8F"/>
            </a:solidFill>
            <a:prstDash val="solid"/>
            <a:headEnd type="none" w="sm" len="sm"/>
            <a:tailEnd type="triangle" w="lg" len="med"/>
          </a:ln>
        </p:spPr>
        <p:txBody>
          <a:bodyPr/>
          <a:lstStyle/>
          <a:p>
            <a:endParaRPr lang="fr-BE"/>
          </a:p>
        </p:txBody>
      </p:sp>
      <p:sp>
        <p:nvSpPr>
          <p:cNvPr id="54" name="AutoShape 54"/>
          <p:cNvSpPr/>
          <p:nvPr/>
        </p:nvSpPr>
        <p:spPr>
          <a:xfrm flipV="1">
            <a:off x="8290697" y="3858539"/>
            <a:ext cx="1555216" cy="3"/>
          </a:xfrm>
          <a:prstGeom prst="line">
            <a:avLst/>
          </a:prstGeom>
          <a:ln w="76200" cap="flat">
            <a:solidFill>
              <a:srgbClr val="2B3B8F"/>
            </a:solidFill>
            <a:prstDash val="solid"/>
            <a:headEnd type="none" w="sm" len="sm"/>
            <a:tailEnd type="triangle" w="lg" len="med"/>
          </a:ln>
        </p:spPr>
        <p:txBody>
          <a:bodyPr/>
          <a:lstStyle/>
          <a:p>
            <a:endParaRPr lang="fr-BE"/>
          </a:p>
        </p:txBody>
      </p:sp>
      <p:sp>
        <p:nvSpPr>
          <p:cNvPr id="55" name="AutoShape 55"/>
          <p:cNvSpPr/>
          <p:nvPr/>
        </p:nvSpPr>
        <p:spPr>
          <a:xfrm flipV="1">
            <a:off x="11242590" y="3858539"/>
            <a:ext cx="1555216" cy="3"/>
          </a:xfrm>
          <a:prstGeom prst="line">
            <a:avLst/>
          </a:prstGeom>
          <a:ln w="76200" cap="flat">
            <a:solidFill>
              <a:srgbClr val="2B3B8F"/>
            </a:solidFill>
            <a:prstDash val="solid"/>
            <a:headEnd type="none" w="sm" len="sm"/>
            <a:tailEnd type="triangle" w="lg" len="med"/>
          </a:ln>
        </p:spPr>
        <p:txBody>
          <a:bodyPr/>
          <a:lstStyle/>
          <a:p>
            <a:endParaRPr lang="fr-BE"/>
          </a:p>
        </p:txBody>
      </p:sp>
      <p:sp>
        <p:nvSpPr>
          <p:cNvPr id="56" name="AutoShape 56"/>
          <p:cNvSpPr/>
          <p:nvPr/>
        </p:nvSpPr>
        <p:spPr>
          <a:xfrm flipV="1">
            <a:off x="14194485" y="3858539"/>
            <a:ext cx="1555216" cy="3"/>
          </a:xfrm>
          <a:prstGeom prst="line">
            <a:avLst/>
          </a:prstGeom>
          <a:ln w="76200" cap="flat">
            <a:solidFill>
              <a:srgbClr val="2B3B8F"/>
            </a:solidFill>
            <a:prstDash val="solid"/>
            <a:headEnd type="none" w="sm" len="sm"/>
            <a:tailEnd type="triangle" w="lg" len="med"/>
          </a:ln>
        </p:spPr>
        <p:txBody>
          <a:bodyPr/>
          <a:lstStyle/>
          <a:p>
            <a:endParaRPr lang="fr-BE"/>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E325C"/>
        </a:solidFill>
        <a:effectLst/>
      </p:bgPr>
    </p:bg>
    <p:spTree>
      <p:nvGrpSpPr>
        <p:cNvPr id="1" name="">
          <a:extLst>
            <a:ext uri="{FF2B5EF4-FFF2-40B4-BE49-F238E27FC236}">
              <a16:creationId xmlns:a16="http://schemas.microsoft.com/office/drawing/2014/main" id="{4F5E5A36-C5C2-88CE-8E24-A97C30964BB5}"/>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08E0AE9C-02A0-FD69-7AEB-D53B8FBFD29E}"/>
              </a:ext>
            </a:extLst>
          </p:cNvPr>
          <p:cNvSpPr txBox="1"/>
          <p:nvPr/>
        </p:nvSpPr>
        <p:spPr>
          <a:xfrm>
            <a:off x="3302053" y="3355799"/>
            <a:ext cx="11683894" cy="3575402"/>
          </a:xfrm>
          <a:prstGeom prst="rect">
            <a:avLst/>
          </a:prstGeom>
        </p:spPr>
        <p:txBody>
          <a:bodyPr wrap="square" lIns="0" tIns="0" rIns="0" bIns="0" rtlCol="0" anchor="t">
            <a:spAutoFit/>
          </a:bodyPr>
          <a:lstStyle/>
          <a:p>
            <a:pPr marL="0" marR="0" lvl="0" indent="0" algn="ctr" defTabSz="914400" rtl="0" eaLnBrk="1" fontAlgn="auto" latinLnBrk="0" hangingPunct="1">
              <a:lnSpc>
                <a:spcPts val="9520"/>
              </a:lnSpc>
              <a:spcBef>
                <a:spcPct val="0"/>
              </a:spcBef>
              <a:spcAft>
                <a:spcPts val="0"/>
              </a:spcAft>
              <a:buClrTx/>
              <a:buSzTx/>
              <a:buFontTx/>
              <a:buNone/>
              <a:tabLst/>
              <a:defRPr/>
            </a:pPr>
            <a:r>
              <a:rPr kumimoji="0" lang="en-US" sz="6800" b="1" i="0" u="none" strike="noStrike" kern="1200" cap="none" spc="0" normalizeH="0" baseline="0" noProof="0" dirty="0">
                <a:ln>
                  <a:noFill/>
                </a:ln>
                <a:solidFill>
                  <a:srgbClr val="FFFFFF"/>
                </a:solidFill>
                <a:effectLst/>
                <a:uLnTx/>
                <a:uFillTx/>
                <a:latin typeface="Open Sans Bold"/>
                <a:ea typeface="Open Sans Bold"/>
                <a:cs typeface="Open Sans Bold"/>
                <a:sym typeface="Open Sans Bold"/>
              </a:rPr>
              <a:t>Pas </a:t>
            </a:r>
            <a:r>
              <a:rPr kumimoji="0" lang="en-US" sz="6800" b="1" i="0" u="none" strike="noStrike" kern="1200" cap="none" spc="0" normalizeH="0" baseline="0" noProof="0" dirty="0" err="1">
                <a:ln>
                  <a:noFill/>
                </a:ln>
                <a:solidFill>
                  <a:srgbClr val="FFFFFF"/>
                </a:solidFill>
                <a:effectLst/>
                <a:uLnTx/>
                <a:uFillTx/>
                <a:latin typeface="Open Sans Bold"/>
                <a:ea typeface="Open Sans Bold"/>
                <a:cs typeface="Open Sans Bold"/>
                <a:sym typeface="Open Sans Bold"/>
              </a:rPr>
              <a:t>toujours</a:t>
            </a:r>
            <a:r>
              <a:rPr kumimoji="0" lang="en-US" sz="6800" b="1" i="0" u="none" strike="noStrike" kern="1200" cap="none" spc="0" normalizeH="0" baseline="0" noProof="0" dirty="0">
                <a:ln>
                  <a:noFill/>
                </a:ln>
                <a:solidFill>
                  <a:srgbClr val="FFFFFF"/>
                </a:solidFill>
                <a:effectLst/>
                <a:uLnTx/>
                <a:uFillTx/>
                <a:latin typeface="Open Sans Bold"/>
                <a:ea typeface="Open Sans Bold"/>
                <a:cs typeface="Open Sans Bold"/>
                <a:sym typeface="Open Sans Bold"/>
              </a:rPr>
              <a:t> </a:t>
            </a:r>
            <a:r>
              <a:rPr kumimoji="0" lang="en-US" sz="6800" b="1" i="0" u="none" strike="noStrike" kern="1200" cap="none" spc="0" normalizeH="0" baseline="0" noProof="0" dirty="0" err="1">
                <a:ln>
                  <a:noFill/>
                </a:ln>
                <a:solidFill>
                  <a:srgbClr val="FFFFFF"/>
                </a:solidFill>
                <a:effectLst/>
                <a:uLnTx/>
                <a:uFillTx/>
                <a:latin typeface="Open Sans Bold"/>
                <a:ea typeface="Open Sans Bold"/>
                <a:cs typeface="Open Sans Bold"/>
                <a:sym typeface="Open Sans Bold"/>
              </a:rPr>
              <a:t>si</a:t>
            </a:r>
            <a:r>
              <a:rPr kumimoji="0" lang="en-US" sz="6800" b="1" i="0" u="none" strike="noStrike" kern="1200" cap="none" spc="0" normalizeH="0" baseline="0" noProof="0" dirty="0">
                <a:ln>
                  <a:noFill/>
                </a:ln>
                <a:solidFill>
                  <a:srgbClr val="FFFFFF"/>
                </a:solidFill>
                <a:effectLst/>
                <a:uLnTx/>
                <a:uFillTx/>
                <a:latin typeface="Open Sans Bold"/>
                <a:ea typeface="Open Sans Bold"/>
                <a:cs typeface="Open Sans Bold"/>
                <a:sym typeface="Open Sans Bold"/>
              </a:rPr>
              <a:t> simple d’être </a:t>
            </a:r>
            <a:r>
              <a:rPr kumimoji="0" lang="en-US" sz="6800" b="1" i="0" u="none" strike="noStrike" kern="1200" cap="none" spc="0" normalizeH="0" baseline="0" noProof="0" dirty="0" err="1">
                <a:ln>
                  <a:noFill/>
                </a:ln>
                <a:solidFill>
                  <a:srgbClr val="FFFFFF"/>
                </a:solidFill>
                <a:effectLst/>
                <a:uLnTx/>
                <a:uFillTx/>
                <a:latin typeface="Open Sans Bold"/>
                <a:ea typeface="Open Sans Bold"/>
                <a:cs typeface="Open Sans Bold"/>
                <a:sym typeface="Open Sans Bold"/>
              </a:rPr>
              <a:t>éthique</a:t>
            </a:r>
            <a:r>
              <a:rPr kumimoji="0" lang="en-US" sz="6800" b="1" i="0" u="none" strike="noStrike" kern="1200" cap="none" spc="0" normalizeH="0" baseline="0" noProof="0" dirty="0">
                <a:ln>
                  <a:noFill/>
                </a:ln>
                <a:solidFill>
                  <a:srgbClr val="FFFFFF"/>
                </a:solidFill>
                <a:effectLst/>
                <a:uLnTx/>
                <a:uFillTx/>
                <a:latin typeface="Open Sans Bold"/>
                <a:ea typeface="Open Sans Bold"/>
                <a:cs typeface="Open Sans Bold"/>
                <a:sym typeface="Open Sans Bold"/>
              </a:rPr>
              <a:t> …</a:t>
            </a:r>
          </a:p>
          <a:p>
            <a:pPr marL="0" marR="0" lvl="0" indent="0" algn="ctr" defTabSz="914400" rtl="0" eaLnBrk="1" fontAlgn="auto" latinLnBrk="0" hangingPunct="1">
              <a:lnSpc>
                <a:spcPts val="9520"/>
              </a:lnSpc>
              <a:spcBef>
                <a:spcPct val="0"/>
              </a:spcBef>
              <a:spcAft>
                <a:spcPts val="0"/>
              </a:spcAft>
              <a:buClrTx/>
              <a:buSzTx/>
              <a:buFontTx/>
              <a:buNone/>
              <a:tabLst/>
              <a:defRPr/>
            </a:pPr>
            <a:r>
              <a:rPr kumimoji="0" lang="en-US" sz="6800" b="1" i="0" u="none" strike="noStrike" kern="1200" cap="none" spc="0" normalizeH="0" baseline="0" noProof="0" dirty="0">
                <a:ln>
                  <a:noFill/>
                </a:ln>
                <a:solidFill>
                  <a:srgbClr val="FFFFFF"/>
                </a:solidFill>
                <a:effectLst/>
                <a:uLnTx/>
                <a:uFillTx/>
                <a:latin typeface="Open Sans Bold"/>
                <a:ea typeface="Open Sans Bold"/>
                <a:cs typeface="Open Sans Bold"/>
                <a:sym typeface="Open Sans Bold"/>
              </a:rPr>
              <a:t>À vous de </a:t>
            </a:r>
            <a:r>
              <a:rPr kumimoji="0" lang="en-US" sz="6800" b="1" i="0" u="none" strike="noStrike" kern="1200" cap="none" spc="0" normalizeH="0" baseline="0" noProof="0" dirty="0" err="1">
                <a:ln>
                  <a:noFill/>
                </a:ln>
                <a:solidFill>
                  <a:srgbClr val="FFFFFF"/>
                </a:solidFill>
                <a:effectLst/>
                <a:uLnTx/>
                <a:uFillTx/>
                <a:latin typeface="Open Sans Bold"/>
                <a:ea typeface="Open Sans Bold"/>
                <a:cs typeface="Open Sans Bold"/>
                <a:sym typeface="Open Sans Bold"/>
              </a:rPr>
              <a:t>jouer</a:t>
            </a:r>
            <a:r>
              <a:rPr kumimoji="0" lang="en-US" sz="6800" b="1" i="0" u="none" strike="noStrike" kern="1200" cap="none" spc="0" normalizeH="0" baseline="0" noProof="0" dirty="0">
                <a:ln>
                  <a:noFill/>
                </a:ln>
                <a:solidFill>
                  <a:srgbClr val="FFFFFF"/>
                </a:solidFill>
                <a:effectLst/>
                <a:uLnTx/>
                <a:uFillTx/>
                <a:latin typeface="Open Sans Bold"/>
                <a:ea typeface="Open Sans Bold"/>
                <a:cs typeface="Open Sans Bold"/>
                <a:sym typeface="Open Sans Bold"/>
              </a:rPr>
              <a:t> !</a:t>
            </a:r>
          </a:p>
        </p:txBody>
      </p:sp>
    </p:spTree>
    <p:extLst>
      <p:ext uri="{BB962C8B-B14F-4D97-AF65-F5344CB8AC3E}">
        <p14:creationId xmlns:p14="http://schemas.microsoft.com/office/powerpoint/2010/main" val="25032657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A66A0-8A72-69FB-8900-E6BB9662AD6B}"/>
            </a:ext>
          </a:extLst>
        </p:cNvPr>
        <p:cNvGrpSpPr/>
        <p:nvPr/>
      </p:nvGrpSpPr>
      <p:grpSpPr>
        <a:xfrm>
          <a:off x="0" y="0"/>
          <a:ext cx="0" cy="0"/>
          <a:chOff x="0" y="0"/>
          <a:chExt cx="0" cy="0"/>
        </a:xfrm>
      </p:grpSpPr>
      <p:pic>
        <p:nvPicPr>
          <p:cNvPr id="6" name="Image 5">
            <a:extLst>
              <a:ext uri="{FF2B5EF4-FFF2-40B4-BE49-F238E27FC236}">
                <a16:creationId xmlns:a16="http://schemas.microsoft.com/office/drawing/2014/main" id="{78A208DB-F286-1600-42C2-E583446F6CD9}"/>
              </a:ext>
            </a:extLst>
          </p:cNvPr>
          <p:cNvPicPr>
            <a:picLocks noChangeAspect="1"/>
          </p:cNvPicPr>
          <p:nvPr/>
        </p:nvPicPr>
        <p:blipFill>
          <a:blip r:embed="rId2">
            <a:extLst>
              <a:ext uri="{28A0092B-C50C-407E-A947-70E740481C1C}">
                <a14:useLocalDpi xmlns:a14="http://schemas.microsoft.com/office/drawing/2010/main" val="0"/>
              </a:ext>
            </a:extLst>
          </a:blip>
          <a:srcRect b="14601"/>
          <a:stretch>
            <a:fillRect/>
          </a:stretch>
        </p:blipFill>
        <p:spPr>
          <a:xfrm>
            <a:off x="1101143" y="2324100"/>
            <a:ext cx="16085714" cy="6400800"/>
          </a:xfrm>
          <a:prstGeom prst="rect">
            <a:avLst/>
          </a:prstGeom>
        </p:spPr>
      </p:pic>
      <p:sp>
        <p:nvSpPr>
          <p:cNvPr id="7" name="TextBox 2">
            <a:extLst>
              <a:ext uri="{FF2B5EF4-FFF2-40B4-BE49-F238E27FC236}">
                <a16:creationId xmlns:a16="http://schemas.microsoft.com/office/drawing/2014/main" id="{3E80AE45-9B32-04E5-D83A-7F0E327710BC}"/>
              </a:ext>
            </a:extLst>
          </p:cNvPr>
          <p:cNvSpPr txBox="1"/>
          <p:nvPr/>
        </p:nvSpPr>
        <p:spPr>
          <a:xfrm>
            <a:off x="735956" y="659116"/>
            <a:ext cx="16523344" cy="754950"/>
          </a:xfrm>
          <a:prstGeom prst="rect">
            <a:avLst/>
          </a:prstGeom>
        </p:spPr>
        <p:txBody>
          <a:bodyPr lIns="0" tIns="0" rIns="0" bIns="0" rtlCol="0" anchor="t">
            <a:spAutoFit/>
          </a:bodyPr>
          <a:lstStyle/>
          <a:p>
            <a:pPr algn="l">
              <a:lnSpc>
                <a:spcPts val="6299"/>
              </a:lnSpc>
              <a:spcBef>
                <a:spcPct val="0"/>
              </a:spcBef>
            </a:pPr>
            <a:r>
              <a:rPr lang="en-US" sz="4500" dirty="0" err="1">
                <a:solidFill>
                  <a:srgbClr val="000000"/>
                </a:solidFill>
                <a:latin typeface="Open Sans"/>
                <a:ea typeface="Open Sans"/>
                <a:cs typeface="Open Sans"/>
                <a:sym typeface="Open Sans"/>
              </a:rPr>
              <a:t>Imaginez</a:t>
            </a:r>
            <a:r>
              <a:rPr lang="en-US" sz="4500" dirty="0">
                <a:solidFill>
                  <a:srgbClr val="000000"/>
                </a:solidFill>
                <a:latin typeface="Open Sans"/>
                <a:ea typeface="Open Sans"/>
                <a:cs typeface="Open Sans"/>
                <a:sym typeface="Open Sans"/>
              </a:rPr>
              <a:t> </a:t>
            </a:r>
            <a:r>
              <a:rPr lang="en-US" sz="4500" dirty="0" err="1">
                <a:solidFill>
                  <a:srgbClr val="000000"/>
                </a:solidFill>
                <a:latin typeface="Open Sans"/>
                <a:ea typeface="Open Sans"/>
                <a:cs typeface="Open Sans"/>
                <a:sym typeface="Open Sans"/>
              </a:rPr>
              <a:t>une</a:t>
            </a:r>
            <a:r>
              <a:rPr lang="en-US" sz="4500" dirty="0">
                <a:solidFill>
                  <a:srgbClr val="000000"/>
                </a:solidFill>
                <a:latin typeface="Open Sans"/>
                <a:ea typeface="Open Sans"/>
                <a:cs typeface="Open Sans"/>
                <a:sym typeface="Open Sans"/>
              </a:rPr>
              <a:t> </a:t>
            </a:r>
            <a:r>
              <a:rPr lang="en-US" sz="4500" dirty="0" err="1">
                <a:solidFill>
                  <a:srgbClr val="000000"/>
                </a:solidFill>
                <a:latin typeface="Open Sans"/>
                <a:ea typeface="Open Sans"/>
                <a:cs typeface="Open Sans"/>
                <a:sym typeface="Open Sans"/>
              </a:rPr>
              <a:t>entreprise</a:t>
            </a:r>
            <a:r>
              <a:rPr lang="en-US" sz="4500" dirty="0">
                <a:solidFill>
                  <a:srgbClr val="000000"/>
                </a:solidFill>
                <a:latin typeface="Open Sans"/>
                <a:ea typeface="Open Sans"/>
                <a:cs typeface="Open Sans"/>
                <a:sym typeface="Open Sans"/>
              </a:rPr>
              <a:t> qui </a:t>
            </a:r>
            <a:r>
              <a:rPr lang="en-US" sz="4500" dirty="0" err="1">
                <a:solidFill>
                  <a:srgbClr val="000000"/>
                </a:solidFill>
                <a:latin typeface="Open Sans"/>
                <a:ea typeface="Open Sans"/>
                <a:cs typeface="Open Sans"/>
                <a:sym typeface="Open Sans"/>
              </a:rPr>
              <a:t>utilise</a:t>
            </a:r>
            <a:r>
              <a:rPr lang="en-US" sz="4500" dirty="0">
                <a:solidFill>
                  <a:srgbClr val="000000"/>
                </a:solidFill>
                <a:latin typeface="Open Sans"/>
                <a:ea typeface="Open Sans"/>
                <a:cs typeface="Open Sans"/>
                <a:sym typeface="Open Sans"/>
              </a:rPr>
              <a:t> </a:t>
            </a:r>
            <a:r>
              <a:rPr lang="en-US" sz="4500" dirty="0" err="1">
                <a:solidFill>
                  <a:srgbClr val="000000"/>
                </a:solidFill>
                <a:latin typeface="Open Sans"/>
                <a:ea typeface="Open Sans"/>
                <a:cs typeface="Open Sans"/>
                <a:sym typeface="Open Sans"/>
              </a:rPr>
              <a:t>une</a:t>
            </a:r>
            <a:r>
              <a:rPr lang="en-US" sz="4500" dirty="0">
                <a:solidFill>
                  <a:srgbClr val="000000"/>
                </a:solidFill>
                <a:latin typeface="Open Sans"/>
                <a:ea typeface="Open Sans"/>
                <a:cs typeface="Open Sans"/>
                <a:sym typeface="Open Sans"/>
              </a:rPr>
              <a:t> IA pour trier des CV …</a:t>
            </a:r>
          </a:p>
        </p:txBody>
      </p:sp>
    </p:spTree>
    <p:extLst>
      <p:ext uri="{BB962C8B-B14F-4D97-AF65-F5344CB8AC3E}">
        <p14:creationId xmlns:p14="http://schemas.microsoft.com/office/powerpoint/2010/main" val="1011804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C276B-8DE5-20B4-EF7C-D8C82DDAD28B}"/>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47B04612-C7F6-F46B-590F-590F532C70C6}"/>
              </a:ext>
            </a:extLst>
          </p:cNvPr>
          <p:cNvSpPr txBox="1"/>
          <p:nvPr/>
        </p:nvSpPr>
        <p:spPr>
          <a:xfrm>
            <a:off x="735956" y="659116"/>
            <a:ext cx="16523344" cy="754950"/>
          </a:xfrm>
          <a:prstGeom prst="rect">
            <a:avLst/>
          </a:prstGeom>
        </p:spPr>
        <p:txBody>
          <a:bodyPr lIns="0" tIns="0" rIns="0" bIns="0" rtlCol="0" anchor="t">
            <a:spAutoFit/>
          </a:bodyPr>
          <a:lstStyle/>
          <a:p>
            <a:pPr algn="l">
              <a:lnSpc>
                <a:spcPts val="6299"/>
              </a:lnSpc>
              <a:spcBef>
                <a:spcPct val="0"/>
              </a:spcBef>
            </a:pPr>
            <a:r>
              <a:rPr lang="en-US" sz="4500" dirty="0">
                <a:solidFill>
                  <a:srgbClr val="000000"/>
                </a:solidFill>
                <a:latin typeface="Open Sans"/>
                <a:ea typeface="Open Sans"/>
                <a:cs typeface="Open Sans"/>
                <a:sym typeface="Open Sans"/>
              </a:rPr>
              <a:t>Elle doit </a:t>
            </a:r>
            <a:r>
              <a:rPr lang="en-US" sz="4500" dirty="0" err="1">
                <a:solidFill>
                  <a:srgbClr val="000000"/>
                </a:solidFill>
                <a:latin typeface="Open Sans"/>
                <a:ea typeface="Open Sans"/>
                <a:cs typeface="Open Sans"/>
                <a:sym typeface="Open Sans"/>
              </a:rPr>
              <a:t>choisir</a:t>
            </a:r>
            <a:r>
              <a:rPr lang="en-US" sz="4500" dirty="0">
                <a:solidFill>
                  <a:srgbClr val="000000"/>
                </a:solidFill>
                <a:latin typeface="Open Sans"/>
                <a:ea typeface="Open Sans"/>
                <a:cs typeface="Open Sans"/>
                <a:sym typeface="Open Sans"/>
              </a:rPr>
              <a:t> entre deux </a:t>
            </a:r>
            <a:r>
              <a:rPr lang="en-US" sz="4500" dirty="0" err="1">
                <a:solidFill>
                  <a:srgbClr val="000000"/>
                </a:solidFill>
                <a:latin typeface="Open Sans"/>
                <a:ea typeface="Open Sans"/>
                <a:cs typeface="Open Sans"/>
                <a:sym typeface="Open Sans"/>
              </a:rPr>
              <a:t>algorithmes</a:t>
            </a:r>
            <a:r>
              <a:rPr lang="en-US" sz="4500" dirty="0">
                <a:solidFill>
                  <a:srgbClr val="000000"/>
                </a:solidFill>
                <a:latin typeface="Open Sans"/>
                <a:ea typeface="Open Sans"/>
                <a:cs typeface="Open Sans"/>
                <a:sym typeface="Open Sans"/>
              </a:rPr>
              <a:t>: </a:t>
            </a:r>
          </a:p>
        </p:txBody>
      </p:sp>
      <p:pic>
        <p:nvPicPr>
          <p:cNvPr id="3" name="Image 2">
            <a:extLst>
              <a:ext uri="{FF2B5EF4-FFF2-40B4-BE49-F238E27FC236}">
                <a16:creationId xmlns:a16="http://schemas.microsoft.com/office/drawing/2014/main" id="{9A517BAB-4044-820D-42F9-97D201B891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5723" y="2110166"/>
            <a:ext cx="5723809" cy="6066667"/>
          </a:xfrm>
          <a:prstGeom prst="rect">
            <a:avLst/>
          </a:prstGeom>
        </p:spPr>
      </p:pic>
      <p:sp>
        <p:nvSpPr>
          <p:cNvPr id="4" name="TextBox 2">
            <a:extLst>
              <a:ext uri="{FF2B5EF4-FFF2-40B4-BE49-F238E27FC236}">
                <a16:creationId xmlns:a16="http://schemas.microsoft.com/office/drawing/2014/main" id="{8E94C12F-6263-6FBE-6CA3-F61A8B7B72AE}"/>
              </a:ext>
            </a:extLst>
          </p:cNvPr>
          <p:cNvSpPr txBox="1"/>
          <p:nvPr/>
        </p:nvSpPr>
        <p:spPr>
          <a:xfrm>
            <a:off x="735956" y="2933700"/>
            <a:ext cx="4495800" cy="754950"/>
          </a:xfrm>
          <a:prstGeom prst="rect">
            <a:avLst/>
          </a:prstGeom>
        </p:spPr>
        <p:txBody>
          <a:bodyPr wrap="square" lIns="0" tIns="0" rIns="0" bIns="0" rtlCol="0" anchor="t">
            <a:spAutoFit/>
          </a:bodyPr>
          <a:lstStyle/>
          <a:p>
            <a:pPr algn="ctr">
              <a:lnSpc>
                <a:spcPts val="6299"/>
              </a:lnSpc>
              <a:spcBef>
                <a:spcPct val="0"/>
              </a:spcBef>
            </a:pPr>
            <a:r>
              <a:rPr lang="en-US" sz="4500" b="1" dirty="0" err="1">
                <a:solidFill>
                  <a:srgbClr val="000000"/>
                </a:solidFill>
                <a:latin typeface="Open Sans"/>
                <a:ea typeface="Open Sans"/>
                <a:cs typeface="Open Sans"/>
                <a:sym typeface="Open Sans"/>
              </a:rPr>
              <a:t>Algorithme</a:t>
            </a:r>
            <a:r>
              <a:rPr lang="en-US" sz="4500" b="1" dirty="0">
                <a:solidFill>
                  <a:srgbClr val="000000"/>
                </a:solidFill>
                <a:latin typeface="Open Sans"/>
                <a:ea typeface="Open Sans"/>
                <a:cs typeface="Open Sans"/>
                <a:sym typeface="Open Sans"/>
              </a:rPr>
              <a:t> A</a:t>
            </a:r>
          </a:p>
        </p:txBody>
      </p:sp>
      <p:sp>
        <p:nvSpPr>
          <p:cNvPr id="10" name="TextBox 2">
            <a:extLst>
              <a:ext uri="{FF2B5EF4-FFF2-40B4-BE49-F238E27FC236}">
                <a16:creationId xmlns:a16="http://schemas.microsoft.com/office/drawing/2014/main" id="{2DB8E2A1-279C-CCF8-C112-6B2D20CC1864}"/>
              </a:ext>
            </a:extLst>
          </p:cNvPr>
          <p:cNvSpPr txBox="1"/>
          <p:nvPr/>
        </p:nvSpPr>
        <p:spPr>
          <a:xfrm>
            <a:off x="425940" y="3848100"/>
            <a:ext cx="5257800" cy="3122393"/>
          </a:xfrm>
          <a:prstGeom prst="rect">
            <a:avLst/>
          </a:prstGeom>
        </p:spPr>
        <p:txBody>
          <a:bodyPr wrap="square" lIns="0" tIns="0" rIns="0" bIns="0" rtlCol="0" anchor="t">
            <a:spAutoFit/>
          </a:bodyPr>
          <a:lstStyle/>
          <a:p>
            <a:pPr algn="ctr">
              <a:lnSpc>
                <a:spcPts val="6299"/>
              </a:lnSpc>
              <a:spcBef>
                <a:spcPct val="0"/>
              </a:spcBef>
            </a:pPr>
            <a:r>
              <a:rPr lang="fr-FR" sz="2800" dirty="0">
                <a:solidFill>
                  <a:srgbClr val="000000"/>
                </a:solidFill>
                <a:latin typeface="Open Sans"/>
                <a:ea typeface="Open Sans"/>
                <a:cs typeface="Open Sans"/>
                <a:sym typeface="Open Sans"/>
              </a:rPr>
              <a:t>très performant pour identifier les CV correspondant aux compétences recherchées, mais il défavorise les femmes.</a:t>
            </a:r>
            <a:endParaRPr lang="en-US" sz="2800" dirty="0">
              <a:solidFill>
                <a:srgbClr val="000000"/>
              </a:solidFill>
              <a:latin typeface="Open Sans"/>
              <a:ea typeface="Open Sans"/>
              <a:cs typeface="Open Sans"/>
              <a:sym typeface="Open Sans"/>
            </a:endParaRPr>
          </a:p>
        </p:txBody>
      </p:sp>
      <p:sp>
        <p:nvSpPr>
          <p:cNvPr id="11" name="TextBox 2">
            <a:extLst>
              <a:ext uri="{FF2B5EF4-FFF2-40B4-BE49-F238E27FC236}">
                <a16:creationId xmlns:a16="http://schemas.microsoft.com/office/drawing/2014/main" id="{54E45841-6135-94B6-B72B-E25641FA0235}"/>
              </a:ext>
            </a:extLst>
          </p:cNvPr>
          <p:cNvSpPr txBox="1"/>
          <p:nvPr/>
        </p:nvSpPr>
        <p:spPr>
          <a:xfrm>
            <a:off x="12295567" y="2933700"/>
            <a:ext cx="4495800" cy="754950"/>
          </a:xfrm>
          <a:prstGeom prst="rect">
            <a:avLst/>
          </a:prstGeom>
        </p:spPr>
        <p:txBody>
          <a:bodyPr wrap="square" lIns="0" tIns="0" rIns="0" bIns="0" rtlCol="0" anchor="t">
            <a:spAutoFit/>
          </a:bodyPr>
          <a:lstStyle/>
          <a:p>
            <a:pPr algn="ctr">
              <a:lnSpc>
                <a:spcPts val="6299"/>
              </a:lnSpc>
              <a:spcBef>
                <a:spcPct val="0"/>
              </a:spcBef>
            </a:pPr>
            <a:r>
              <a:rPr lang="en-US" sz="4500" b="1" dirty="0" err="1">
                <a:solidFill>
                  <a:srgbClr val="000000"/>
                </a:solidFill>
                <a:latin typeface="Open Sans"/>
                <a:ea typeface="Open Sans"/>
                <a:cs typeface="Open Sans"/>
                <a:sym typeface="Open Sans"/>
              </a:rPr>
              <a:t>Algorithme</a:t>
            </a:r>
            <a:r>
              <a:rPr lang="en-US" sz="4500" b="1" dirty="0">
                <a:solidFill>
                  <a:srgbClr val="000000"/>
                </a:solidFill>
                <a:latin typeface="Open Sans"/>
                <a:ea typeface="Open Sans"/>
                <a:cs typeface="Open Sans"/>
                <a:sym typeface="Open Sans"/>
              </a:rPr>
              <a:t> B</a:t>
            </a:r>
          </a:p>
        </p:txBody>
      </p:sp>
      <p:sp>
        <p:nvSpPr>
          <p:cNvPr id="12" name="TextBox 2">
            <a:extLst>
              <a:ext uri="{FF2B5EF4-FFF2-40B4-BE49-F238E27FC236}">
                <a16:creationId xmlns:a16="http://schemas.microsoft.com/office/drawing/2014/main" id="{E99989C0-2DC3-C74B-C4F0-2CA327570884}"/>
              </a:ext>
            </a:extLst>
          </p:cNvPr>
          <p:cNvSpPr txBox="1"/>
          <p:nvPr/>
        </p:nvSpPr>
        <p:spPr>
          <a:xfrm>
            <a:off x="11985551" y="3848100"/>
            <a:ext cx="5257800" cy="3122393"/>
          </a:xfrm>
          <a:prstGeom prst="rect">
            <a:avLst/>
          </a:prstGeom>
        </p:spPr>
        <p:txBody>
          <a:bodyPr wrap="square" lIns="0" tIns="0" rIns="0" bIns="0" rtlCol="0" anchor="t">
            <a:spAutoFit/>
          </a:bodyPr>
          <a:lstStyle/>
          <a:p>
            <a:pPr algn="ctr">
              <a:lnSpc>
                <a:spcPts val="6299"/>
              </a:lnSpc>
              <a:spcBef>
                <a:spcPct val="0"/>
              </a:spcBef>
            </a:pPr>
            <a:r>
              <a:rPr lang="fr-FR" sz="2800" dirty="0">
                <a:solidFill>
                  <a:srgbClr val="000000"/>
                </a:solidFill>
                <a:latin typeface="Open Sans"/>
                <a:ea typeface="Open Sans"/>
                <a:cs typeface="Open Sans"/>
                <a:sym typeface="Open Sans"/>
              </a:rPr>
              <a:t>équitable entre les genres, mais il sélectionne parfois des CV moins alignés avec les compétences attendues.</a:t>
            </a:r>
            <a:endParaRPr lang="en-US" sz="2800" dirty="0">
              <a:solidFill>
                <a:srgbClr val="000000"/>
              </a:solidFill>
              <a:latin typeface="Open Sans"/>
              <a:ea typeface="Open Sans"/>
              <a:cs typeface="Open Sans"/>
              <a:sym typeface="Open Sans"/>
            </a:endParaRPr>
          </a:p>
        </p:txBody>
      </p:sp>
    </p:spTree>
    <p:extLst>
      <p:ext uri="{BB962C8B-B14F-4D97-AF65-F5344CB8AC3E}">
        <p14:creationId xmlns:p14="http://schemas.microsoft.com/office/powerpoint/2010/main" val="8247997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4089F-1556-0FDA-9374-CAD404A74127}"/>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BCFF2AAE-979B-BB7A-79C3-128FE2E79104}"/>
              </a:ext>
            </a:extLst>
          </p:cNvPr>
          <p:cNvSpPr txBox="1"/>
          <p:nvPr/>
        </p:nvSpPr>
        <p:spPr>
          <a:xfrm>
            <a:off x="882328" y="1181100"/>
            <a:ext cx="16523344" cy="844334"/>
          </a:xfrm>
          <a:prstGeom prst="rect">
            <a:avLst/>
          </a:prstGeom>
        </p:spPr>
        <p:txBody>
          <a:bodyPr lIns="0" tIns="0" rIns="0" bIns="0" rtlCol="0" anchor="t">
            <a:spAutoFit/>
          </a:bodyPr>
          <a:lstStyle/>
          <a:p>
            <a:pPr algn="ctr">
              <a:lnSpc>
                <a:spcPts val="6299"/>
              </a:lnSpc>
              <a:spcBef>
                <a:spcPct val="0"/>
              </a:spcBef>
            </a:pPr>
            <a:r>
              <a:rPr lang="en-US" sz="7200" dirty="0" err="1">
                <a:solidFill>
                  <a:srgbClr val="000000"/>
                </a:solidFill>
                <a:latin typeface="Open Sans"/>
                <a:ea typeface="Open Sans"/>
                <a:cs typeface="Open Sans"/>
                <a:sym typeface="Open Sans"/>
              </a:rPr>
              <a:t>Que</a:t>
            </a:r>
            <a:r>
              <a:rPr lang="en-US" sz="7200" dirty="0">
                <a:solidFill>
                  <a:srgbClr val="000000"/>
                </a:solidFill>
                <a:latin typeface="Open Sans"/>
                <a:ea typeface="Open Sans"/>
                <a:cs typeface="Open Sans"/>
                <a:sym typeface="Open Sans"/>
              </a:rPr>
              <a:t> </a:t>
            </a:r>
            <a:r>
              <a:rPr lang="en-US" sz="7200" dirty="0" err="1">
                <a:solidFill>
                  <a:srgbClr val="000000"/>
                </a:solidFill>
                <a:latin typeface="Open Sans"/>
                <a:ea typeface="Open Sans"/>
                <a:cs typeface="Open Sans"/>
                <a:sym typeface="Open Sans"/>
              </a:rPr>
              <a:t>feriez</a:t>
            </a:r>
            <a:r>
              <a:rPr lang="en-US" sz="7200" dirty="0">
                <a:solidFill>
                  <a:srgbClr val="000000"/>
                </a:solidFill>
                <a:latin typeface="Open Sans"/>
                <a:ea typeface="Open Sans"/>
                <a:cs typeface="Open Sans"/>
                <a:sym typeface="Open Sans"/>
              </a:rPr>
              <a:t>-vous ?</a:t>
            </a:r>
          </a:p>
        </p:txBody>
      </p:sp>
      <p:sp>
        <p:nvSpPr>
          <p:cNvPr id="9" name="TextBox 3">
            <a:extLst>
              <a:ext uri="{FF2B5EF4-FFF2-40B4-BE49-F238E27FC236}">
                <a16:creationId xmlns:a16="http://schemas.microsoft.com/office/drawing/2014/main" id="{5C31E299-1BAB-FF8C-FD0E-6CD271E62A8E}"/>
              </a:ext>
            </a:extLst>
          </p:cNvPr>
          <p:cNvSpPr txBox="1"/>
          <p:nvPr/>
        </p:nvSpPr>
        <p:spPr>
          <a:xfrm>
            <a:off x="882328" y="2628900"/>
            <a:ext cx="16523344" cy="1994905"/>
          </a:xfrm>
          <a:prstGeom prst="rect">
            <a:avLst/>
          </a:prstGeom>
        </p:spPr>
        <p:txBody>
          <a:bodyPr lIns="0" tIns="0" rIns="0" bIns="0" rtlCol="0" anchor="t">
            <a:spAutoFit/>
          </a:bodyPr>
          <a:lstStyle/>
          <a:p>
            <a:pPr algn="l">
              <a:lnSpc>
                <a:spcPts val="5320"/>
              </a:lnSpc>
              <a:spcBef>
                <a:spcPct val="0"/>
              </a:spcBef>
            </a:pPr>
            <a:r>
              <a:rPr lang="en-US" sz="3800" dirty="0">
                <a:solidFill>
                  <a:srgbClr val="479DD3"/>
                </a:solidFill>
                <a:latin typeface="Open Sans"/>
                <a:ea typeface="Open Sans"/>
                <a:cs typeface="Open Sans"/>
                <a:sym typeface="Open Sans"/>
              </a:rPr>
              <a:t>Allez sur </a:t>
            </a:r>
            <a:r>
              <a:rPr lang="en-US" sz="3800" b="1" dirty="0">
                <a:solidFill>
                  <a:srgbClr val="479DD3"/>
                </a:solidFill>
                <a:latin typeface="Open Sans"/>
                <a:ea typeface="Open Sans"/>
                <a:cs typeface="Open Sans"/>
                <a:sym typeface="Open Sans"/>
              </a:rPr>
              <a:t>wooclap.com </a:t>
            </a:r>
          </a:p>
          <a:p>
            <a:pPr algn="l">
              <a:lnSpc>
                <a:spcPts val="5320"/>
              </a:lnSpc>
              <a:spcBef>
                <a:spcPct val="0"/>
              </a:spcBef>
            </a:pPr>
            <a:endParaRPr lang="en-US" sz="3800" dirty="0">
              <a:solidFill>
                <a:srgbClr val="479DD3"/>
              </a:solidFill>
              <a:latin typeface="Open Sans"/>
              <a:ea typeface="Open Sans"/>
              <a:cs typeface="Open Sans"/>
              <a:sym typeface="Open Sans"/>
            </a:endParaRPr>
          </a:p>
          <a:p>
            <a:pPr algn="l">
              <a:lnSpc>
                <a:spcPts val="5320"/>
              </a:lnSpc>
              <a:spcBef>
                <a:spcPct val="0"/>
              </a:spcBef>
            </a:pPr>
            <a:r>
              <a:rPr lang="en-US" sz="3800" dirty="0">
                <a:solidFill>
                  <a:srgbClr val="479DD3"/>
                </a:solidFill>
                <a:latin typeface="Open Sans"/>
                <a:ea typeface="Open Sans"/>
                <a:cs typeface="Open Sans"/>
                <a:sym typeface="Open Sans"/>
              </a:rPr>
              <a:t>Entrez le code : </a:t>
            </a:r>
            <a:r>
              <a:rPr lang="en-US" sz="3800" b="1" dirty="0">
                <a:solidFill>
                  <a:srgbClr val="479DD3"/>
                </a:solidFill>
                <a:latin typeface="Open Sans"/>
                <a:ea typeface="Open Sans"/>
                <a:cs typeface="Open Sans"/>
                <a:sym typeface="Open Sans"/>
              </a:rPr>
              <a:t>QTSRGAU</a:t>
            </a:r>
          </a:p>
        </p:txBody>
      </p:sp>
    </p:spTree>
    <p:extLst>
      <p:ext uri="{BB962C8B-B14F-4D97-AF65-F5344CB8AC3E}">
        <p14:creationId xmlns:p14="http://schemas.microsoft.com/office/powerpoint/2010/main" val="12583183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E4B32-8C0E-8445-C67B-A69097E920A0}"/>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AAB0126D-2A0C-361C-EADF-156D340E1694}"/>
              </a:ext>
            </a:extLst>
          </p:cNvPr>
          <p:cNvSpPr txBox="1"/>
          <p:nvPr/>
        </p:nvSpPr>
        <p:spPr>
          <a:xfrm>
            <a:off x="735956" y="659116"/>
            <a:ext cx="16523344" cy="754950"/>
          </a:xfrm>
          <a:prstGeom prst="rect">
            <a:avLst/>
          </a:prstGeom>
        </p:spPr>
        <p:txBody>
          <a:bodyPr lIns="0" tIns="0" rIns="0" bIns="0" rtlCol="0" anchor="t">
            <a:spAutoFit/>
          </a:bodyPr>
          <a:lstStyle/>
          <a:p>
            <a:pPr algn="l">
              <a:lnSpc>
                <a:spcPts val="6299"/>
              </a:lnSpc>
              <a:spcBef>
                <a:spcPct val="0"/>
              </a:spcBef>
            </a:pPr>
            <a:r>
              <a:rPr lang="en-US" sz="4500" dirty="0">
                <a:solidFill>
                  <a:srgbClr val="000000"/>
                </a:solidFill>
                <a:latin typeface="Open Sans"/>
                <a:ea typeface="Open Sans"/>
                <a:cs typeface="Open Sans"/>
                <a:sym typeface="Open Sans"/>
              </a:rPr>
              <a:t>Vous </a:t>
            </a:r>
            <a:r>
              <a:rPr lang="en-US" sz="4500" dirty="0" err="1">
                <a:solidFill>
                  <a:srgbClr val="000000"/>
                </a:solidFill>
                <a:latin typeface="Open Sans"/>
                <a:ea typeface="Open Sans"/>
                <a:cs typeface="Open Sans"/>
                <a:sym typeface="Open Sans"/>
              </a:rPr>
              <a:t>voulez</a:t>
            </a:r>
            <a:r>
              <a:rPr lang="en-US" sz="4500" dirty="0">
                <a:solidFill>
                  <a:srgbClr val="000000"/>
                </a:solidFill>
                <a:latin typeface="Open Sans"/>
                <a:ea typeface="Open Sans"/>
                <a:cs typeface="Open Sans"/>
                <a:sym typeface="Open Sans"/>
              </a:rPr>
              <a:t> </a:t>
            </a:r>
            <a:r>
              <a:rPr lang="en-US" sz="4500" dirty="0" err="1">
                <a:solidFill>
                  <a:srgbClr val="000000"/>
                </a:solidFill>
                <a:latin typeface="Open Sans"/>
                <a:ea typeface="Open Sans"/>
                <a:cs typeface="Open Sans"/>
                <a:sym typeface="Open Sans"/>
              </a:rPr>
              <a:t>en</a:t>
            </a:r>
            <a:r>
              <a:rPr lang="en-US" sz="4500" dirty="0">
                <a:solidFill>
                  <a:srgbClr val="000000"/>
                </a:solidFill>
                <a:latin typeface="Open Sans"/>
                <a:ea typeface="Open Sans"/>
                <a:cs typeface="Open Sans"/>
                <a:sym typeface="Open Sans"/>
              </a:rPr>
              <a:t> savoir plus sur </a:t>
            </a:r>
            <a:r>
              <a:rPr lang="en-US" sz="4500" dirty="0" err="1">
                <a:solidFill>
                  <a:srgbClr val="000000"/>
                </a:solidFill>
                <a:latin typeface="Open Sans"/>
                <a:ea typeface="Open Sans"/>
                <a:cs typeface="Open Sans"/>
                <a:sym typeface="Open Sans"/>
              </a:rPr>
              <a:t>cette</a:t>
            </a:r>
            <a:r>
              <a:rPr lang="en-US" sz="4500" dirty="0">
                <a:solidFill>
                  <a:srgbClr val="000000"/>
                </a:solidFill>
                <a:latin typeface="Open Sans"/>
                <a:ea typeface="Open Sans"/>
                <a:cs typeface="Open Sans"/>
                <a:sym typeface="Open Sans"/>
              </a:rPr>
              <a:t> étude ? </a:t>
            </a:r>
          </a:p>
        </p:txBody>
      </p:sp>
      <p:sp>
        <p:nvSpPr>
          <p:cNvPr id="2" name="TextBox 3">
            <a:extLst>
              <a:ext uri="{FF2B5EF4-FFF2-40B4-BE49-F238E27FC236}">
                <a16:creationId xmlns:a16="http://schemas.microsoft.com/office/drawing/2014/main" id="{65305A25-8429-5A60-AF75-1BD7B2A9CD84}"/>
              </a:ext>
            </a:extLst>
          </p:cNvPr>
          <p:cNvSpPr txBox="1"/>
          <p:nvPr/>
        </p:nvSpPr>
        <p:spPr>
          <a:xfrm>
            <a:off x="882328" y="2628900"/>
            <a:ext cx="16523344" cy="1315232"/>
          </a:xfrm>
          <a:prstGeom prst="rect">
            <a:avLst/>
          </a:prstGeom>
        </p:spPr>
        <p:txBody>
          <a:bodyPr lIns="0" tIns="0" rIns="0" bIns="0" rtlCol="0" anchor="t">
            <a:spAutoFit/>
          </a:bodyPr>
          <a:lstStyle/>
          <a:p>
            <a:pPr algn="l">
              <a:lnSpc>
                <a:spcPts val="5320"/>
              </a:lnSpc>
              <a:spcBef>
                <a:spcPct val="0"/>
              </a:spcBef>
            </a:pPr>
            <a:r>
              <a:rPr lang="en-US" sz="3800" dirty="0" err="1">
                <a:latin typeface="Open Sans"/>
                <a:ea typeface="Open Sans"/>
                <a:cs typeface="Open Sans"/>
                <a:sym typeface="Open Sans"/>
              </a:rPr>
              <a:t>Voici</a:t>
            </a:r>
            <a:r>
              <a:rPr lang="en-US" sz="3800" dirty="0">
                <a:latin typeface="Open Sans"/>
                <a:ea typeface="Open Sans"/>
                <a:cs typeface="Open Sans"/>
                <a:sym typeface="Open Sans"/>
              </a:rPr>
              <a:t> le lien vers le papier </a:t>
            </a:r>
            <a:r>
              <a:rPr lang="en-US" sz="3800" dirty="0" err="1">
                <a:latin typeface="Open Sans"/>
                <a:ea typeface="Open Sans"/>
                <a:cs typeface="Open Sans"/>
                <a:sym typeface="Open Sans"/>
              </a:rPr>
              <a:t>complet</a:t>
            </a:r>
            <a:r>
              <a:rPr lang="en-US" sz="3800" dirty="0">
                <a:latin typeface="Open Sans"/>
                <a:ea typeface="Open Sans"/>
                <a:cs typeface="Open Sans"/>
                <a:sym typeface="Open Sans"/>
              </a:rPr>
              <a:t> : </a:t>
            </a:r>
          </a:p>
          <a:p>
            <a:pPr algn="l">
              <a:lnSpc>
                <a:spcPts val="5320"/>
              </a:lnSpc>
              <a:spcBef>
                <a:spcPct val="0"/>
              </a:spcBef>
            </a:pPr>
            <a:r>
              <a:rPr lang="en-US" sz="3800" dirty="0">
                <a:solidFill>
                  <a:srgbClr val="479DD3"/>
                </a:solidFill>
                <a:latin typeface="Open Sans"/>
                <a:ea typeface="Open Sans"/>
                <a:cs typeface="Open Sans"/>
                <a:sym typeface="Open Sans"/>
              </a:rPr>
              <a:t>https://doi.org/10.1177/00076503261448488</a:t>
            </a:r>
          </a:p>
        </p:txBody>
      </p:sp>
    </p:spTree>
    <p:extLst>
      <p:ext uri="{BB962C8B-B14F-4D97-AF65-F5344CB8AC3E}">
        <p14:creationId xmlns:p14="http://schemas.microsoft.com/office/powerpoint/2010/main" val="24828155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F2B6C9-8621-D892-2AB2-E2B173A16478}"/>
            </a:ext>
          </a:extLst>
        </p:cNvPr>
        <p:cNvGrpSpPr/>
        <p:nvPr/>
      </p:nvGrpSpPr>
      <p:grpSpPr>
        <a:xfrm>
          <a:off x="0" y="0"/>
          <a:ext cx="0" cy="0"/>
          <a:chOff x="0" y="0"/>
          <a:chExt cx="0" cy="0"/>
        </a:xfrm>
      </p:grpSpPr>
      <p:sp>
        <p:nvSpPr>
          <p:cNvPr id="7" name="TextBox 2">
            <a:extLst>
              <a:ext uri="{FF2B5EF4-FFF2-40B4-BE49-F238E27FC236}">
                <a16:creationId xmlns:a16="http://schemas.microsoft.com/office/drawing/2014/main" id="{832E3701-3CB4-7139-2BAD-70E3046C1208}"/>
              </a:ext>
            </a:extLst>
          </p:cNvPr>
          <p:cNvSpPr txBox="1"/>
          <p:nvPr/>
        </p:nvSpPr>
        <p:spPr>
          <a:xfrm>
            <a:off x="735956" y="659116"/>
            <a:ext cx="16523344" cy="754950"/>
          </a:xfrm>
          <a:prstGeom prst="rect">
            <a:avLst/>
          </a:prstGeom>
        </p:spPr>
        <p:txBody>
          <a:bodyPr lIns="0" tIns="0" rIns="0" bIns="0" rtlCol="0" anchor="t">
            <a:spAutoFit/>
          </a:bodyPr>
          <a:lstStyle/>
          <a:p>
            <a:pPr algn="l">
              <a:lnSpc>
                <a:spcPts val="6299"/>
              </a:lnSpc>
              <a:spcBef>
                <a:spcPct val="0"/>
              </a:spcBef>
            </a:pPr>
            <a:r>
              <a:rPr lang="en-US" sz="4500" dirty="0">
                <a:solidFill>
                  <a:srgbClr val="000000"/>
                </a:solidFill>
                <a:latin typeface="Open Sans"/>
                <a:ea typeface="Open Sans"/>
                <a:cs typeface="Open Sans"/>
                <a:sym typeface="Open Sans"/>
              </a:rPr>
              <a:t>Et dans </a:t>
            </a:r>
            <a:r>
              <a:rPr lang="en-US" sz="4500" dirty="0" err="1">
                <a:solidFill>
                  <a:srgbClr val="000000"/>
                </a:solidFill>
                <a:latin typeface="Open Sans"/>
                <a:ea typeface="Open Sans"/>
                <a:cs typeface="Open Sans"/>
                <a:sym typeface="Open Sans"/>
              </a:rPr>
              <a:t>vos</a:t>
            </a:r>
            <a:r>
              <a:rPr lang="en-US" sz="4500" dirty="0">
                <a:solidFill>
                  <a:srgbClr val="000000"/>
                </a:solidFill>
                <a:latin typeface="Open Sans"/>
                <a:ea typeface="Open Sans"/>
                <a:cs typeface="Open Sans"/>
                <a:sym typeface="Open Sans"/>
              </a:rPr>
              <a:t> </a:t>
            </a:r>
            <a:r>
              <a:rPr lang="en-US" sz="4500" dirty="0" err="1">
                <a:solidFill>
                  <a:srgbClr val="000000"/>
                </a:solidFill>
                <a:latin typeface="Open Sans"/>
                <a:ea typeface="Open Sans"/>
                <a:cs typeface="Open Sans"/>
                <a:sym typeface="Open Sans"/>
              </a:rPr>
              <a:t>projets</a:t>
            </a:r>
            <a:r>
              <a:rPr lang="en-US" sz="4500" dirty="0">
                <a:solidFill>
                  <a:srgbClr val="000000"/>
                </a:solidFill>
                <a:latin typeface="Open Sans"/>
                <a:ea typeface="Open Sans"/>
                <a:cs typeface="Open Sans"/>
                <a:sym typeface="Open Sans"/>
              </a:rPr>
              <a:t> ?</a:t>
            </a:r>
          </a:p>
        </p:txBody>
      </p:sp>
      <p:sp>
        <p:nvSpPr>
          <p:cNvPr id="2" name="TextBox 4">
            <a:extLst>
              <a:ext uri="{FF2B5EF4-FFF2-40B4-BE49-F238E27FC236}">
                <a16:creationId xmlns:a16="http://schemas.microsoft.com/office/drawing/2014/main" id="{5AE608E2-0D94-8FF7-6FEE-788DA7263739}"/>
              </a:ext>
            </a:extLst>
          </p:cNvPr>
          <p:cNvSpPr txBox="1"/>
          <p:nvPr/>
        </p:nvSpPr>
        <p:spPr>
          <a:xfrm>
            <a:off x="1706043" y="2159149"/>
            <a:ext cx="15553257" cy="5155386"/>
          </a:xfrm>
          <a:prstGeom prst="rect">
            <a:avLst/>
          </a:prstGeom>
        </p:spPr>
        <p:txBody>
          <a:bodyPr lIns="0" tIns="0" rIns="0" bIns="0" rtlCol="0" anchor="t">
            <a:spAutoFit/>
          </a:bodyPr>
          <a:lstStyle/>
          <a:p>
            <a:pPr algn="l">
              <a:lnSpc>
                <a:spcPts val="4480"/>
              </a:lnSpc>
              <a:spcBef>
                <a:spcPct val="0"/>
              </a:spcBef>
            </a:pPr>
            <a:r>
              <a:rPr lang="en-US" sz="4000" dirty="0">
                <a:solidFill>
                  <a:srgbClr val="1E325C"/>
                </a:solidFill>
                <a:latin typeface="Open Sans"/>
                <a:ea typeface="Open Sans"/>
                <a:cs typeface="Open Sans"/>
                <a:sym typeface="Open Sans"/>
              </a:rPr>
              <a:t>En </a:t>
            </a:r>
            <a:r>
              <a:rPr lang="en-US" sz="4000" dirty="0" err="1">
                <a:solidFill>
                  <a:srgbClr val="1E325C"/>
                </a:solidFill>
                <a:latin typeface="Open Sans"/>
                <a:ea typeface="Open Sans"/>
                <a:cs typeface="Open Sans"/>
                <a:sym typeface="Open Sans"/>
              </a:rPr>
              <a:t>groupe</a:t>
            </a:r>
            <a:r>
              <a:rPr lang="en-US" sz="4000" dirty="0">
                <a:solidFill>
                  <a:srgbClr val="1E325C"/>
                </a:solidFill>
                <a:latin typeface="Open Sans"/>
                <a:ea typeface="Open Sans"/>
                <a:cs typeface="Open Sans"/>
                <a:sym typeface="Open Sans"/>
              </a:rPr>
              <a:t>, </a:t>
            </a:r>
            <a:r>
              <a:rPr lang="en-US" sz="4000" dirty="0" err="1">
                <a:solidFill>
                  <a:srgbClr val="1E325C"/>
                </a:solidFill>
                <a:latin typeface="Open Sans"/>
                <a:ea typeface="Open Sans"/>
                <a:cs typeface="Open Sans"/>
                <a:sym typeface="Open Sans"/>
              </a:rPr>
              <a:t>choisissez</a:t>
            </a:r>
            <a:r>
              <a:rPr lang="en-US" sz="4000" dirty="0">
                <a:solidFill>
                  <a:srgbClr val="1E325C"/>
                </a:solidFill>
                <a:latin typeface="Open Sans"/>
                <a:ea typeface="Open Sans"/>
                <a:cs typeface="Open Sans"/>
                <a:sym typeface="Open Sans"/>
              </a:rPr>
              <a:t> le </a:t>
            </a:r>
            <a:r>
              <a:rPr lang="en-US" sz="4000" dirty="0" err="1">
                <a:solidFill>
                  <a:srgbClr val="1E325C"/>
                </a:solidFill>
                <a:latin typeface="Open Sans"/>
                <a:ea typeface="Open Sans"/>
                <a:cs typeface="Open Sans"/>
                <a:sym typeface="Open Sans"/>
              </a:rPr>
              <a:t>projet</a:t>
            </a:r>
            <a:r>
              <a:rPr lang="en-US" sz="4000" dirty="0">
                <a:solidFill>
                  <a:srgbClr val="1E325C"/>
                </a:solidFill>
                <a:latin typeface="Open Sans"/>
                <a:ea typeface="Open Sans"/>
                <a:cs typeface="Open Sans"/>
                <a:sym typeface="Open Sans"/>
              </a:rPr>
              <a:t> </a:t>
            </a:r>
            <a:r>
              <a:rPr lang="en-US" sz="4000" dirty="0" err="1">
                <a:solidFill>
                  <a:srgbClr val="1E325C"/>
                </a:solidFill>
                <a:latin typeface="Open Sans"/>
                <a:ea typeface="Open Sans"/>
                <a:cs typeface="Open Sans"/>
                <a:sym typeface="Open Sans"/>
              </a:rPr>
              <a:t>d’un·e</a:t>
            </a:r>
            <a:r>
              <a:rPr lang="en-US" sz="4000" dirty="0">
                <a:solidFill>
                  <a:srgbClr val="1E325C"/>
                </a:solidFill>
                <a:latin typeface="Open Sans"/>
                <a:ea typeface="Open Sans"/>
                <a:cs typeface="Open Sans"/>
                <a:sym typeface="Open Sans"/>
              </a:rPr>
              <a:t> </a:t>
            </a:r>
            <a:r>
              <a:rPr lang="en-US" sz="4000" dirty="0" err="1">
                <a:solidFill>
                  <a:srgbClr val="1E325C"/>
                </a:solidFill>
                <a:latin typeface="Open Sans"/>
                <a:ea typeface="Open Sans"/>
                <a:cs typeface="Open Sans"/>
                <a:sym typeface="Open Sans"/>
              </a:rPr>
              <a:t>d’entre</a:t>
            </a:r>
            <a:r>
              <a:rPr lang="en-US" sz="4000" dirty="0">
                <a:solidFill>
                  <a:srgbClr val="1E325C"/>
                </a:solidFill>
                <a:latin typeface="Open Sans"/>
                <a:ea typeface="Open Sans"/>
                <a:cs typeface="Open Sans"/>
                <a:sym typeface="Open Sans"/>
              </a:rPr>
              <a:t> vous </a:t>
            </a:r>
            <a:r>
              <a:rPr lang="en-US" sz="4000" dirty="0" err="1">
                <a:solidFill>
                  <a:srgbClr val="1E325C"/>
                </a:solidFill>
                <a:latin typeface="Open Sans"/>
                <a:ea typeface="Open Sans"/>
                <a:cs typeface="Open Sans"/>
                <a:sym typeface="Open Sans"/>
              </a:rPr>
              <a:t>utilisant</a:t>
            </a:r>
            <a:r>
              <a:rPr lang="en-US" sz="4000" dirty="0">
                <a:solidFill>
                  <a:srgbClr val="1E325C"/>
                </a:solidFill>
                <a:latin typeface="Open Sans"/>
                <a:ea typeface="Open Sans"/>
                <a:cs typeface="Open Sans"/>
                <a:sym typeface="Open Sans"/>
              </a:rPr>
              <a:t> des données et </a:t>
            </a:r>
            <a:r>
              <a:rPr lang="en-US" sz="4000" dirty="0" err="1">
                <a:solidFill>
                  <a:srgbClr val="1E325C"/>
                </a:solidFill>
                <a:latin typeface="Open Sans"/>
                <a:ea typeface="Open Sans"/>
                <a:cs typeface="Open Sans"/>
                <a:sym typeface="Open Sans"/>
              </a:rPr>
              <a:t>identifiez</a:t>
            </a:r>
            <a:r>
              <a:rPr lang="en-US" sz="4000" dirty="0">
                <a:solidFill>
                  <a:srgbClr val="1E325C"/>
                </a:solidFill>
                <a:latin typeface="Open Sans"/>
                <a:ea typeface="Open Sans"/>
                <a:cs typeface="Open Sans"/>
                <a:sym typeface="Open Sans"/>
              </a:rPr>
              <a:t> :</a:t>
            </a:r>
          </a:p>
          <a:p>
            <a:pPr algn="l">
              <a:lnSpc>
                <a:spcPts val="4480"/>
              </a:lnSpc>
              <a:spcBef>
                <a:spcPct val="0"/>
              </a:spcBef>
            </a:pPr>
            <a:endParaRPr lang="en-US" sz="3200" dirty="0">
              <a:solidFill>
                <a:srgbClr val="1E325C"/>
              </a:solidFill>
              <a:latin typeface="Open Sans"/>
              <a:ea typeface="Open Sans"/>
              <a:cs typeface="Open Sans"/>
              <a:sym typeface="Open Sans"/>
            </a:endParaRPr>
          </a:p>
          <a:p>
            <a:pPr marL="514350" indent="-514350">
              <a:lnSpc>
                <a:spcPts val="4480"/>
              </a:lnSpc>
              <a:spcBef>
                <a:spcPct val="0"/>
              </a:spcBef>
              <a:buFont typeface="+mj-lt"/>
              <a:buAutoNum type="arabicPeriod"/>
            </a:pPr>
            <a:r>
              <a:rPr lang="en-US" sz="3200" b="1" dirty="0">
                <a:solidFill>
                  <a:srgbClr val="1E325C"/>
                </a:solidFill>
                <a:latin typeface="Open Sans"/>
                <a:ea typeface="Open Sans"/>
                <a:cs typeface="Open Sans"/>
                <a:sym typeface="Open Sans"/>
              </a:rPr>
              <a:t>Un </a:t>
            </a:r>
            <a:r>
              <a:rPr lang="en-US" sz="3200" b="1" dirty="0" err="1">
                <a:solidFill>
                  <a:srgbClr val="1E325C"/>
                </a:solidFill>
                <a:latin typeface="Open Sans"/>
                <a:ea typeface="Open Sans"/>
                <a:cs typeface="Open Sans"/>
                <a:sym typeface="Open Sans"/>
              </a:rPr>
              <a:t>risque</a:t>
            </a:r>
            <a:r>
              <a:rPr lang="en-US" sz="3200" b="1" dirty="0">
                <a:solidFill>
                  <a:srgbClr val="1E325C"/>
                </a:solidFill>
                <a:latin typeface="Open Sans"/>
                <a:ea typeface="Open Sans"/>
                <a:cs typeface="Open Sans"/>
                <a:sym typeface="Open Sans"/>
              </a:rPr>
              <a:t> </a:t>
            </a:r>
            <a:r>
              <a:rPr lang="en-US" sz="3200" dirty="0">
                <a:solidFill>
                  <a:srgbClr val="1E325C"/>
                </a:solidFill>
                <a:latin typeface="Open Sans"/>
                <a:ea typeface="Open Sans"/>
                <a:cs typeface="Open Sans"/>
                <a:sym typeface="Open Sans"/>
              </a:rPr>
              <a:t>: Qui </a:t>
            </a:r>
            <a:r>
              <a:rPr lang="en-US" sz="3200" dirty="0" err="1">
                <a:solidFill>
                  <a:srgbClr val="1E325C"/>
                </a:solidFill>
                <a:latin typeface="Open Sans"/>
                <a:ea typeface="Open Sans"/>
                <a:cs typeface="Open Sans"/>
                <a:sym typeface="Open Sans"/>
              </a:rPr>
              <a:t>pourrait</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être</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affecté</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négativement</a:t>
            </a:r>
            <a:r>
              <a:rPr lang="en-US" sz="3200" dirty="0">
                <a:solidFill>
                  <a:srgbClr val="1E325C"/>
                </a:solidFill>
                <a:latin typeface="Open Sans"/>
                <a:ea typeface="Open Sans"/>
                <a:cs typeface="Open Sans"/>
                <a:sym typeface="Open Sans"/>
              </a:rPr>
              <a:t>, et </a:t>
            </a:r>
            <a:r>
              <a:rPr lang="en-US" sz="3200" dirty="0" err="1">
                <a:solidFill>
                  <a:srgbClr val="1E325C"/>
                </a:solidFill>
                <a:latin typeface="Open Sans"/>
                <a:ea typeface="Open Sans"/>
                <a:cs typeface="Open Sans"/>
                <a:sym typeface="Open Sans"/>
              </a:rPr>
              <a:t>pourquoi</a:t>
            </a:r>
            <a:r>
              <a:rPr lang="en-US" sz="3200" dirty="0">
                <a:solidFill>
                  <a:srgbClr val="1E325C"/>
                </a:solidFill>
                <a:latin typeface="Open Sans"/>
                <a:ea typeface="Open Sans"/>
                <a:cs typeface="Open Sans"/>
                <a:sym typeface="Open Sans"/>
              </a:rPr>
              <a:t> ? </a:t>
            </a:r>
            <a:r>
              <a:rPr lang="fr-FR" sz="3200" dirty="0">
                <a:solidFill>
                  <a:srgbClr val="1E325C"/>
                </a:solidFill>
                <a:latin typeface="Open Sans"/>
                <a:ea typeface="Open Sans"/>
                <a:cs typeface="Open Sans"/>
                <a:sym typeface="Open Sans"/>
              </a:rPr>
              <a:t>À quel(s) principe(s) de </a:t>
            </a:r>
            <a:r>
              <a:rPr lang="fr-FR" sz="3200" dirty="0" err="1">
                <a:solidFill>
                  <a:srgbClr val="1E325C"/>
                </a:solidFill>
                <a:latin typeface="Open Sans"/>
                <a:ea typeface="Open Sans"/>
                <a:cs typeface="Open Sans"/>
                <a:sym typeface="Open Sans"/>
              </a:rPr>
              <a:t>trustworthy</a:t>
            </a:r>
            <a:r>
              <a:rPr lang="fr-FR" sz="3200" dirty="0">
                <a:solidFill>
                  <a:srgbClr val="1E325C"/>
                </a:solidFill>
                <a:latin typeface="Open Sans"/>
                <a:ea typeface="Open Sans"/>
                <a:cs typeface="Open Sans"/>
                <a:sym typeface="Open Sans"/>
              </a:rPr>
              <a:t> AI cela fait référence</a:t>
            </a:r>
            <a:r>
              <a:rPr lang="en-US" sz="3200" dirty="0">
                <a:solidFill>
                  <a:srgbClr val="1E325C"/>
                </a:solidFill>
                <a:latin typeface="Open Sans"/>
                <a:ea typeface="Open Sans"/>
                <a:cs typeface="Open Sans"/>
                <a:sym typeface="Open Sans"/>
              </a:rPr>
              <a:t> ?</a:t>
            </a:r>
          </a:p>
          <a:p>
            <a:pPr marL="514350" indent="-514350" algn="l">
              <a:lnSpc>
                <a:spcPts val="4480"/>
              </a:lnSpc>
              <a:spcBef>
                <a:spcPct val="0"/>
              </a:spcBef>
              <a:buFont typeface="+mj-lt"/>
              <a:buAutoNum type="arabicPeriod"/>
            </a:pPr>
            <a:endParaRPr lang="en-US" sz="3200" dirty="0">
              <a:solidFill>
                <a:srgbClr val="1E325C"/>
              </a:solidFill>
              <a:latin typeface="Open Sans"/>
              <a:ea typeface="Open Sans"/>
              <a:cs typeface="Open Sans"/>
              <a:sym typeface="Open Sans"/>
            </a:endParaRPr>
          </a:p>
          <a:p>
            <a:pPr marL="514350" indent="-514350">
              <a:lnSpc>
                <a:spcPts val="4480"/>
              </a:lnSpc>
              <a:spcBef>
                <a:spcPct val="0"/>
              </a:spcBef>
              <a:buFont typeface="+mj-lt"/>
              <a:buAutoNum type="arabicPeriod"/>
            </a:pPr>
            <a:r>
              <a:rPr lang="fr-FR" sz="3200" b="1" dirty="0">
                <a:solidFill>
                  <a:srgbClr val="1E325C"/>
                </a:solidFill>
                <a:latin typeface="Open Sans"/>
                <a:ea typeface="Open Sans"/>
                <a:cs typeface="Open Sans"/>
                <a:sym typeface="Open Sans"/>
              </a:rPr>
              <a:t>Une étape du cycle de vie : </a:t>
            </a:r>
            <a:r>
              <a:rPr lang="fr-FR" sz="3200" dirty="0">
                <a:solidFill>
                  <a:srgbClr val="1E325C"/>
                </a:solidFill>
                <a:latin typeface="Open Sans"/>
                <a:ea typeface="Open Sans"/>
                <a:cs typeface="Open Sans"/>
                <a:sym typeface="Open Sans"/>
              </a:rPr>
              <a:t>À quelle(s) étape(s) ce risque apparaît-il </a:t>
            </a:r>
            <a:r>
              <a:rPr lang="en-US" sz="3200" dirty="0">
                <a:solidFill>
                  <a:srgbClr val="1E325C"/>
                </a:solidFill>
                <a:latin typeface="Open Sans"/>
                <a:ea typeface="Open Sans"/>
                <a:cs typeface="Open Sans"/>
                <a:sym typeface="Open Sans"/>
              </a:rPr>
              <a:t>?</a:t>
            </a:r>
          </a:p>
          <a:p>
            <a:pPr marL="514350" indent="-514350" algn="l">
              <a:lnSpc>
                <a:spcPts val="4480"/>
              </a:lnSpc>
              <a:spcBef>
                <a:spcPct val="0"/>
              </a:spcBef>
              <a:buFont typeface="+mj-lt"/>
              <a:buAutoNum type="arabicPeriod"/>
            </a:pPr>
            <a:endParaRPr lang="en-US" sz="3200" dirty="0">
              <a:solidFill>
                <a:srgbClr val="1E325C"/>
              </a:solidFill>
              <a:latin typeface="Open Sans"/>
              <a:ea typeface="Open Sans"/>
              <a:cs typeface="Open Sans"/>
              <a:sym typeface="Open Sans"/>
            </a:endParaRPr>
          </a:p>
          <a:p>
            <a:pPr marL="514350" indent="-514350" algn="l">
              <a:lnSpc>
                <a:spcPts val="4480"/>
              </a:lnSpc>
              <a:spcBef>
                <a:spcPct val="0"/>
              </a:spcBef>
              <a:buFont typeface="+mj-lt"/>
              <a:buAutoNum type="arabicPeriod"/>
            </a:pPr>
            <a:r>
              <a:rPr lang="en-US" sz="3200" b="1" dirty="0">
                <a:solidFill>
                  <a:srgbClr val="1E325C"/>
                </a:solidFill>
                <a:latin typeface="Open Sans"/>
                <a:ea typeface="Open Sans"/>
                <a:cs typeface="Open Sans"/>
                <a:sym typeface="Open Sans"/>
              </a:rPr>
              <a:t>Une mitigation </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Que</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peut</a:t>
            </a:r>
            <a:r>
              <a:rPr lang="en-US" sz="3200" dirty="0">
                <a:solidFill>
                  <a:srgbClr val="1E325C"/>
                </a:solidFill>
                <a:latin typeface="Open Sans"/>
                <a:ea typeface="Open Sans"/>
                <a:cs typeface="Open Sans"/>
                <a:sym typeface="Open Sans"/>
              </a:rPr>
              <a:t>-on faire pour </a:t>
            </a:r>
            <a:r>
              <a:rPr lang="en-US" sz="3200" dirty="0" err="1">
                <a:solidFill>
                  <a:srgbClr val="1E325C"/>
                </a:solidFill>
                <a:latin typeface="Open Sans"/>
                <a:ea typeface="Open Sans"/>
                <a:cs typeface="Open Sans"/>
                <a:sym typeface="Open Sans"/>
              </a:rPr>
              <a:t>réduire</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ce</a:t>
            </a:r>
            <a:r>
              <a:rPr lang="en-US" sz="3200" dirty="0">
                <a:solidFill>
                  <a:srgbClr val="1E325C"/>
                </a:solidFill>
                <a:latin typeface="Open Sans"/>
                <a:ea typeface="Open Sans"/>
                <a:cs typeface="Open Sans"/>
                <a:sym typeface="Open Sans"/>
              </a:rPr>
              <a:t> </a:t>
            </a:r>
            <a:r>
              <a:rPr lang="en-US" sz="3200" dirty="0" err="1">
                <a:solidFill>
                  <a:srgbClr val="1E325C"/>
                </a:solidFill>
                <a:latin typeface="Open Sans"/>
                <a:ea typeface="Open Sans"/>
                <a:cs typeface="Open Sans"/>
                <a:sym typeface="Open Sans"/>
              </a:rPr>
              <a:t>risque</a:t>
            </a:r>
            <a:r>
              <a:rPr lang="en-US" sz="3200" dirty="0">
                <a:solidFill>
                  <a:srgbClr val="1E325C"/>
                </a:solidFill>
                <a:latin typeface="Open Sans"/>
                <a:ea typeface="Open Sans"/>
                <a:cs typeface="Open Sans"/>
                <a:sym typeface="Open Sans"/>
              </a:rPr>
              <a:t> ?</a:t>
            </a:r>
          </a:p>
        </p:txBody>
      </p:sp>
    </p:spTree>
    <p:extLst>
      <p:ext uri="{BB962C8B-B14F-4D97-AF65-F5344CB8AC3E}">
        <p14:creationId xmlns:p14="http://schemas.microsoft.com/office/powerpoint/2010/main" val="2005615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9F6B624-2911-4112-B2B6-47BD9947F140}">
  <we:reference id="wa200010001" version="1.0.0.1" store="en-US" storeType="OMEX"/>
  <we:alternateReferences>
    <we:reference id="wa200010001" version="1.0.0.1" store="en-US" storeType="OMEX"/>
  </we:alternateReferences>
  <we:properties>
    <we:property name="claude.fileId" value="&quot;442799c8-136f-4413-abd0-b191a4b4321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94</TotalTime>
  <Words>1845</Words>
  <Application>Microsoft Office PowerPoint</Application>
  <PresentationFormat>Personnalisé</PresentationFormat>
  <Paragraphs>229</Paragraphs>
  <Slides>39</Slides>
  <Notes>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39</vt:i4>
      </vt:variant>
    </vt:vector>
  </HeadingPairs>
  <TitlesOfParts>
    <vt:vector size="45" baseType="lpstr">
      <vt:lpstr>Open Sans Italics</vt:lpstr>
      <vt:lpstr>Arial</vt:lpstr>
      <vt:lpstr>Open Sans Bold</vt:lpstr>
      <vt:lpstr>Calibri</vt:lpstr>
      <vt:lpstr>Open Sans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bloc-2-gouvernance-ia</dc:title>
  <cp:lastModifiedBy>Flore Vancompernolle Vromman</cp:lastModifiedBy>
  <cp:revision>5</cp:revision>
  <dcterms:created xsi:type="dcterms:W3CDTF">2006-08-16T00:00:00Z</dcterms:created>
  <dcterms:modified xsi:type="dcterms:W3CDTF">2026-06-12T16:12:38Z</dcterms:modified>
  <dc:identifier>DAHMWarejZA</dc:identifier>
</cp:coreProperties>
</file>